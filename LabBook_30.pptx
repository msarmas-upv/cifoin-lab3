
<file path=[Content_Types].xml><?xml version="1.0" encoding="utf-8"?>
<Types xmlns="http://schemas.openxmlformats.org/package/2006/content-types">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p:sldMasterIdLst>
    <p:sldMasterId id="2147483648" r:id="rId1"/>
  </p:sldMasterIdLst>
  <p:notesMasterIdLst>
    <p:notesMasterId r:id="rId14"/>
  </p:notesMasterIdLst>
  <p:handoutMasterIdLst>
    <p:handoutMasterId r:id="rId15"/>
  </p:handoutMasterIdLst>
  <p:sldIdLst>
    <p:sldId id="256" r:id="rId2"/>
    <p:sldId id="290" r:id="rId3"/>
    <p:sldId id="296" r:id="rId4"/>
    <p:sldId id="375" r:id="rId5"/>
    <p:sldId id="376" r:id="rId6"/>
    <p:sldId id="390" r:id="rId7"/>
    <p:sldId id="377" r:id="rId8"/>
    <p:sldId id="388" r:id="rId9"/>
    <p:sldId id="380" r:id="rId10"/>
    <p:sldId id="381" r:id="rId11"/>
    <p:sldId id="389" r:id="rId12"/>
    <p:sldId id="288" r:id="rId13"/>
  </p:sldIdLst>
  <p:sldSz cx="12192000" cy="6858000"/>
  <p:notesSz cx="12192000" cy="6858000"/>
  <p:defaultTex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88103" autoAdjust="0"/>
  </p:normalViewPr>
  <p:slideViewPr>
    <p:cSldViewPr snapToGrid="0">
      <p:cViewPr>
        <p:scale>
          <a:sx n="50" d="100"/>
          <a:sy n="50" d="100"/>
        </p:scale>
        <p:origin x="1725" y="672"/>
      </p:cViewPr>
      <p:guideLst>
        <p:guide orient="horz" pos="2880"/>
        <p:guide pos="216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handoutMaster" Target="handoutMasters/handout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a:extLst>
              <a:ext uri="{FF2B5EF4-FFF2-40B4-BE49-F238E27FC236}">
                <a16:creationId xmlns:a16="http://schemas.microsoft.com/office/drawing/2014/main" id="{ADD96E76-517F-B468-04D8-38EFA44947EB}"/>
              </a:ext>
            </a:extLst>
          </p:cNvPr>
          <p:cNvSpPr>
            <a:spLocks noGrp="1"/>
          </p:cNvSpPr>
          <p:nvPr>
            <p:ph type="hdr" sz="quarter"/>
          </p:nvPr>
        </p:nvSpPr>
        <p:spPr>
          <a:xfrm>
            <a:off x="0" y="0"/>
            <a:ext cx="5283200" cy="344488"/>
          </a:xfrm>
          <a:prstGeom prst="rect">
            <a:avLst/>
          </a:prstGeom>
        </p:spPr>
        <p:txBody>
          <a:bodyPr vert="horz" lIns="91440" tIns="45720" rIns="91440" bIns="45720" rtlCol="0"/>
          <a:lstStyle>
            <a:lvl1pPr algn="l">
              <a:defRPr sz="1200"/>
            </a:lvl1pPr>
          </a:lstStyle>
          <a:p>
            <a:endParaRPr lang="es-ES"/>
          </a:p>
        </p:txBody>
      </p:sp>
      <p:sp>
        <p:nvSpPr>
          <p:cNvPr id="3" name="Marcador de fecha 2">
            <a:extLst>
              <a:ext uri="{FF2B5EF4-FFF2-40B4-BE49-F238E27FC236}">
                <a16:creationId xmlns:a16="http://schemas.microsoft.com/office/drawing/2014/main" id="{8678D0B9-782A-7C16-D731-EEB7F991FA76}"/>
              </a:ext>
            </a:extLst>
          </p:cNvPr>
          <p:cNvSpPr>
            <a:spLocks noGrp="1"/>
          </p:cNvSpPr>
          <p:nvPr>
            <p:ph type="dt" sz="quarter" idx="1"/>
          </p:nvPr>
        </p:nvSpPr>
        <p:spPr>
          <a:xfrm>
            <a:off x="6905625" y="0"/>
            <a:ext cx="5283200" cy="344488"/>
          </a:xfrm>
          <a:prstGeom prst="rect">
            <a:avLst/>
          </a:prstGeom>
        </p:spPr>
        <p:txBody>
          <a:bodyPr vert="horz" lIns="91440" tIns="45720" rIns="91440" bIns="45720" rtlCol="0"/>
          <a:lstStyle>
            <a:lvl1pPr algn="r">
              <a:defRPr sz="1200"/>
            </a:lvl1pPr>
          </a:lstStyle>
          <a:p>
            <a:fld id="{8438F8DC-35B0-48E6-A86E-42F1F08DD00F}" type="datetimeFigureOut">
              <a:rPr lang="es-ES" smtClean="0"/>
              <a:t>18/05/2026</a:t>
            </a:fld>
            <a:endParaRPr lang="es-ES"/>
          </a:p>
        </p:txBody>
      </p:sp>
      <p:sp>
        <p:nvSpPr>
          <p:cNvPr id="4" name="Marcador de pie de página 3">
            <a:extLst>
              <a:ext uri="{FF2B5EF4-FFF2-40B4-BE49-F238E27FC236}">
                <a16:creationId xmlns:a16="http://schemas.microsoft.com/office/drawing/2014/main" id="{2F2E7B1C-60E2-8A48-EEE0-6715FC30A8B7}"/>
              </a:ext>
            </a:extLst>
          </p:cNvPr>
          <p:cNvSpPr>
            <a:spLocks noGrp="1"/>
          </p:cNvSpPr>
          <p:nvPr>
            <p:ph type="ftr" sz="quarter" idx="2"/>
          </p:nvPr>
        </p:nvSpPr>
        <p:spPr>
          <a:xfrm>
            <a:off x="0" y="6513513"/>
            <a:ext cx="5283200" cy="344487"/>
          </a:xfrm>
          <a:prstGeom prst="rect">
            <a:avLst/>
          </a:prstGeom>
        </p:spPr>
        <p:txBody>
          <a:bodyPr vert="horz" lIns="91440" tIns="45720" rIns="91440" bIns="45720" rtlCol="0" anchor="b"/>
          <a:lstStyle>
            <a:lvl1pPr algn="l">
              <a:defRPr sz="1200"/>
            </a:lvl1pPr>
          </a:lstStyle>
          <a:p>
            <a:endParaRPr lang="es-ES"/>
          </a:p>
        </p:txBody>
      </p:sp>
      <p:sp>
        <p:nvSpPr>
          <p:cNvPr id="5" name="Marcador de número de diapositiva 4">
            <a:extLst>
              <a:ext uri="{FF2B5EF4-FFF2-40B4-BE49-F238E27FC236}">
                <a16:creationId xmlns:a16="http://schemas.microsoft.com/office/drawing/2014/main" id="{C428D795-4EA2-62F0-B78A-5F215C828C50}"/>
              </a:ext>
            </a:extLst>
          </p:cNvPr>
          <p:cNvSpPr>
            <a:spLocks noGrp="1"/>
          </p:cNvSpPr>
          <p:nvPr>
            <p:ph type="sldNum" sz="quarter" idx="3"/>
          </p:nvPr>
        </p:nvSpPr>
        <p:spPr>
          <a:xfrm>
            <a:off x="6905625" y="6513513"/>
            <a:ext cx="5283200" cy="344487"/>
          </a:xfrm>
          <a:prstGeom prst="rect">
            <a:avLst/>
          </a:prstGeom>
        </p:spPr>
        <p:txBody>
          <a:bodyPr vert="horz" lIns="91440" tIns="45720" rIns="91440" bIns="45720" rtlCol="0" anchor="b"/>
          <a:lstStyle>
            <a:lvl1pPr algn="r">
              <a:defRPr sz="1200"/>
            </a:lvl1pPr>
          </a:lstStyle>
          <a:p>
            <a:fld id="{4116A549-763A-4A89-A454-A94BAF51395E}" type="slidenum">
              <a:rPr lang="es-ES" smtClean="0"/>
              <a:t>‹#›</a:t>
            </a:fld>
            <a:endParaRPr lang="es-ES"/>
          </a:p>
        </p:txBody>
      </p:sp>
    </p:spTree>
    <p:extLst>
      <p:ext uri="{BB962C8B-B14F-4D97-AF65-F5344CB8AC3E}">
        <p14:creationId xmlns:p14="http://schemas.microsoft.com/office/powerpoint/2010/main" val="140347774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5283200" cy="344488"/>
          </a:xfrm>
          <a:prstGeom prst="rect">
            <a:avLst/>
          </a:prstGeom>
        </p:spPr>
        <p:txBody>
          <a:bodyPr vert="horz" lIns="91440" tIns="45720" rIns="91440" bIns="45720" rtlCol="0"/>
          <a:lstStyle>
            <a:lvl1pPr algn="l">
              <a:defRPr sz="1200"/>
            </a:lvl1pPr>
          </a:lstStyle>
          <a:p>
            <a:endParaRPr lang="es-ES"/>
          </a:p>
        </p:txBody>
      </p:sp>
      <p:sp>
        <p:nvSpPr>
          <p:cNvPr id="3" name="Marcador de fecha 2"/>
          <p:cNvSpPr>
            <a:spLocks noGrp="1"/>
          </p:cNvSpPr>
          <p:nvPr>
            <p:ph type="dt" idx="1"/>
          </p:nvPr>
        </p:nvSpPr>
        <p:spPr>
          <a:xfrm>
            <a:off x="6905625" y="0"/>
            <a:ext cx="5283200" cy="344488"/>
          </a:xfrm>
          <a:prstGeom prst="rect">
            <a:avLst/>
          </a:prstGeom>
        </p:spPr>
        <p:txBody>
          <a:bodyPr vert="horz" lIns="91440" tIns="45720" rIns="91440" bIns="45720" rtlCol="0"/>
          <a:lstStyle>
            <a:lvl1pPr algn="r">
              <a:defRPr sz="1200"/>
            </a:lvl1pPr>
          </a:lstStyle>
          <a:p>
            <a:fld id="{FACBDC12-F39B-4B97-8F4D-6734F9D366FF}" type="datetimeFigureOut">
              <a:rPr lang="es-ES" smtClean="0"/>
              <a:t>18/05/2026</a:t>
            </a:fld>
            <a:endParaRPr lang="es-ES"/>
          </a:p>
        </p:txBody>
      </p:sp>
      <p:sp>
        <p:nvSpPr>
          <p:cNvPr id="4" name="Marcador de imagen de diapositiva 3"/>
          <p:cNvSpPr>
            <a:spLocks noGrp="1" noRot="1" noChangeAspect="1"/>
          </p:cNvSpPr>
          <p:nvPr>
            <p:ph type="sldImg" idx="2"/>
          </p:nvPr>
        </p:nvSpPr>
        <p:spPr>
          <a:xfrm>
            <a:off x="4038600" y="857250"/>
            <a:ext cx="4114800" cy="2314575"/>
          </a:xfrm>
          <a:prstGeom prst="rect">
            <a:avLst/>
          </a:prstGeom>
          <a:noFill/>
          <a:ln w="12700">
            <a:solidFill>
              <a:prstClr val="black"/>
            </a:solidFill>
          </a:ln>
        </p:spPr>
        <p:txBody>
          <a:bodyPr vert="horz" lIns="91440" tIns="45720" rIns="91440" bIns="45720" rtlCol="0" anchor="ctr"/>
          <a:lstStyle/>
          <a:p>
            <a:endParaRPr lang="es-ES"/>
          </a:p>
        </p:txBody>
      </p:sp>
      <p:sp>
        <p:nvSpPr>
          <p:cNvPr id="5" name="Marcador de notas 4"/>
          <p:cNvSpPr>
            <a:spLocks noGrp="1"/>
          </p:cNvSpPr>
          <p:nvPr>
            <p:ph type="body" sz="quarter" idx="3"/>
          </p:nvPr>
        </p:nvSpPr>
        <p:spPr>
          <a:xfrm>
            <a:off x="1219200" y="3300413"/>
            <a:ext cx="9753600" cy="2700337"/>
          </a:xfrm>
          <a:prstGeom prst="rect">
            <a:avLst/>
          </a:prstGeom>
        </p:spPr>
        <p:txBody>
          <a:bodyPr vert="horz" lIns="91440" tIns="45720" rIns="91440" bIns="45720" rtlCol="0"/>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6" name="Marcador de pie de página 5"/>
          <p:cNvSpPr>
            <a:spLocks noGrp="1"/>
          </p:cNvSpPr>
          <p:nvPr>
            <p:ph type="ftr" sz="quarter" idx="4"/>
          </p:nvPr>
        </p:nvSpPr>
        <p:spPr>
          <a:xfrm>
            <a:off x="0" y="6513513"/>
            <a:ext cx="5283200" cy="344487"/>
          </a:xfrm>
          <a:prstGeom prst="rect">
            <a:avLst/>
          </a:prstGeom>
        </p:spPr>
        <p:txBody>
          <a:bodyPr vert="horz" lIns="91440" tIns="45720" rIns="91440" bIns="45720" rtlCol="0" anchor="b"/>
          <a:lstStyle>
            <a:lvl1pPr algn="l">
              <a:defRPr sz="1200"/>
            </a:lvl1pPr>
          </a:lstStyle>
          <a:p>
            <a:endParaRPr lang="es-ES"/>
          </a:p>
        </p:txBody>
      </p:sp>
      <p:sp>
        <p:nvSpPr>
          <p:cNvPr id="7" name="Marcador de número de diapositiva 6"/>
          <p:cNvSpPr>
            <a:spLocks noGrp="1"/>
          </p:cNvSpPr>
          <p:nvPr>
            <p:ph type="sldNum" sz="quarter" idx="5"/>
          </p:nvPr>
        </p:nvSpPr>
        <p:spPr>
          <a:xfrm>
            <a:off x="6905625" y="6513513"/>
            <a:ext cx="5283200" cy="344487"/>
          </a:xfrm>
          <a:prstGeom prst="rect">
            <a:avLst/>
          </a:prstGeom>
        </p:spPr>
        <p:txBody>
          <a:bodyPr vert="horz" lIns="91440" tIns="45720" rIns="91440" bIns="45720" rtlCol="0" anchor="b"/>
          <a:lstStyle>
            <a:lvl1pPr algn="r">
              <a:defRPr sz="1200"/>
            </a:lvl1pPr>
          </a:lstStyle>
          <a:p>
            <a:fld id="{676223B9-C868-4436-87D9-1A3152E1157A}" type="slidenum">
              <a:rPr lang="es-ES" smtClean="0"/>
              <a:t>‹#›</a:t>
            </a:fld>
            <a:endParaRPr lang="es-ES"/>
          </a:p>
        </p:txBody>
      </p:sp>
    </p:spTree>
    <p:extLst>
      <p:ext uri="{BB962C8B-B14F-4D97-AF65-F5344CB8AC3E}">
        <p14:creationId xmlns:p14="http://schemas.microsoft.com/office/powerpoint/2010/main" val="283421117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dirty="0"/>
          </a:p>
        </p:txBody>
      </p:sp>
      <p:sp>
        <p:nvSpPr>
          <p:cNvPr id="4" name="Marcador de número de diapositiva 3"/>
          <p:cNvSpPr>
            <a:spLocks noGrp="1"/>
          </p:cNvSpPr>
          <p:nvPr>
            <p:ph type="sldNum" sz="quarter" idx="5"/>
          </p:nvPr>
        </p:nvSpPr>
        <p:spPr/>
        <p:txBody>
          <a:bodyPr/>
          <a:lstStyle/>
          <a:p>
            <a:fld id="{676223B9-C868-4436-87D9-1A3152E1157A}" type="slidenum">
              <a:rPr lang="es-ES" smtClean="0"/>
              <a:t>2</a:t>
            </a:fld>
            <a:endParaRPr lang="es-ES"/>
          </a:p>
        </p:txBody>
      </p:sp>
    </p:spTree>
    <p:extLst>
      <p:ext uri="{BB962C8B-B14F-4D97-AF65-F5344CB8AC3E}">
        <p14:creationId xmlns:p14="http://schemas.microsoft.com/office/powerpoint/2010/main" val="209253237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5DCA2C-DC1C-94AC-4B44-E792E8105710}"/>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B3DDFC22-9D5D-07E4-D6DC-4D9F86CC1C71}"/>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ADFDA27A-7867-5B97-DBC7-5AFE21A3C8CF}"/>
              </a:ext>
            </a:extLst>
          </p:cNvPr>
          <p:cNvSpPr>
            <a:spLocks noGrp="1"/>
          </p:cNvSpPr>
          <p:nvPr>
            <p:ph type="body" idx="1"/>
          </p:nvPr>
        </p:nvSpPr>
        <p:spPr/>
        <p:txBody>
          <a:bodyPr/>
          <a:lstStyle/>
          <a:p>
            <a:endParaRPr lang="es-ES" dirty="0"/>
          </a:p>
        </p:txBody>
      </p:sp>
      <p:sp>
        <p:nvSpPr>
          <p:cNvPr id="4" name="Marcador de número de diapositiva 3">
            <a:extLst>
              <a:ext uri="{FF2B5EF4-FFF2-40B4-BE49-F238E27FC236}">
                <a16:creationId xmlns:a16="http://schemas.microsoft.com/office/drawing/2014/main" id="{C3521375-3405-AFF1-9827-86123C005F32}"/>
              </a:ext>
            </a:extLst>
          </p:cNvPr>
          <p:cNvSpPr>
            <a:spLocks noGrp="1"/>
          </p:cNvSpPr>
          <p:nvPr>
            <p:ph type="sldNum" sz="quarter" idx="5"/>
          </p:nvPr>
        </p:nvSpPr>
        <p:spPr/>
        <p:txBody>
          <a:bodyPr/>
          <a:lstStyle/>
          <a:p>
            <a:fld id="{676223B9-C868-4436-87D9-1A3152E1157A}" type="slidenum">
              <a:rPr lang="es-ES" smtClean="0"/>
              <a:t>3</a:t>
            </a:fld>
            <a:endParaRPr lang="es-ES"/>
          </a:p>
        </p:txBody>
      </p:sp>
    </p:spTree>
    <p:extLst>
      <p:ext uri="{BB962C8B-B14F-4D97-AF65-F5344CB8AC3E}">
        <p14:creationId xmlns:p14="http://schemas.microsoft.com/office/powerpoint/2010/main" val="357488411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dirty="0"/>
          </a:p>
        </p:txBody>
      </p:sp>
      <p:sp>
        <p:nvSpPr>
          <p:cNvPr id="4" name="Marcador de número de diapositiva 3"/>
          <p:cNvSpPr>
            <a:spLocks noGrp="1"/>
          </p:cNvSpPr>
          <p:nvPr>
            <p:ph type="sldNum" sz="quarter" idx="5"/>
          </p:nvPr>
        </p:nvSpPr>
        <p:spPr/>
        <p:txBody>
          <a:bodyPr/>
          <a:lstStyle/>
          <a:p>
            <a:fld id="{676223B9-C868-4436-87D9-1A3152E1157A}" type="slidenum">
              <a:rPr lang="es-ES" smtClean="0"/>
              <a:t>4</a:t>
            </a:fld>
            <a:endParaRPr lang="es-ES"/>
          </a:p>
        </p:txBody>
      </p:sp>
    </p:spTree>
    <p:extLst>
      <p:ext uri="{BB962C8B-B14F-4D97-AF65-F5344CB8AC3E}">
        <p14:creationId xmlns:p14="http://schemas.microsoft.com/office/powerpoint/2010/main" val="317300476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s-ES" dirty="0"/>
          </a:p>
        </p:txBody>
      </p:sp>
      <p:sp>
        <p:nvSpPr>
          <p:cNvPr id="4" name="Slide Number Placeholder 3"/>
          <p:cNvSpPr>
            <a:spLocks noGrp="1"/>
          </p:cNvSpPr>
          <p:nvPr>
            <p:ph type="sldNum" sz="quarter" idx="5"/>
          </p:nvPr>
        </p:nvSpPr>
        <p:spPr/>
        <p:txBody>
          <a:bodyPr/>
          <a:lstStyle/>
          <a:p>
            <a:fld id="{676223B9-C868-4436-87D9-1A3152E1157A}" type="slidenum">
              <a:rPr lang="es-ES" smtClean="0"/>
              <a:t>5</a:t>
            </a:fld>
            <a:endParaRPr lang="es-ES"/>
          </a:p>
        </p:txBody>
      </p:sp>
    </p:spTree>
    <p:extLst>
      <p:ext uri="{BB962C8B-B14F-4D97-AF65-F5344CB8AC3E}">
        <p14:creationId xmlns:p14="http://schemas.microsoft.com/office/powerpoint/2010/main" val="58684430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8A10DE-08EB-80BB-ECFE-B8B8A674331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3B4E3E4-36DC-0309-8A34-F10BD4C68C2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F5D4A47-6EF7-1052-D6AB-0A1753A533F9}"/>
              </a:ext>
            </a:extLst>
          </p:cNvPr>
          <p:cNvSpPr>
            <a:spLocks noGrp="1"/>
          </p:cNvSpPr>
          <p:nvPr>
            <p:ph type="body" idx="1"/>
          </p:nvPr>
        </p:nvSpPr>
        <p:spPr/>
        <p:txBody>
          <a:bodyPr/>
          <a:lstStyle/>
          <a:p>
            <a:endParaRPr lang="es-ES" dirty="0"/>
          </a:p>
        </p:txBody>
      </p:sp>
      <p:sp>
        <p:nvSpPr>
          <p:cNvPr id="4" name="Slide Number Placeholder 3">
            <a:extLst>
              <a:ext uri="{FF2B5EF4-FFF2-40B4-BE49-F238E27FC236}">
                <a16:creationId xmlns:a16="http://schemas.microsoft.com/office/drawing/2014/main" id="{072DF251-7A81-3303-40D3-B1A7166728C0}"/>
              </a:ext>
            </a:extLst>
          </p:cNvPr>
          <p:cNvSpPr>
            <a:spLocks noGrp="1"/>
          </p:cNvSpPr>
          <p:nvPr>
            <p:ph type="sldNum" sz="quarter" idx="5"/>
          </p:nvPr>
        </p:nvSpPr>
        <p:spPr/>
        <p:txBody>
          <a:bodyPr/>
          <a:lstStyle/>
          <a:p>
            <a:fld id="{676223B9-C868-4436-87D9-1A3152E1157A}" type="slidenum">
              <a:rPr lang="es-ES" smtClean="0"/>
              <a:t>6</a:t>
            </a:fld>
            <a:endParaRPr lang="es-ES"/>
          </a:p>
        </p:txBody>
      </p:sp>
    </p:spTree>
    <p:extLst>
      <p:ext uri="{BB962C8B-B14F-4D97-AF65-F5344CB8AC3E}">
        <p14:creationId xmlns:p14="http://schemas.microsoft.com/office/powerpoint/2010/main" val="32389421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dirty="0"/>
          </a:p>
        </p:txBody>
      </p:sp>
      <p:sp>
        <p:nvSpPr>
          <p:cNvPr id="4" name="Marcador de número de diapositiva 3"/>
          <p:cNvSpPr>
            <a:spLocks noGrp="1"/>
          </p:cNvSpPr>
          <p:nvPr>
            <p:ph type="sldNum" sz="quarter" idx="5"/>
          </p:nvPr>
        </p:nvSpPr>
        <p:spPr/>
        <p:txBody>
          <a:bodyPr/>
          <a:lstStyle/>
          <a:p>
            <a:fld id="{676223B9-C868-4436-87D9-1A3152E1157A}" type="slidenum">
              <a:rPr lang="es-ES" smtClean="0"/>
              <a:t>7</a:t>
            </a:fld>
            <a:endParaRPr lang="es-ES"/>
          </a:p>
        </p:txBody>
      </p:sp>
    </p:spTree>
    <p:extLst>
      <p:ext uri="{BB962C8B-B14F-4D97-AF65-F5344CB8AC3E}">
        <p14:creationId xmlns:p14="http://schemas.microsoft.com/office/powerpoint/2010/main" val="257634631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dirty="0"/>
          </a:p>
        </p:txBody>
      </p:sp>
      <p:sp>
        <p:nvSpPr>
          <p:cNvPr id="4" name="Marcador de número de diapositiva 3"/>
          <p:cNvSpPr>
            <a:spLocks noGrp="1"/>
          </p:cNvSpPr>
          <p:nvPr>
            <p:ph type="sldNum" sz="quarter" idx="5"/>
          </p:nvPr>
        </p:nvSpPr>
        <p:spPr/>
        <p:txBody>
          <a:bodyPr/>
          <a:lstStyle/>
          <a:p>
            <a:fld id="{676223B9-C868-4436-87D9-1A3152E1157A}" type="slidenum">
              <a:rPr lang="es-ES" smtClean="0"/>
              <a:t>8</a:t>
            </a:fld>
            <a:endParaRPr lang="es-ES"/>
          </a:p>
        </p:txBody>
      </p:sp>
    </p:spTree>
    <p:extLst>
      <p:ext uri="{BB962C8B-B14F-4D97-AF65-F5344CB8AC3E}">
        <p14:creationId xmlns:p14="http://schemas.microsoft.com/office/powerpoint/2010/main" val="264448017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ES" dirty="0"/>
              <a:t>* PÉRDIDAS DEFAULT</a:t>
            </a:r>
          </a:p>
        </p:txBody>
      </p:sp>
      <p:sp>
        <p:nvSpPr>
          <p:cNvPr id="4" name="Marcador de número de diapositiva 3"/>
          <p:cNvSpPr>
            <a:spLocks noGrp="1"/>
          </p:cNvSpPr>
          <p:nvPr>
            <p:ph type="sldNum" sz="quarter" idx="5"/>
          </p:nvPr>
        </p:nvSpPr>
        <p:spPr/>
        <p:txBody>
          <a:bodyPr/>
          <a:lstStyle/>
          <a:p>
            <a:fld id="{676223B9-C868-4436-87D9-1A3152E1157A}" type="slidenum">
              <a:rPr lang="es-ES" smtClean="0"/>
              <a:t>9</a:t>
            </a:fld>
            <a:endParaRPr lang="es-ES"/>
          </a:p>
        </p:txBody>
      </p:sp>
    </p:spTree>
    <p:extLst>
      <p:ext uri="{BB962C8B-B14F-4D97-AF65-F5344CB8AC3E}">
        <p14:creationId xmlns:p14="http://schemas.microsoft.com/office/powerpoint/2010/main" val="211854649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ES" dirty="0"/>
              <a:t>** EL ACOPLO CRITICO DEPENDEN DE LAS VUELTAS ACUMULADAS POR LA K</a:t>
            </a:r>
          </a:p>
        </p:txBody>
      </p:sp>
      <p:sp>
        <p:nvSpPr>
          <p:cNvPr id="4" name="Marcador de número de diapositiva 3"/>
          <p:cNvSpPr>
            <a:spLocks noGrp="1"/>
          </p:cNvSpPr>
          <p:nvPr>
            <p:ph type="sldNum" sz="quarter" idx="5"/>
          </p:nvPr>
        </p:nvSpPr>
        <p:spPr/>
        <p:txBody>
          <a:bodyPr/>
          <a:lstStyle/>
          <a:p>
            <a:fld id="{676223B9-C868-4436-87D9-1A3152E1157A}" type="slidenum">
              <a:rPr lang="es-ES" smtClean="0"/>
              <a:t>11</a:t>
            </a:fld>
            <a:endParaRPr lang="es-ES"/>
          </a:p>
        </p:txBody>
      </p:sp>
    </p:spTree>
    <p:extLst>
      <p:ext uri="{BB962C8B-B14F-4D97-AF65-F5344CB8AC3E}">
        <p14:creationId xmlns:p14="http://schemas.microsoft.com/office/powerpoint/2010/main" val="266869393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914400" y="2125980"/>
            <a:ext cx="10363200" cy="1440180"/>
          </a:xfrm>
          <a:prstGeom prst="rect">
            <a:avLst/>
          </a:prstGeom>
        </p:spPr>
        <p:txBody>
          <a:bodyPr wrap="square" lIns="0" tIns="0" rIns="0" bIns="0">
            <a:spAutoFit/>
          </a:bodyPr>
          <a:lstStyle>
            <a:lvl1pPr>
              <a:defRPr/>
            </a:lvl1pPr>
          </a:lstStyle>
          <a:p>
            <a:endParaRPr/>
          </a:p>
        </p:txBody>
      </p:sp>
      <p:sp>
        <p:nvSpPr>
          <p:cNvPr id="3" name="Holder 3"/>
          <p:cNvSpPr>
            <a:spLocks noGrp="1"/>
          </p:cNvSpPr>
          <p:nvPr>
            <p:ph type="subTitle" idx="4"/>
          </p:nvPr>
        </p:nvSpPr>
        <p:spPr>
          <a:xfrm>
            <a:off x="1828800" y="3840480"/>
            <a:ext cx="8534400" cy="1714500"/>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p:txBody>
          <a:bodyPr lIns="0" tIns="0" rIns="0" bIns="0"/>
          <a:lstStyle>
            <a:lvl1pPr>
              <a:defRPr sz="900" b="0" i="0">
                <a:solidFill>
                  <a:srgbClr val="585858"/>
                </a:solidFill>
                <a:latin typeface="Arial"/>
                <a:cs typeface="Arial"/>
              </a:defRPr>
            </a:lvl1pPr>
          </a:lstStyle>
          <a:p>
            <a:pPr marL="12700">
              <a:lnSpc>
                <a:spcPct val="100000"/>
              </a:lnSpc>
              <a:spcBef>
                <a:spcPts val="15"/>
              </a:spcBef>
            </a:pPr>
            <a:r>
              <a:rPr lang="es-ES" spc="-5"/>
              <a:t>LAB 3.0. CIRCUITS &amp; COMPACT MODELS</a:t>
            </a:r>
            <a:endParaRPr spc="-5"/>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a:xfrm>
            <a:off x="590550" y="206752"/>
            <a:ext cx="10991850" cy="307777"/>
          </a:xfrm>
        </p:spPr>
        <p:txBody>
          <a:bodyPr lIns="0" tIns="0" rIns="0" bIns="0"/>
          <a:lstStyle>
            <a:lvl1pPr>
              <a:defRPr sz="2000" b="1" i="0">
                <a:solidFill>
                  <a:schemeClr val="tx1"/>
                </a:solidFill>
                <a:latin typeface="Calibri"/>
                <a:cs typeface="Calibri"/>
              </a:defRPr>
            </a:lvl1pPr>
          </a:lstStyle>
          <a:p>
            <a:endParaRPr/>
          </a:p>
        </p:txBody>
      </p:sp>
      <p:sp>
        <p:nvSpPr>
          <p:cNvPr id="3" name="Holder 3"/>
          <p:cNvSpPr>
            <a:spLocks noGrp="1"/>
          </p:cNvSpPr>
          <p:nvPr>
            <p:ph type="body" idx="1"/>
          </p:nvPr>
        </p:nvSpPr>
        <p:spPr>
          <a:xfrm>
            <a:off x="609600" y="2152910"/>
            <a:ext cx="10972800" cy="3950710"/>
          </a:xfrm>
        </p:spPr>
        <p:txBody>
          <a:bodyPr lIns="0" tIns="0" rIns="0" bIns="0"/>
          <a:lstStyle>
            <a:lvl1pPr>
              <a:defRPr/>
            </a:lvl1pPr>
          </a:lstStyle>
          <a:p>
            <a:endParaRPr/>
          </a:p>
        </p:txBody>
      </p:sp>
      <p:sp>
        <p:nvSpPr>
          <p:cNvPr id="4" name="Holder 4"/>
          <p:cNvSpPr>
            <a:spLocks noGrp="1"/>
          </p:cNvSpPr>
          <p:nvPr>
            <p:ph type="ftr" sz="quarter" idx="5"/>
          </p:nvPr>
        </p:nvSpPr>
        <p:spPr>
          <a:xfrm>
            <a:off x="609600" y="6457057"/>
            <a:ext cx="2743200" cy="184666"/>
          </a:xfrm>
        </p:spPr>
        <p:txBody>
          <a:bodyPr lIns="0" tIns="0" rIns="0" bIns="0" anchor="ctr"/>
          <a:lstStyle>
            <a:lvl1pPr>
              <a:defRPr sz="1200" b="0" i="0">
                <a:solidFill>
                  <a:srgbClr val="585858"/>
                </a:solidFill>
                <a:latin typeface="Arial"/>
                <a:cs typeface="Arial"/>
              </a:defRPr>
            </a:lvl1pPr>
          </a:lstStyle>
          <a:p>
            <a:pPr marL="12700">
              <a:spcBef>
                <a:spcPts val="15"/>
              </a:spcBef>
            </a:pPr>
            <a:r>
              <a:rPr lang="es-ES" spc="-5"/>
              <a:t>LAB 3.0. CIRCUITS &amp; COMPACT MODELS</a:t>
            </a:r>
          </a:p>
        </p:txBody>
      </p:sp>
      <p:sp>
        <p:nvSpPr>
          <p:cNvPr id="6" name="Holder 6"/>
          <p:cNvSpPr>
            <a:spLocks noGrp="1"/>
          </p:cNvSpPr>
          <p:nvPr>
            <p:ph type="sldNum" sz="quarter" idx="7"/>
          </p:nvPr>
        </p:nvSpPr>
        <p:spPr>
          <a:xfrm>
            <a:off x="9311640" y="6377940"/>
            <a:ext cx="2804160" cy="342900"/>
          </a:xfrm>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1600" b="0" i="0">
                <a:solidFill>
                  <a:schemeClr val="tx1"/>
                </a:solidFill>
                <a:latin typeface="Calibri"/>
                <a:cs typeface="Calibri"/>
              </a:defRPr>
            </a:lvl1pPr>
          </a:lstStyle>
          <a:p>
            <a:endParaRPr/>
          </a:p>
        </p:txBody>
      </p:sp>
      <p:sp>
        <p:nvSpPr>
          <p:cNvPr id="3" name="Holder 3"/>
          <p:cNvSpPr>
            <a:spLocks noGrp="1"/>
          </p:cNvSpPr>
          <p:nvPr>
            <p:ph sz="half" idx="2"/>
          </p:nvPr>
        </p:nvSpPr>
        <p:spPr>
          <a:xfrm>
            <a:off x="609600" y="1577340"/>
            <a:ext cx="5303520" cy="4526280"/>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6278880" y="1577340"/>
            <a:ext cx="5303520" cy="4526280"/>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defRPr sz="900" b="0" i="0">
                <a:solidFill>
                  <a:srgbClr val="585858"/>
                </a:solidFill>
                <a:latin typeface="Arial"/>
                <a:cs typeface="Arial"/>
              </a:defRPr>
            </a:lvl1pPr>
          </a:lstStyle>
          <a:p>
            <a:pPr marL="12700">
              <a:lnSpc>
                <a:spcPct val="100000"/>
              </a:lnSpc>
              <a:spcBef>
                <a:spcPts val="15"/>
              </a:spcBef>
            </a:pPr>
            <a:r>
              <a:rPr lang="es-ES" spc="-5"/>
              <a:t>LAB 3.0. CIRCUITS &amp; COMPACT MODELS</a:t>
            </a:r>
            <a:endParaRPr spc="-5"/>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obj" preserve="1">
  <p:cSld name="Title Only">
    <p:bg>
      <p:bgPr>
        <a:solidFill>
          <a:schemeClr val="bg1"/>
        </a:solidFill>
        <a:effectLst/>
      </p:bgPr>
    </p:bg>
    <p:spTree>
      <p:nvGrpSpPr>
        <p:cNvPr id="1" name=""/>
        <p:cNvGrpSpPr/>
        <p:nvPr/>
      </p:nvGrpSpPr>
      <p:grpSpPr>
        <a:xfrm>
          <a:off x="0" y="0"/>
          <a:ext cx="0" cy="0"/>
          <a:chOff x="0" y="0"/>
          <a:chExt cx="0" cy="0"/>
        </a:xfrm>
      </p:grpSpPr>
      <p:sp>
        <p:nvSpPr>
          <p:cNvPr id="16" name="bk object 16"/>
          <p:cNvSpPr/>
          <p:nvPr/>
        </p:nvSpPr>
        <p:spPr>
          <a:xfrm>
            <a:off x="0" y="2636520"/>
            <a:ext cx="3944620" cy="1584960"/>
          </a:xfrm>
          <a:custGeom>
            <a:avLst/>
            <a:gdLst/>
            <a:ahLst/>
            <a:cxnLst/>
            <a:rect l="l" t="t" r="r" b="b"/>
            <a:pathLst>
              <a:path w="3944620" h="1584960">
                <a:moveTo>
                  <a:pt x="0" y="1584959"/>
                </a:moveTo>
                <a:lnTo>
                  <a:pt x="3944112" y="1584959"/>
                </a:lnTo>
                <a:lnTo>
                  <a:pt x="3944112" y="0"/>
                </a:lnTo>
                <a:lnTo>
                  <a:pt x="0" y="0"/>
                </a:lnTo>
                <a:lnTo>
                  <a:pt x="0" y="1584959"/>
                </a:lnTo>
                <a:close/>
              </a:path>
            </a:pathLst>
          </a:custGeom>
          <a:solidFill>
            <a:srgbClr val="000000"/>
          </a:solidFill>
        </p:spPr>
        <p:txBody>
          <a:bodyPr wrap="square" lIns="0" tIns="0" rIns="0" bIns="0" rtlCol="0"/>
          <a:lstStyle/>
          <a:p>
            <a:endParaRPr/>
          </a:p>
        </p:txBody>
      </p:sp>
      <p:sp>
        <p:nvSpPr>
          <p:cNvPr id="17" name="bk object 17"/>
          <p:cNvSpPr/>
          <p:nvPr/>
        </p:nvSpPr>
        <p:spPr>
          <a:xfrm>
            <a:off x="771144" y="2951988"/>
            <a:ext cx="2403348" cy="954024"/>
          </a:xfrm>
          <a:prstGeom prst="rect">
            <a:avLst/>
          </a:prstGeom>
          <a:blipFill>
            <a:blip r:embed="rId2" cstate="print"/>
            <a:stretch>
              <a:fillRect/>
            </a:stretch>
          </a:blipFill>
        </p:spPr>
        <p:txBody>
          <a:bodyPr wrap="square" lIns="0" tIns="0" rIns="0" bIns="0" rtlCol="0"/>
          <a:lstStyle/>
          <a:p>
            <a:endParaRPr/>
          </a:p>
        </p:txBody>
      </p:sp>
      <p:sp>
        <p:nvSpPr>
          <p:cNvPr id="2" name="Holder 2"/>
          <p:cNvSpPr>
            <a:spLocks noGrp="1"/>
          </p:cNvSpPr>
          <p:nvPr>
            <p:ph type="title"/>
          </p:nvPr>
        </p:nvSpPr>
        <p:spPr/>
        <p:txBody>
          <a:bodyPr lIns="0" tIns="0" rIns="0" bIns="0"/>
          <a:lstStyle>
            <a:lvl1pPr>
              <a:defRPr sz="1600" b="0" i="0">
                <a:solidFill>
                  <a:schemeClr val="tx1"/>
                </a:solidFill>
                <a:latin typeface="Calibri"/>
                <a:cs typeface="Calibri"/>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endParaRPr lang="en-US"/>
          </a:p>
        </p:txBody>
      </p:sp>
      <p:sp>
        <p:nvSpPr>
          <p:cNvPr id="5" name="Holder 5"/>
          <p:cNvSpPr>
            <a:spLocks noGrp="1"/>
          </p:cNvSpPr>
          <p:nvPr>
            <p:ph type="sldNum" sz="quarter" idx="7"/>
          </p:nvPr>
        </p:nvSpPr>
        <p:spPr>
          <a:xfrm>
            <a:off x="9296400" y="6377940"/>
            <a:ext cx="2804160" cy="342900"/>
          </a:xfrm>
        </p:spPr>
        <p:txBody>
          <a:bodyPr lIns="0" tIns="0" rIns="0" bIns="0"/>
          <a:lstStyle>
            <a:lvl1pPr algn="r">
              <a:defRPr>
                <a:solidFill>
                  <a:schemeClr val="tx1">
                    <a:tint val="75000"/>
                  </a:schemeClr>
                </a:solidFill>
              </a:defRPr>
            </a:lvl1pPr>
          </a:lstStyle>
          <a:p>
            <a:fld id="{B6F15528-21DE-4FAA-801E-634DDDAF4B2B}" type="slidenum">
              <a:t>‹#›</a:t>
            </a:fld>
            <a:endParaRPr/>
          </a:p>
        </p:txBody>
      </p:sp>
      <p:pic>
        <p:nvPicPr>
          <p:cNvPr id="6" name="Gráfico 5">
            <a:extLst>
              <a:ext uri="{FF2B5EF4-FFF2-40B4-BE49-F238E27FC236}">
                <a16:creationId xmlns:a16="http://schemas.microsoft.com/office/drawing/2014/main" id="{F5CB4B75-CC85-5F87-B13B-97FD63FFBC56}"/>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2891213" y="6357666"/>
            <a:ext cx="6409575" cy="363174"/>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obj" preserve="1">
  <p:cSld name="Blank">
    <p:bg>
      <p:bgPr>
        <a:solidFill>
          <a:schemeClr val="bg1"/>
        </a:solidFill>
        <a:effectLst/>
      </p:bgPr>
    </p:bg>
    <p:spTree>
      <p:nvGrpSpPr>
        <p:cNvPr id="1" name=""/>
        <p:cNvGrpSpPr/>
        <p:nvPr/>
      </p:nvGrpSpPr>
      <p:grpSpPr>
        <a:xfrm>
          <a:off x="0" y="0"/>
          <a:ext cx="0" cy="0"/>
          <a:chOff x="0" y="0"/>
          <a:chExt cx="0" cy="0"/>
        </a:xfrm>
      </p:grpSpPr>
      <p:sp>
        <p:nvSpPr>
          <p:cNvPr id="16" name="bk object 16"/>
          <p:cNvSpPr/>
          <p:nvPr/>
        </p:nvSpPr>
        <p:spPr>
          <a:xfrm>
            <a:off x="594327" y="4722313"/>
            <a:ext cx="1521016" cy="1253853"/>
          </a:xfrm>
          <a:prstGeom prst="rect">
            <a:avLst/>
          </a:prstGeom>
          <a:blipFill>
            <a:blip r:embed="rId2" cstate="print"/>
            <a:stretch>
              <a:fillRect/>
            </a:stretch>
          </a:blipFill>
        </p:spPr>
        <p:txBody>
          <a:bodyPr wrap="square" lIns="0" tIns="0" rIns="0" bIns="0" rtlCol="0"/>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endParaRPr lang="en-US"/>
          </a:p>
        </p:txBody>
      </p:sp>
      <p:sp>
        <p:nvSpPr>
          <p:cNvPr id="4" name="Holder 4"/>
          <p:cNvSpPr>
            <a:spLocks noGrp="1"/>
          </p:cNvSpPr>
          <p:nvPr>
            <p:ph type="sldNum" sz="quarter" idx="7"/>
          </p:nvPr>
        </p:nvSpPr>
        <p:spPr>
          <a:xfrm>
            <a:off x="9372600" y="6377940"/>
            <a:ext cx="2804160" cy="342900"/>
          </a:xfrm>
        </p:spPr>
        <p:txBody>
          <a:bodyPr lIns="0" tIns="0" rIns="0" bIns="0"/>
          <a:lstStyle>
            <a:lvl1pPr algn="r">
              <a:defRPr>
                <a:solidFill>
                  <a:schemeClr val="tx1">
                    <a:tint val="75000"/>
                  </a:schemeClr>
                </a:solidFill>
              </a:defRPr>
            </a:lvl1pPr>
          </a:lstStyle>
          <a:p>
            <a:fld id="{B6F15528-21DE-4FAA-801E-634DDDAF4B2B}" type="slidenum">
              <a:t>‹#›</a:t>
            </a:fld>
            <a:endParaRPr/>
          </a:p>
        </p:txBody>
      </p:sp>
      <p:pic>
        <p:nvPicPr>
          <p:cNvPr id="5" name="Gráfico 4">
            <a:extLst>
              <a:ext uri="{FF2B5EF4-FFF2-40B4-BE49-F238E27FC236}">
                <a16:creationId xmlns:a16="http://schemas.microsoft.com/office/drawing/2014/main" id="{9F3DE434-B07E-429D-5547-0D42DA9B05A1}"/>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5045006" y="6356057"/>
            <a:ext cx="6409575" cy="363174"/>
          </a:xfrm>
          <a:prstGeom prst="rect">
            <a:avLst/>
          </a:prstGeom>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userDrawn="1">
  <p:cSld name="Texto simple">
    <p:spTree>
      <p:nvGrpSpPr>
        <p:cNvPr id="1" name=""/>
        <p:cNvGrpSpPr/>
        <p:nvPr/>
      </p:nvGrpSpPr>
      <p:grpSpPr>
        <a:xfrm>
          <a:off x="0" y="0"/>
          <a:ext cx="0" cy="0"/>
          <a:chOff x="0" y="0"/>
          <a:chExt cx="0" cy="0"/>
        </a:xfrm>
      </p:grpSpPr>
      <p:sp>
        <p:nvSpPr>
          <p:cNvPr id="6" name="Rectangle 47"/>
          <p:cNvSpPr/>
          <p:nvPr userDrawn="1"/>
        </p:nvSpPr>
        <p:spPr>
          <a:xfrm>
            <a:off x="608171" y="381001"/>
            <a:ext cx="45731" cy="68349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9" name="Título 8"/>
          <p:cNvSpPr>
            <a:spLocks noGrp="1"/>
          </p:cNvSpPr>
          <p:nvPr>
            <p:ph type="title" hasCustomPrompt="1"/>
          </p:nvPr>
        </p:nvSpPr>
        <p:spPr>
          <a:xfrm>
            <a:off x="736652" y="381000"/>
            <a:ext cx="7778317" cy="313782"/>
          </a:xfrm>
        </p:spPr>
        <p:txBody>
          <a:bodyPr>
            <a:normAutofit/>
          </a:bodyPr>
          <a:lstStyle>
            <a:lvl1pPr algn="l">
              <a:defRPr sz="2800" b="1" i="0" baseline="0">
                <a:solidFill>
                  <a:schemeClr val="tx1">
                    <a:lumMod val="65000"/>
                    <a:lumOff val="35000"/>
                  </a:schemeClr>
                </a:solidFill>
                <a:latin typeface="Calibri" panose="020F0502020204030204" pitchFamily="34" charset="0"/>
                <a:ea typeface="Open Sans Extrabold" panose="020B0906030804020204" pitchFamily="34" charset="0"/>
                <a:cs typeface="Calibri" panose="020F0502020204030204" pitchFamily="34" charset="0"/>
              </a:defRPr>
            </a:lvl1pPr>
          </a:lstStyle>
          <a:p>
            <a:r>
              <a:rPr lang="es-ES"/>
              <a:t>TITULO</a:t>
            </a:r>
          </a:p>
        </p:txBody>
      </p:sp>
      <p:sp>
        <p:nvSpPr>
          <p:cNvPr id="13" name="Marcador de texto 12"/>
          <p:cNvSpPr>
            <a:spLocks noGrp="1"/>
          </p:cNvSpPr>
          <p:nvPr>
            <p:ph type="body" sz="quarter" idx="10" hasCustomPrompt="1"/>
          </p:nvPr>
        </p:nvSpPr>
        <p:spPr>
          <a:xfrm>
            <a:off x="608171" y="1295401"/>
            <a:ext cx="11051877" cy="4958137"/>
          </a:xfrm>
        </p:spPr>
        <p:txBody>
          <a:bodyPr>
            <a:normAutofit/>
          </a:bodyPr>
          <a:lstStyle>
            <a:lvl1pPr>
              <a:defRPr sz="2400" baseline="0">
                <a:latin typeface="Calibri" panose="020F0502020204030204" pitchFamily="34" charset="0"/>
                <a:ea typeface="Open Sans Light" panose="020B0306030504020204" pitchFamily="34" charset="0"/>
                <a:cs typeface="Calibri" panose="020F0502020204030204" pitchFamily="34" charset="0"/>
              </a:defRPr>
            </a:lvl1pPr>
            <a:lvl2pPr>
              <a:defRPr sz="1800">
                <a:latin typeface="Calibri" panose="020F0502020204030204" pitchFamily="34" charset="0"/>
                <a:ea typeface="Open Sans Light" panose="020B0306030504020204" pitchFamily="34" charset="0"/>
                <a:cs typeface="Calibri" panose="020F0502020204030204" pitchFamily="34" charset="0"/>
              </a:defRPr>
            </a:lvl2pPr>
            <a:lvl3pPr>
              <a:defRPr sz="1600">
                <a:latin typeface="Calibri" panose="020F0502020204030204" pitchFamily="34" charset="0"/>
                <a:ea typeface="Open Sans Light" panose="020B0306030504020204" pitchFamily="34" charset="0"/>
                <a:cs typeface="Calibri" panose="020F0502020204030204" pitchFamily="34" charset="0"/>
              </a:defRPr>
            </a:lvl3pPr>
            <a:lvl4pPr>
              <a:defRPr sz="1400">
                <a:latin typeface="Calibri" panose="020F0502020204030204" pitchFamily="34" charset="0"/>
                <a:ea typeface="Open Sans Light" panose="020B0306030504020204" pitchFamily="34" charset="0"/>
                <a:cs typeface="Calibri" panose="020F0502020204030204" pitchFamily="34" charset="0"/>
              </a:defRPr>
            </a:lvl4pPr>
            <a:lvl5pPr>
              <a:defRPr sz="1400">
                <a:latin typeface="Calibri" panose="020F0502020204030204" pitchFamily="34" charset="0"/>
                <a:ea typeface="Open Sans Light" panose="020B0306030504020204" pitchFamily="34" charset="0"/>
                <a:cs typeface="Calibri" panose="020F0502020204030204" pitchFamily="34" charset="0"/>
              </a:defRPr>
            </a:lvl5pPr>
          </a:lstStyle>
          <a:p>
            <a:pPr lvl="0"/>
            <a:r>
              <a:rPr lang="es-ES"/>
              <a:t>Texto del contenido</a:t>
            </a:r>
          </a:p>
          <a:p>
            <a:pPr lvl="1"/>
            <a:r>
              <a:rPr lang="es-ES"/>
              <a:t>Segundo nivel</a:t>
            </a:r>
          </a:p>
          <a:p>
            <a:pPr lvl="2"/>
            <a:r>
              <a:rPr lang="es-ES"/>
              <a:t>Tercer nivel</a:t>
            </a:r>
          </a:p>
          <a:p>
            <a:pPr lvl="3"/>
            <a:r>
              <a:rPr lang="es-ES"/>
              <a:t>Cuarto nivel</a:t>
            </a:r>
          </a:p>
          <a:p>
            <a:pPr lvl="4"/>
            <a:r>
              <a:rPr lang="es-ES"/>
              <a:t>Quinto nivel</a:t>
            </a:r>
          </a:p>
        </p:txBody>
      </p:sp>
      <p:sp>
        <p:nvSpPr>
          <p:cNvPr id="23" name="Marcador de texto 22"/>
          <p:cNvSpPr>
            <a:spLocks noGrp="1"/>
          </p:cNvSpPr>
          <p:nvPr>
            <p:ph type="body" sz="quarter" idx="11" hasCustomPrompt="1"/>
          </p:nvPr>
        </p:nvSpPr>
        <p:spPr>
          <a:xfrm>
            <a:off x="736652" y="730647"/>
            <a:ext cx="7778317" cy="381000"/>
          </a:xfrm>
        </p:spPr>
        <p:txBody>
          <a:bodyPr>
            <a:noAutofit/>
          </a:bodyPr>
          <a:lstStyle>
            <a:lvl1pPr marL="0" indent="0">
              <a:buNone/>
              <a:defRPr sz="2000">
                <a:latin typeface="Calibri" panose="020F0502020204030204" pitchFamily="34" charset="0"/>
                <a:ea typeface="Open Sans Light" panose="020B0306030504020204" pitchFamily="34" charset="0"/>
                <a:cs typeface="Calibri" panose="020F0502020204030204" pitchFamily="34" charset="0"/>
              </a:defRPr>
            </a:lvl1pPr>
          </a:lstStyle>
          <a:p>
            <a:pPr lvl="0"/>
            <a:r>
              <a:rPr lang="es-ES"/>
              <a:t>Subtítulo del artículo con una explicación corta a modo resumen</a:t>
            </a:r>
          </a:p>
        </p:txBody>
      </p:sp>
      <p:sp>
        <p:nvSpPr>
          <p:cNvPr id="11" name="Date Placeholder 3"/>
          <p:cNvSpPr>
            <a:spLocks noGrp="1"/>
          </p:cNvSpPr>
          <p:nvPr>
            <p:ph type="dt" sz="half" idx="2"/>
          </p:nvPr>
        </p:nvSpPr>
        <p:spPr>
          <a:xfrm>
            <a:off x="609600" y="6387407"/>
            <a:ext cx="1980287" cy="303019"/>
          </a:xfrm>
          <a:prstGeom prst="rect">
            <a:avLst/>
          </a:prstGeom>
        </p:spPr>
        <p:txBody>
          <a:bodyPr vert="horz" lIns="117208" tIns="58604" rIns="117208" bIns="58604" rtlCol="0" anchor="ctr"/>
          <a:lstStyle>
            <a:lvl1pPr algn="l">
              <a:defRPr sz="1200">
                <a:solidFill>
                  <a:schemeClr val="tx1">
                    <a:tint val="75000"/>
                  </a:schemeClr>
                </a:solidFill>
              </a:defRPr>
            </a:lvl1pPr>
          </a:lstStyle>
          <a:p>
            <a:endParaRPr lang="en-US"/>
          </a:p>
        </p:txBody>
      </p:sp>
      <p:sp>
        <p:nvSpPr>
          <p:cNvPr id="12" name="Footer Placeholder 4"/>
          <p:cNvSpPr>
            <a:spLocks noGrp="1"/>
          </p:cNvSpPr>
          <p:nvPr>
            <p:ph type="ftr" sz="quarter" idx="3"/>
          </p:nvPr>
        </p:nvSpPr>
        <p:spPr>
          <a:xfrm>
            <a:off x="2894768" y="6387407"/>
            <a:ext cx="6402465" cy="303019"/>
          </a:xfrm>
          <a:prstGeom prst="rect">
            <a:avLst/>
          </a:prstGeom>
        </p:spPr>
        <p:txBody>
          <a:bodyPr vert="horz" lIns="117208" tIns="58604" rIns="117208" bIns="58604" rtlCol="0" anchor="ctr"/>
          <a:lstStyle>
            <a:lvl1pPr algn="ctr">
              <a:defRPr sz="1200">
                <a:solidFill>
                  <a:schemeClr val="tx1">
                    <a:tint val="75000"/>
                  </a:schemeClr>
                </a:solidFill>
              </a:defRPr>
            </a:lvl1pPr>
          </a:lstStyle>
          <a:p>
            <a:r>
              <a:rPr lang="en-US"/>
              <a:t>LAB 3.0. CIRCUITS &amp; COMPACT MODELS</a:t>
            </a:r>
          </a:p>
        </p:txBody>
      </p:sp>
      <p:sp>
        <p:nvSpPr>
          <p:cNvPr id="14" name="Slide Number Placeholder 5"/>
          <p:cNvSpPr>
            <a:spLocks noGrp="1"/>
          </p:cNvSpPr>
          <p:nvPr>
            <p:ph type="sldNum" sz="quarter" idx="4"/>
          </p:nvPr>
        </p:nvSpPr>
        <p:spPr>
          <a:xfrm>
            <a:off x="11431389" y="6388096"/>
            <a:ext cx="760611" cy="303019"/>
          </a:xfrm>
          <a:prstGeom prst="rect">
            <a:avLst/>
          </a:prstGeom>
          <a:solidFill>
            <a:schemeClr val="bg2"/>
          </a:solidFill>
        </p:spPr>
        <p:txBody>
          <a:bodyPr vert="horz" lIns="117208" tIns="58604" rIns="117208" bIns="58604" rtlCol="0" anchor="ctr"/>
          <a:lstStyle>
            <a:lvl1pPr algn="r">
              <a:defRPr sz="1200">
                <a:solidFill>
                  <a:srgbClr val="FF6309"/>
                </a:solidFill>
              </a:defRPr>
            </a:lvl1pPr>
          </a:lstStyle>
          <a:p>
            <a:fld id="{C2F52289-4012-4053-9770-FE82CEB9514F}" type="slidenum">
              <a:rPr lang="en-US" smtClean="0"/>
              <a:pPr/>
              <a:t>‹#›</a:t>
            </a:fld>
            <a:endParaRPr lang="en-US"/>
          </a:p>
        </p:txBody>
      </p:sp>
    </p:spTree>
    <p:extLst>
      <p:ext uri="{BB962C8B-B14F-4D97-AF65-F5344CB8AC3E}">
        <p14:creationId xmlns:p14="http://schemas.microsoft.com/office/powerpoint/2010/main" val="3024640384"/>
      </p:ext>
    </p:extLst>
  </p:cSld>
  <p:clrMapOvr>
    <a:masterClrMapping/>
  </p:clrMapOvr>
  <p:extLst>
    <p:ext uri="{DCECCB84-F9BA-43D5-87BE-67443E8EF086}">
      <p15:sldGuideLst xmlns:p15="http://schemas.microsoft.com/office/powerpoint/2012/main">
        <p15:guide id="1" orient="horz" pos="2160">
          <p15:clr>
            <a:srgbClr val="FBAE40"/>
          </p15:clr>
        </p15:guide>
        <p15:guide id="2" pos="3839">
          <p15:clr>
            <a:srgbClr val="FBAE40"/>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 name="bk object 16"/>
          <p:cNvSpPr/>
          <p:nvPr/>
        </p:nvSpPr>
        <p:spPr>
          <a:xfrm>
            <a:off x="891539" y="5283707"/>
            <a:ext cx="2624328" cy="1574289"/>
          </a:xfrm>
          <a:prstGeom prst="rect">
            <a:avLst/>
          </a:prstGeom>
          <a:blipFill>
            <a:blip r:embed="rId8" cstate="print"/>
            <a:stretch>
              <a:fillRect/>
            </a:stretch>
          </a:blipFill>
        </p:spPr>
        <p:txBody>
          <a:bodyPr wrap="square" lIns="0" tIns="0" rIns="0" bIns="0" rtlCol="0"/>
          <a:lstStyle/>
          <a:p>
            <a:endParaRPr/>
          </a:p>
        </p:txBody>
      </p:sp>
      <p:sp>
        <p:nvSpPr>
          <p:cNvPr id="2" name="Holder 2"/>
          <p:cNvSpPr>
            <a:spLocks noGrp="1"/>
          </p:cNvSpPr>
          <p:nvPr>
            <p:ph type="title"/>
          </p:nvPr>
        </p:nvSpPr>
        <p:spPr>
          <a:xfrm>
            <a:off x="3986910" y="1699005"/>
            <a:ext cx="2599054" cy="269239"/>
          </a:xfrm>
          <a:prstGeom prst="rect">
            <a:avLst/>
          </a:prstGeom>
        </p:spPr>
        <p:txBody>
          <a:bodyPr wrap="square" lIns="0" tIns="0" rIns="0" bIns="0">
            <a:spAutoFit/>
          </a:bodyPr>
          <a:lstStyle>
            <a:lvl1pPr>
              <a:defRPr sz="1600" b="0" i="0">
                <a:solidFill>
                  <a:schemeClr val="tx1"/>
                </a:solidFill>
                <a:latin typeface="Calibri"/>
                <a:cs typeface="Calibri"/>
              </a:defRPr>
            </a:lvl1pPr>
          </a:lstStyle>
          <a:p>
            <a:endParaRPr/>
          </a:p>
        </p:txBody>
      </p:sp>
      <p:sp>
        <p:nvSpPr>
          <p:cNvPr id="3" name="Holder 3"/>
          <p:cNvSpPr>
            <a:spLocks noGrp="1"/>
          </p:cNvSpPr>
          <p:nvPr>
            <p:ph type="body" idx="1"/>
          </p:nvPr>
        </p:nvSpPr>
        <p:spPr>
          <a:xfrm>
            <a:off x="609600" y="1577340"/>
            <a:ext cx="10972800" cy="4526280"/>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a:xfrm>
            <a:off x="5695950" y="6465068"/>
            <a:ext cx="1210945" cy="153670"/>
          </a:xfrm>
          <a:prstGeom prst="rect">
            <a:avLst/>
          </a:prstGeom>
        </p:spPr>
        <p:txBody>
          <a:bodyPr wrap="square" lIns="0" tIns="0" rIns="0" bIns="0">
            <a:spAutoFit/>
          </a:bodyPr>
          <a:lstStyle>
            <a:lvl1pPr>
              <a:defRPr sz="900" b="0" i="0">
                <a:solidFill>
                  <a:srgbClr val="585858"/>
                </a:solidFill>
                <a:latin typeface="Arial"/>
                <a:cs typeface="Arial"/>
              </a:defRPr>
            </a:lvl1pPr>
          </a:lstStyle>
          <a:p>
            <a:pPr marL="12700">
              <a:lnSpc>
                <a:spcPct val="100000"/>
              </a:lnSpc>
              <a:spcBef>
                <a:spcPts val="15"/>
              </a:spcBef>
            </a:pPr>
            <a:r>
              <a:rPr lang="es-ES" spc="-5"/>
              <a:t>LAB 3.0. CIRCUITS &amp; COMPACT MODELS</a:t>
            </a:r>
            <a:endParaRPr spc="-5"/>
          </a:p>
        </p:txBody>
      </p:sp>
      <p:sp>
        <p:nvSpPr>
          <p:cNvPr id="5" name="Holder 5"/>
          <p:cNvSpPr>
            <a:spLocks noGrp="1"/>
          </p:cNvSpPr>
          <p:nvPr>
            <p:ph type="dt" sz="half" idx="6"/>
          </p:nvPr>
        </p:nvSpPr>
        <p:spPr>
          <a:xfrm>
            <a:off x="609600" y="6377940"/>
            <a:ext cx="2804160" cy="342900"/>
          </a:xfrm>
          <a:prstGeom prst="rect">
            <a:avLst/>
          </a:prstGeom>
        </p:spPr>
        <p:txBody>
          <a:bodyPr wrap="square" lIns="0" tIns="0" rIns="0" bIns="0">
            <a:spAutoFit/>
          </a:bodyPr>
          <a:lstStyle>
            <a:lvl1pPr algn="l">
              <a:defRPr>
                <a:solidFill>
                  <a:schemeClr val="tx1">
                    <a:tint val="75000"/>
                  </a:schemeClr>
                </a:solidFill>
              </a:defRPr>
            </a:lvl1pPr>
          </a:lstStyle>
          <a:p>
            <a:endParaRPr lang="en-US"/>
          </a:p>
        </p:txBody>
      </p:sp>
      <p:sp>
        <p:nvSpPr>
          <p:cNvPr id="6" name="Holder 6"/>
          <p:cNvSpPr>
            <a:spLocks noGrp="1"/>
          </p:cNvSpPr>
          <p:nvPr>
            <p:ph type="sldNum" sz="quarter" idx="7"/>
          </p:nvPr>
        </p:nvSpPr>
        <p:spPr>
          <a:xfrm>
            <a:off x="9311640" y="6377940"/>
            <a:ext cx="2804160" cy="342900"/>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t>‹#›</a:t>
            </a:fld>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Lst>
  <p:hf hdr="0" dt="0"/>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5.xml"/></Relationships>
</file>

<file path=ppt/slides/_rels/slide2.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3.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notesSlide" Target="../notesSlides/notesSlide2.xml"/><Relationship Id="rId1" Type="http://schemas.openxmlformats.org/officeDocument/2006/relationships/slideLayout" Target="../slideLayouts/slideLayout2.xml"/><Relationship Id="rId5" Type="http://schemas.openxmlformats.org/officeDocument/2006/relationships/image" Target="../media/image8.png"/><Relationship Id="rId4" Type="http://schemas.openxmlformats.org/officeDocument/2006/relationships/image" Target="../media/image7.png"/></Relationships>
</file>

<file path=ppt/slides/_rels/slide4.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notesSlide" Target="../notesSlides/notesSlide3.xml"/><Relationship Id="rId1" Type="http://schemas.openxmlformats.org/officeDocument/2006/relationships/slideLayout" Target="../slideLayouts/slideLayout2.xml"/><Relationship Id="rId5" Type="http://schemas.openxmlformats.org/officeDocument/2006/relationships/image" Target="../media/image10.png"/><Relationship Id="rId4" Type="http://schemas.openxmlformats.org/officeDocument/2006/relationships/image" Target="../media/image9.png"/></Relationships>
</file>

<file path=ppt/slides/_rels/slide5.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notesSlide" Target="../notesSlides/notesSlide4.xml"/><Relationship Id="rId1" Type="http://schemas.openxmlformats.org/officeDocument/2006/relationships/slideLayout" Target="../slideLayouts/slideLayout2.xml"/><Relationship Id="rId5" Type="http://schemas.openxmlformats.org/officeDocument/2006/relationships/image" Target="../media/image12.png"/><Relationship Id="rId4" Type="http://schemas.openxmlformats.org/officeDocument/2006/relationships/image" Target="../media/image11.png"/></Relationships>
</file>

<file path=ppt/slides/_rels/slide6.xml.rels><?xml version="1.0" encoding="UTF-8" standalone="yes"?>
<Relationships xmlns="http://schemas.openxmlformats.org/package/2006/relationships"><Relationship Id="rId3" Type="http://schemas.openxmlformats.org/officeDocument/2006/relationships/image" Target="../media/image13.sv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notesSlide" Target="../notesSlides/notesSlide6.xml"/><Relationship Id="rId1" Type="http://schemas.openxmlformats.org/officeDocument/2006/relationships/slideLayout" Target="../slideLayouts/slideLayout2.xml"/><Relationship Id="rId5" Type="http://schemas.openxmlformats.org/officeDocument/2006/relationships/image" Target="../media/image15.png"/><Relationship Id="rId4" Type="http://schemas.openxmlformats.org/officeDocument/2006/relationships/image" Target="../media/image14.png"/></Relationships>
</file>

<file path=ppt/slides/_rels/slide8.xml.rels><?xml version="1.0" encoding="UTF-8" standalone="yes"?>
<Relationships xmlns="http://schemas.openxmlformats.org/package/2006/relationships"><Relationship Id="rId3" Type="http://schemas.openxmlformats.org/officeDocument/2006/relationships/image" Target="../media/image3.svg"/><Relationship Id="rId7" Type="http://schemas.openxmlformats.org/officeDocument/2006/relationships/image" Target="../media/image19.png"/><Relationship Id="rId2" Type="http://schemas.openxmlformats.org/officeDocument/2006/relationships/notesSlide" Target="../notesSlides/notesSlide7.xml"/><Relationship Id="rId1" Type="http://schemas.openxmlformats.org/officeDocument/2006/relationships/slideLayout" Target="../slideLayouts/slideLayout2.xml"/><Relationship Id="rId6" Type="http://schemas.openxmlformats.org/officeDocument/2006/relationships/image" Target="../media/image18.png"/><Relationship Id="rId5" Type="http://schemas.openxmlformats.org/officeDocument/2006/relationships/image" Target="../media/image17.png"/><Relationship Id="rId4" Type="http://schemas.openxmlformats.org/officeDocument/2006/relationships/image" Target="../media/image16.png"/></Relationships>
</file>

<file path=ppt/slides/_rels/slide9.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20.png"/></Relationships>
</file>

<file path=ppt/slides/_rels/slide10.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3.sv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3.sv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p:nvPr/>
        </p:nvSpPr>
        <p:spPr>
          <a:xfrm>
            <a:off x="2749676" y="4919853"/>
            <a:ext cx="9213724" cy="505267"/>
          </a:xfrm>
          <a:prstGeom prst="rect">
            <a:avLst/>
          </a:prstGeom>
        </p:spPr>
        <p:txBody>
          <a:bodyPr vert="horz" wrap="square" lIns="0" tIns="12700" rIns="0" bIns="0" rtlCol="0">
            <a:spAutoFit/>
          </a:bodyPr>
          <a:lstStyle/>
          <a:p>
            <a:pPr marL="12700">
              <a:lnSpc>
                <a:spcPct val="100000"/>
              </a:lnSpc>
              <a:spcBef>
                <a:spcPts val="100"/>
              </a:spcBef>
            </a:pPr>
            <a:r>
              <a:rPr lang="es-ES" sz="3200" b="1">
                <a:latin typeface="Lucida Sans"/>
                <a:cs typeface="Lucida Sans"/>
              </a:rPr>
              <a:t>Lab Book 3.0 Circuits and Compact </a:t>
            </a:r>
            <a:r>
              <a:rPr lang="es-ES" sz="3200" b="1" err="1">
                <a:latin typeface="Lucida Sans"/>
                <a:cs typeface="Lucida Sans"/>
              </a:rPr>
              <a:t>Models</a:t>
            </a:r>
            <a:endParaRPr sz="3200">
              <a:latin typeface="Lucida Sans"/>
              <a:cs typeface="Lucida Sans"/>
            </a:endParaRPr>
          </a:p>
        </p:txBody>
      </p:sp>
      <p:sp>
        <p:nvSpPr>
          <p:cNvPr id="4" name="object 4"/>
          <p:cNvSpPr txBox="1"/>
          <p:nvPr/>
        </p:nvSpPr>
        <p:spPr>
          <a:xfrm>
            <a:off x="2749676" y="5610250"/>
            <a:ext cx="8223124" cy="579646"/>
          </a:xfrm>
          <a:prstGeom prst="rect">
            <a:avLst/>
          </a:prstGeom>
        </p:spPr>
        <p:txBody>
          <a:bodyPr vert="horz" wrap="square" lIns="0" tIns="12700" rIns="0" bIns="0" rtlCol="0">
            <a:spAutoFit/>
          </a:bodyPr>
          <a:lstStyle/>
          <a:p>
            <a:pPr marL="12700">
              <a:lnSpc>
                <a:spcPct val="100000"/>
              </a:lnSpc>
              <a:spcBef>
                <a:spcPts val="100"/>
              </a:spcBef>
            </a:pPr>
            <a:r>
              <a:rPr lang="es-ES" spc="165" err="1">
                <a:latin typeface="Arial"/>
                <a:cs typeface="Arial"/>
              </a:rPr>
              <a:t>Students</a:t>
            </a:r>
            <a:r>
              <a:rPr lang="es-ES" spc="165">
                <a:latin typeface="Arial"/>
                <a:cs typeface="Arial"/>
              </a:rPr>
              <a:t>: 	Youssef </a:t>
            </a:r>
            <a:r>
              <a:rPr lang="es-ES" spc="165" err="1">
                <a:latin typeface="Arial"/>
                <a:cs typeface="Arial"/>
              </a:rPr>
              <a:t>Habassa</a:t>
            </a:r>
            <a:r>
              <a:rPr lang="es-ES" spc="165">
                <a:latin typeface="Arial"/>
                <a:cs typeface="Arial"/>
              </a:rPr>
              <a:t> El Assad</a:t>
            </a:r>
          </a:p>
          <a:p>
            <a:pPr marL="12700">
              <a:lnSpc>
                <a:spcPct val="100000"/>
              </a:lnSpc>
              <a:spcBef>
                <a:spcPts val="100"/>
              </a:spcBef>
            </a:pPr>
            <a:r>
              <a:rPr lang="es-ES" spc="165">
                <a:latin typeface="Arial"/>
                <a:cs typeface="Arial"/>
              </a:rPr>
              <a:t>		Mara Sarrión Masip </a:t>
            </a:r>
            <a:endParaRPr sz="1800">
              <a:latin typeface="Arial"/>
              <a:cs typeface="Arial"/>
            </a:endParaRPr>
          </a:p>
        </p:txBody>
      </p:sp>
      <p:sp>
        <p:nvSpPr>
          <p:cNvPr id="5" name="object 5"/>
          <p:cNvSpPr/>
          <p:nvPr/>
        </p:nvSpPr>
        <p:spPr>
          <a:xfrm>
            <a:off x="0" y="0"/>
            <a:ext cx="12192000" cy="4189476"/>
          </a:xfrm>
          <a:prstGeom prst="rect">
            <a:avLst/>
          </a:prstGeom>
          <a:blipFill>
            <a:blip r:embed="rId2" cstate="print"/>
            <a:stretch>
              <a:fillRect/>
            </a:stretch>
          </a:blipFill>
        </p:spPr>
        <p:txBody>
          <a:bodyPr wrap="square" lIns="0" tIns="0" rIns="0" bIns="0" rtlCol="0"/>
          <a:lstStyle/>
          <a:p>
            <a:endParaRPr/>
          </a:p>
        </p:txBody>
      </p:sp>
      <p:sp>
        <p:nvSpPr>
          <p:cNvPr id="7" name="Marcador de número de diapositiva 6">
            <a:extLst>
              <a:ext uri="{FF2B5EF4-FFF2-40B4-BE49-F238E27FC236}">
                <a16:creationId xmlns:a16="http://schemas.microsoft.com/office/drawing/2014/main" id="{F6F66F51-9238-50FE-85C2-BAC3DA79D767}"/>
              </a:ext>
            </a:extLst>
          </p:cNvPr>
          <p:cNvSpPr>
            <a:spLocks noGrp="1"/>
          </p:cNvSpPr>
          <p:nvPr>
            <p:ph type="sldNum" sz="quarter" idx="7"/>
          </p:nvPr>
        </p:nvSpPr>
        <p:spPr/>
        <p:txBody>
          <a:bodyPr/>
          <a:lstStyle/>
          <a:p>
            <a:fld id="{B6F15528-21DE-4FAA-801E-634DDDAF4B2B}" type="slidenum">
              <a:rPr lang="es-ES" smtClean="0"/>
              <a:t>1</a:t>
            </a:fld>
            <a:endParaRPr lang="es-E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80DA9C-35AF-A1D7-01E5-BFD9DEF1550F}"/>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471E1424-6C4B-2D9A-1352-30AFB987AD41}"/>
              </a:ext>
            </a:extLst>
          </p:cNvPr>
          <p:cNvSpPr txBox="1">
            <a:spLocks noGrp="1"/>
          </p:cNvSpPr>
          <p:nvPr>
            <p:ph type="title"/>
          </p:nvPr>
        </p:nvSpPr>
        <p:spPr>
          <a:xfrm>
            <a:off x="0" y="-175248"/>
            <a:ext cx="6858000" cy="1166986"/>
          </a:xfrm>
          <a:prstGeom prst="rect">
            <a:avLst/>
          </a:prstGeom>
        </p:spPr>
        <p:txBody>
          <a:bodyPr vert="horz" wrap="square" lIns="0" tIns="12700" rIns="0" bIns="0" rtlCol="0">
            <a:spAutoFit/>
          </a:bodyPr>
          <a:lstStyle/>
          <a:p>
            <a:pPr marL="12700" algn="ctr">
              <a:lnSpc>
                <a:spcPct val="100000"/>
              </a:lnSpc>
              <a:spcBef>
                <a:spcPts val="100"/>
              </a:spcBef>
            </a:pPr>
            <a:br>
              <a:rPr lang="en-US" sz="2500"/>
            </a:br>
            <a:r>
              <a:rPr lang="en-US" sz="2500"/>
              <a:t>Learning outcome #1a – Perfectly balanced MZI</a:t>
            </a:r>
            <a:br>
              <a:rPr lang="es-ES" sz="2500" spc="-5">
                <a:latin typeface="+mj-lt"/>
                <a:cs typeface="Lucida Sans"/>
              </a:rPr>
            </a:br>
            <a:endParaRPr lang="es-ES" sz="2500" b="0">
              <a:latin typeface="+mj-lt"/>
              <a:cs typeface="Lucida Sans"/>
            </a:endParaRPr>
          </a:p>
        </p:txBody>
      </p:sp>
      <p:pic>
        <p:nvPicPr>
          <p:cNvPr id="83" name="Gráfico 82">
            <a:extLst>
              <a:ext uri="{FF2B5EF4-FFF2-40B4-BE49-F238E27FC236}">
                <a16:creationId xmlns:a16="http://schemas.microsoft.com/office/drawing/2014/main" id="{9DCFD462-4416-65F8-5696-B0135B632765}"/>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293F5C1D-AFFF-4EA6-CA59-6503F34EBF5F}"/>
              </a:ext>
            </a:extLst>
          </p:cNvPr>
          <p:cNvSpPr>
            <a:spLocks noGrp="1"/>
          </p:cNvSpPr>
          <p:nvPr>
            <p:ph type="sldNum" sz="quarter" idx="7"/>
          </p:nvPr>
        </p:nvSpPr>
        <p:spPr/>
        <p:txBody>
          <a:bodyPr/>
          <a:lstStyle/>
          <a:p>
            <a:fld id="{B6F15528-21DE-4FAA-801E-634DDDAF4B2B}" type="slidenum">
              <a:rPr lang="es-ES" smtClean="0"/>
              <a:t>2</a:t>
            </a:fld>
            <a:endParaRPr lang="es-ES"/>
          </a:p>
        </p:txBody>
      </p:sp>
      <p:sp>
        <p:nvSpPr>
          <p:cNvPr id="3" name="Marcador de pie de página 2">
            <a:extLst>
              <a:ext uri="{FF2B5EF4-FFF2-40B4-BE49-F238E27FC236}">
                <a16:creationId xmlns:a16="http://schemas.microsoft.com/office/drawing/2014/main" id="{34F13AC1-9668-7266-DF5B-D7CE084AB044}"/>
              </a:ext>
            </a:extLst>
          </p:cNvPr>
          <p:cNvSpPr>
            <a:spLocks noGrp="1"/>
          </p:cNvSpPr>
          <p:nvPr>
            <p:ph type="ftr" sz="quarter" idx="5"/>
          </p:nvPr>
        </p:nvSpPr>
        <p:spPr/>
        <p:txBody>
          <a:bodyPr/>
          <a:lstStyle/>
          <a:p>
            <a:pPr marL="12700">
              <a:spcBef>
                <a:spcPts val="15"/>
              </a:spcBef>
            </a:pPr>
            <a:r>
              <a:rPr lang="es-ES" spc="-5"/>
              <a:t>LAB 3.0. CIRCUITS &amp; COMPACT MODELS</a:t>
            </a:r>
          </a:p>
        </p:txBody>
      </p:sp>
      <p:sp>
        <p:nvSpPr>
          <p:cNvPr id="2" name="CuadroTexto 1">
            <a:extLst>
              <a:ext uri="{FF2B5EF4-FFF2-40B4-BE49-F238E27FC236}">
                <a16:creationId xmlns:a16="http://schemas.microsoft.com/office/drawing/2014/main" id="{D0F8CF3B-B920-DBFC-F825-0C87B51EADA7}"/>
              </a:ext>
            </a:extLst>
          </p:cNvPr>
          <p:cNvSpPr txBox="1"/>
          <p:nvPr/>
        </p:nvSpPr>
        <p:spPr>
          <a:xfrm>
            <a:off x="7467600" y="408245"/>
            <a:ext cx="4343400" cy="6340197"/>
          </a:xfrm>
          <a:prstGeom prst="rect">
            <a:avLst/>
          </a:prstGeom>
          <a:solidFill>
            <a:schemeClr val="bg1">
              <a:lumMod val="95000"/>
            </a:schemeClr>
          </a:solidFill>
          <a:ln w="28575">
            <a:solidFill>
              <a:srgbClr val="E0700D"/>
            </a:solidFill>
          </a:ln>
        </p:spPr>
        <p:txBody>
          <a:bodyPr wrap="square" rtlCol="0">
            <a:spAutoFit/>
          </a:bodyPr>
          <a:lstStyle/>
          <a:p>
            <a:pPr algn="just"/>
            <a:r>
              <a:rPr lang="en-US" sz="1400">
                <a:latin typeface="Arial" panose="020B0604020202020204" pitchFamily="34" charset="0"/>
                <a:cs typeface="Arial" panose="020B0604020202020204" pitchFamily="34" charset="0"/>
              </a:rPr>
              <a:t>El </a:t>
            </a:r>
            <a:r>
              <a:rPr lang="en-US" sz="1400" err="1">
                <a:latin typeface="Arial" panose="020B0604020202020204" pitchFamily="34" charset="0"/>
                <a:cs typeface="Arial" panose="020B0604020202020204" pitchFamily="34" charset="0"/>
              </a:rPr>
              <a:t>resultado</a:t>
            </a:r>
            <a:r>
              <a:rPr lang="en-US" sz="1400">
                <a:latin typeface="Arial" panose="020B0604020202020204" pitchFamily="34" charset="0"/>
                <a:cs typeface="Arial" panose="020B0604020202020204" pitchFamily="34" charset="0"/>
              </a:rPr>
              <a:t> </a:t>
            </a:r>
            <a:r>
              <a:rPr lang="en-US" sz="1400" err="1">
                <a:latin typeface="Arial" panose="020B0604020202020204" pitchFamily="34" charset="0"/>
                <a:cs typeface="Arial" panose="020B0604020202020204" pitchFamily="34" charset="0"/>
              </a:rPr>
              <a:t>obtenido</a:t>
            </a:r>
            <a:r>
              <a:rPr lang="en-US" sz="1400">
                <a:latin typeface="Arial" panose="020B0604020202020204" pitchFamily="34" charset="0"/>
                <a:cs typeface="Arial" panose="020B0604020202020204" pitchFamily="34" charset="0"/>
              </a:rPr>
              <a:t> coincide con lo </a:t>
            </a:r>
            <a:r>
              <a:rPr lang="en-US" sz="1400" err="1">
                <a:latin typeface="Arial" panose="020B0604020202020204" pitchFamily="34" charset="0"/>
                <a:cs typeface="Arial" panose="020B0604020202020204" pitchFamily="34" charset="0"/>
              </a:rPr>
              <a:t>que</a:t>
            </a:r>
            <a:r>
              <a:rPr lang="en-US" sz="1400">
                <a:latin typeface="Arial" panose="020B0604020202020204" pitchFamily="34" charset="0"/>
                <a:cs typeface="Arial" panose="020B0604020202020204" pitchFamily="34" charset="0"/>
              </a:rPr>
              <a:t> </a:t>
            </a:r>
            <a:r>
              <a:rPr lang="en-US" sz="1400" err="1">
                <a:latin typeface="Arial" panose="020B0604020202020204" pitchFamily="34" charset="0"/>
                <a:cs typeface="Arial" panose="020B0604020202020204" pitchFamily="34" charset="0"/>
              </a:rPr>
              <a:t>predice</a:t>
            </a:r>
            <a:r>
              <a:rPr lang="en-US" sz="1400">
                <a:latin typeface="Arial" panose="020B0604020202020204" pitchFamily="34" charset="0"/>
                <a:cs typeface="Arial" panose="020B0604020202020204" pitchFamily="34" charset="0"/>
              </a:rPr>
              <a:t> la </a:t>
            </a:r>
            <a:r>
              <a:rPr lang="en-US" sz="1400" err="1">
                <a:latin typeface="Arial" panose="020B0604020202020204" pitchFamily="34" charset="0"/>
                <a:cs typeface="Arial" panose="020B0604020202020204" pitchFamily="34" charset="0"/>
              </a:rPr>
              <a:t>teoría</a:t>
            </a:r>
            <a:r>
              <a:rPr lang="en-US" sz="1400">
                <a:latin typeface="Arial" panose="020B0604020202020204" pitchFamily="34" charset="0"/>
                <a:cs typeface="Arial" panose="020B0604020202020204" pitchFamily="34" charset="0"/>
              </a:rPr>
              <a:t> </a:t>
            </a:r>
            <a:r>
              <a:rPr lang="en-US" sz="1400" err="1">
                <a:latin typeface="Arial" panose="020B0604020202020204" pitchFamily="34" charset="0"/>
                <a:cs typeface="Arial" panose="020B0604020202020204" pitchFamily="34" charset="0"/>
              </a:rPr>
              <a:t>analítica</a:t>
            </a:r>
            <a:r>
              <a:rPr lang="en-US" sz="1400">
                <a:latin typeface="Arial" panose="020B0604020202020204" pitchFamily="34" charset="0"/>
                <a:cs typeface="Arial" panose="020B0604020202020204" pitchFamily="34" charset="0"/>
              </a:rPr>
              <a:t> para un MZI </a:t>
            </a:r>
            <a:r>
              <a:rPr lang="en-US" sz="1400" err="1">
                <a:latin typeface="Arial" panose="020B0604020202020204" pitchFamily="34" charset="0"/>
                <a:cs typeface="Arial" panose="020B0604020202020204" pitchFamily="34" charset="0"/>
              </a:rPr>
              <a:t>balanceado</a:t>
            </a:r>
            <a:r>
              <a:rPr lang="en-US" sz="1400">
                <a:latin typeface="Arial" panose="020B0604020202020204" pitchFamily="34" charset="0"/>
                <a:cs typeface="Arial" panose="020B0604020202020204" pitchFamily="34" charset="0"/>
              </a:rPr>
              <a:t> ideal. </a:t>
            </a:r>
            <a:r>
              <a:rPr lang="es-ES" sz="1400">
                <a:latin typeface="Arial" panose="020B0604020202020204" pitchFamily="34" charset="0"/>
                <a:cs typeface="Arial" panose="020B0604020202020204" pitchFamily="34" charset="0"/>
              </a:rPr>
              <a:t>Un MZI está formado por dos acopladores 2x2 unidos por dos brazos ópticos. En este caso, los dos acopladores son 50:50, no se consideran pérdidas y ambos brazos tienen la misma longitud, por lo que no existe fase diferencial entre ellos.</a:t>
            </a:r>
          </a:p>
          <a:p>
            <a:pPr algn="just"/>
            <a:endParaRPr lang="es-ES" sz="1400">
              <a:latin typeface="Arial" panose="020B0604020202020204" pitchFamily="34" charset="0"/>
              <a:cs typeface="Arial" panose="020B0604020202020204" pitchFamily="34" charset="0"/>
            </a:endParaRPr>
          </a:p>
          <a:p>
            <a:pPr algn="just"/>
            <a:r>
              <a:rPr lang="en-US" sz="1400">
                <a:latin typeface="Arial" panose="020B0604020202020204" pitchFamily="34" charset="0"/>
                <a:cs typeface="Arial" panose="020B0604020202020204" pitchFamily="34" charset="0"/>
              </a:rPr>
              <a:t>En </a:t>
            </a:r>
            <a:r>
              <a:rPr lang="en-US" sz="1400" err="1">
                <a:latin typeface="Arial" panose="020B0604020202020204" pitchFamily="34" charset="0"/>
                <a:cs typeface="Arial" panose="020B0604020202020204" pitchFamily="34" charset="0"/>
              </a:rPr>
              <a:t>estas</a:t>
            </a:r>
            <a:r>
              <a:rPr lang="en-US" sz="1400">
                <a:latin typeface="Arial" panose="020B0604020202020204" pitchFamily="34" charset="0"/>
                <a:cs typeface="Arial" panose="020B0604020202020204" pitchFamily="34" charset="0"/>
              </a:rPr>
              <a:t> </a:t>
            </a:r>
            <a:r>
              <a:rPr lang="en-US" sz="1400" err="1">
                <a:latin typeface="Arial" panose="020B0604020202020204" pitchFamily="34" charset="0"/>
                <a:cs typeface="Arial" panose="020B0604020202020204" pitchFamily="34" charset="0"/>
              </a:rPr>
              <a:t>condiciones</a:t>
            </a:r>
            <a:r>
              <a:rPr lang="en-US" sz="1400">
                <a:latin typeface="Arial" panose="020B0604020202020204" pitchFamily="34" charset="0"/>
                <a:cs typeface="Arial" panose="020B0604020202020204" pitchFamily="34" charset="0"/>
              </a:rPr>
              <a:t>, la </a:t>
            </a:r>
            <a:r>
              <a:rPr lang="en-US" sz="1400" err="1">
                <a:latin typeface="Arial" panose="020B0604020202020204" pitchFamily="34" charset="0"/>
                <a:cs typeface="Arial" panose="020B0604020202020204" pitchFamily="34" charset="0"/>
              </a:rPr>
              <a:t>matriz</a:t>
            </a:r>
            <a:r>
              <a:rPr lang="en-US" sz="1400">
                <a:latin typeface="Arial" panose="020B0604020202020204" pitchFamily="34" charset="0"/>
                <a:cs typeface="Arial" panose="020B0604020202020204" pitchFamily="34" charset="0"/>
              </a:rPr>
              <a:t> de </a:t>
            </a:r>
            <a:r>
              <a:rPr lang="en-US" sz="1400" err="1">
                <a:latin typeface="Arial" panose="020B0604020202020204" pitchFamily="34" charset="0"/>
                <a:cs typeface="Arial" panose="020B0604020202020204" pitchFamily="34" charset="0"/>
              </a:rPr>
              <a:t>transferencia</a:t>
            </a:r>
            <a:r>
              <a:rPr lang="en-US" sz="1400">
                <a:latin typeface="Arial" panose="020B0604020202020204" pitchFamily="34" charset="0"/>
                <a:cs typeface="Arial" panose="020B0604020202020204" pitchFamily="34" charset="0"/>
              </a:rPr>
              <a:t> del MZI se reduce a la del </a:t>
            </a:r>
            <a:r>
              <a:rPr lang="en-US" sz="1400" err="1">
                <a:latin typeface="Arial" panose="020B0604020202020204" pitchFamily="34" charset="0"/>
                <a:cs typeface="Arial" panose="020B0604020202020204" pitchFamily="34" charset="0"/>
              </a:rPr>
              <a:t>estado</a:t>
            </a:r>
            <a:r>
              <a:rPr lang="en-US" sz="1400">
                <a:latin typeface="Arial" panose="020B0604020202020204" pitchFamily="34" charset="0"/>
                <a:cs typeface="Arial" panose="020B0604020202020204" pitchFamily="34" charset="0"/>
              </a:rPr>
              <a:t> cruzado puro, de modo </a:t>
            </a:r>
            <a:r>
              <a:rPr lang="en-US" sz="1400" err="1">
                <a:latin typeface="Arial" panose="020B0604020202020204" pitchFamily="34" charset="0"/>
                <a:cs typeface="Arial" panose="020B0604020202020204" pitchFamily="34" charset="0"/>
              </a:rPr>
              <a:t>que</a:t>
            </a:r>
            <a:r>
              <a:rPr lang="en-US" sz="1400">
                <a:latin typeface="Arial" panose="020B0604020202020204" pitchFamily="34" charset="0"/>
                <a:cs typeface="Arial" panose="020B0604020202020204" pitchFamily="34" charset="0"/>
              </a:rPr>
              <a:t> </a:t>
            </a:r>
            <a:r>
              <a:rPr lang="en-US" sz="1400" err="1">
                <a:latin typeface="Arial" panose="020B0604020202020204" pitchFamily="34" charset="0"/>
                <a:cs typeface="Arial" panose="020B0604020202020204" pitchFamily="34" charset="0"/>
              </a:rPr>
              <a:t>toda</a:t>
            </a:r>
            <a:r>
              <a:rPr lang="en-US" sz="1400">
                <a:latin typeface="Arial" panose="020B0604020202020204" pitchFamily="34" charset="0"/>
                <a:cs typeface="Arial" panose="020B0604020202020204" pitchFamily="34" charset="0"/>
              </a:rPr>
              <a:t> la </a:t>
            </a:r>
            <a:r>
              <a:rPr lang="en-US" sz="1400" err="1">
                <a:latin typeface="Arial" panose="020B0604020202020204" pitchFamily="34" charset="0"/>
                <a:cs typeface="Arial" panose="020B0604020202020204" pitchFamily="34" charset="0"/>
              </a:rPr>
              <a:t>potencia</a:t>
            </a:r>
            <a:r>
              <a:rPr lang="en-US" sz="1400">
                <a:latin typeface="Arial" panose="020B0604020202020204" pitchFamily="34" charset="0"/>
                <a:cs typeface="Arial" panose="020B0604020202020204" pitchFamily="34" charset="0"/>
              </a:rPr>
              <a:t> </a:t>
            </a:r>
            <a:r>
              <a:rPr lang="en-US" sz="1400" err="1">
                <a:latin typeface="Arial" panose="020B0604020202020204" pitchFamily="34" charset="0"/>
                <a:cs typeface="Arial" panose="020B0604020202020204" pitchFamily="34" charset="0"/>
              </a:rPr>
              <a:t>inyectada</a:t>
            </a:r>
            <a:r>
              <a:rPr lang="en-US" sz="1400">
                <a:latin typeface="Arial" panose="020B0604020202020204" pitchFamily="34" charset="0"/>
                <a:cs typeface="Arial" panose="020B0604020202020204" pitchFamily="34" charset="0"/>
              </a:rPr>
              <a:t> </a:t>
            </a:r>
            <a:r>
              <a:rPr lang="en-US" sz="1400" err="1">
                <a:latin typeface="Arial" panose="020B0604020202020204" pitchFamily="34" charset="0"/>
                <a:cs typeface="Arial" panose="020B0604020202020204" pitchFamily="34" charset="0"/>
              </a:rPr>
              <a:t>por</a:t>
            </a:r>
            <a:r>
              <a:rPr lang="en-US" sz="1400">
                <a:latin typeface="Arial" panose="020B0604020202020204" pitchFamily="34" charset="0"/>
                <a:cs typeface="Arial" panose="020B0604020202020204" pitchFamily="34" charset="0"/>
              </a:rPr>
              <a:t> in0 emerge </a:t>
            </a:r>
            <a:r>
              <a:rPr lang="en-US" sz="1400" err="1">
                <a:latin typeface="Arial" panose="020B0604020202020204" pitchFamily="34" charset="0"/>
                <a:cs typeface="Arial" panose="020B0604020202020204" pitchFamily="34" charset="0"/>
              </a:rPr>
              <a:t>íntegramente</a:t>
            </a:r>
            <a:r>
              <a:rPr lang="en-US" sz="1400">
                <a:latin typeface="Arial" panose="020B0604020202020204" pitchFamily="34" charset="0"/>
                <a:cs typeface="Arial" panose="020B0604020202020204" pitchFamily="34" charset="0"/>
              </a:rPr>
              <a:t> </a:t>
            </a:r>
            <a:r>
              <a:rPr lang="en-US" sz="1400" err="1">
                <a:latin typeface="Arial" panose="020B0604020202020204" pitchFamily="34" charset="0"/>
                <a:cs typeface="Arial" panose="020B0604020202020204" pitchFamily="34" charset="0"/>
              </a:rPr>
              <a:t>por</a:t>
            </a:r>
            <a:r>
              <a:rPr lang="en-US" sz="1400">
                <a:latin typeface="Arial" panose="020B0604020202020204" pitchFamily="34" charset="0"/>
                <a:cs typeface="Arial" panose="020B0604020202020204" pitchFamily="34" charset="0"/>
              </a:rPr>
              <a:t> out1 (H01 = 1 en lineal, 0 dB), </a:t>
            </a:r>
            <a:r>
              <a:rPr lang="en-US" sz="1400" err="1">
                <a:latin typeface="Arial" panose="020B0604020202020204" pitchFamily="34" charset="0"/>
                <a:cs typeface="Arial" panose="020B0604020202020204" pitchFamily="34" charset="0"/>
              </a:rPr>
              <a:t>mientras</a:t>
            </a:r>
            <a:r>
              <a:rPr lang="en-US" sz="1400">
                <a:latin typeface="Arial" panose="020B0604020202020204" pitchFamily="34" charset="0"/>
                <a:cs typeface="Arial" panose="020B0604020202020204" pitchFamily="34" charset="0"/>
              </a:rPr>
              <a:t> </a:t>
            </a:r>
            <a:r>
              <a:rPr lang="en-US" sz="1400" err="1">
                <a:latin typeface="Arial" panose="020B0604020202020204" pitchFamily="34" charset="0"/>
                <a:cs typeface="Arial" panose="020B0604020202020204" pitchFamily="34" charset="0"/>
              </a:rPr>
              <a:t>que</a:t>
            </a:r>
            <a:r>
              <a:rPr lang="en-US" sz="1400">
                <a:latin typeface="Arial" panose="020B0604020202020204" pitchFamily="34" charset="0"/>
                <a:cs typeface="Arial" panose="020B0604020202020204" pitchFamily="34" charset="0"/>
              </a:rPr>
              <a:t> la </a:t>
            </a:r>
            <a:r>
              <a:rPr lang="en-US" sz="1400" err="1">
                <a:latin typeface="Arial" panose="020B0604020202020204" pitchFamily="34" charset="0"/>
                <a:cs typeface="Arial" panose="020B0604020202020204" pitchFamily="34" charset="0"/>
              </a:rPr>
              <a:t>salida</a:t>
            </a:r>
            <a:r>
              <a:rPr lang="en-US" sz="1400">
                <a:latin typeface="Arial" panose="020B0604020202020204" pitchFamily="34" charset="0"/>
                <a:cs typeface="Arial" panose="020B0604020202020204" pitchFamily="34" charset="0"/>
              </a:rPr>
              <a:t> out0 </a:t>
            </a:r>
            <a:r>
              <a:rPr lang="en-US" sz="1400" err="1">
                <a:latin typeface="Arial" panose="020B0604020202020204" pitchFamily="34" charset="0"/>
                <a:cs typeface="Arial" panose="020B0604020202020204" pitchFamily="34" charset="0"/>
              </a:rPr>
              <a:t>recibe</a:t>
            </a:r>
            <a:r>
              <a:rPr lang="en-US" sz="1400">
                <a:latin typeface="Arial" panose="020B0604020202020204" pitchFamily="34" charset="0"/>
                <a:cs typeface="Arial" panose="020B0604020202020204" pitchFamily="34" charset="0"/>
              </a:rPr>
              <a:t> </a:t>
            </a:r>
            <a:r>
              <a:rPr lang="en-US" sz="1400" err="1">
                <a:latin typeface="Arial" panose="020B0604020202020204" pitchFamily="34" charset="0"/>
                <a:cs typeface="Arial" panose="020B0604020202020204" pitchFamily="34" charset="0"/>
              </a:rPr>
              <a:t>potencia</a:t>
            </a:r>
            <a:r>
              <a:rPr lang="en-US" sz="1400">
                <a:latin typeface="Arial" panose="020B0604020202020204" pitchFamily="34" charset="0"/>
                <a:cs typeface="Arial" panose="020B0604020202020204" pitchFamily="34" charset="0"/>
              </a:rPr>
              <a:t> </a:t>
            </a:r>
            <a:r>
              <a:rPr lang="en-US" sz="1400" err="1">
                <a:latin typeface="Arial" panose="020B0604020202020204" pitchFamily="34" charset="0"/>
                <a:cs typeface="Arial" panose="020B0604020202020204" pitchFamily="34" charset="0"/>
              </a:rPr>
              <a:t>nula</a:t>
            </a:r>
            <a:r>
              <a:rPr lang="en-US" sz="1400">
                <a:latin typeface="Arial" panose="020B0604020202020204" pitchFamily="34" charset="0"/>
                <a:cs typeface="Arial" panose="020B0604020202020204" pitchFamily="34" charset="0"/>
              </a:rPr>
              <a:t> (H00 = 0).</a:t>
            </a:r>
          </a:p>
          <a:p>
            <a:pPr algn="just"/>
            <a:endParaRPr lang="en-US" sz="1400">
              <a:latin typeface="Arial" panose="020B0604020202020204" pitchFamily="34" charset="0"/>
              <a:cs typeface="Arial" panose="020B0604020202020204" pitchFamily="34" charset="0"/>
            </a:endParaRPr>
          </a:p>
          <a:p>
            <a:pPr algn="just"/>
            <a:r>
              <a:rPr lang="en-US" sz="1400">
                <a:latin typeface="Arial" panose="020B0604020202020204" pitchFamily="34" charset="0"/>
                <a:cs typeface="Arial" panose="020B0604020202020204" pitchFamily="34" charset="0"/>
              </a:rPr>
              <a:t>Al ser dL = 0, no </a:t>
            </a:r>
            <a:r>
              <a:rPr lang="en-US" sz="1400" err="1">
                <a:latin typeface="Arial" panose="020B0604020202020204" pitchFamily="34" charset="0"/>
                <a:cs typeface="Arial" panose="020B0604020202020204" pitchFamily="34" charset="0"/>
              </a:rPr>
              <a:t>existe</a:t>
            </a:r>
            <a:r>
              <a:rPr lang="en-US" sz="1400">
                <a:latin typeface="Arial" panose="020B0604020202020204" pitchFamily="34" charset="0"/>
                <a:cs typeface="Arial" panose="020B0604020202020204" pitchFamily="34" charset="0"/>
              </a:rPr>
              <a:t> </a:t>
            </a:r>
            <a:r>
              <a:rPr lang="en-US" sz="1400" err="1">
                <a:latin typeface="Arial" panose="020B0604020202020204" pitchFamily="34" charset="0"/>
                <a:cs typeface="Arial" panose="020B0604020202020204" pitchFamily="34" charset="0"/>
              </a:rPr>
              <a:t>ningún</a:t>
            </a:r>
            <a:r>
              <a:rPr lang="en-US" sz="1400">
                <a:latin typeface="Arial" panose="020B0604020202020204" pitchFamily="34" charset="0"/>
                <a:cs typeface="Arial" panose="020B0604020202020204" pitchFamily="34" charset="0"/>
              </a:rPr>
              <a:t> </a:t>
            </a:r>
            <a:r>
              <a:rPr lang="en-US" sz="1400" err="1">
                <a:latin typeface="Arial" panose="020B0604020202020204" pitchFamily="34" charset="0"/>
                <a:cs typeface="Arial" panose="020B0604020202020204" pitchFamily="34" charset="0"/>
              </a:rPr>
              <a:t>término</a:t>
            </a:r>
            <a:r>
              <a:rPr lang="en-US" sz="1400">
                <a:latin typeface="Arial" panose="020B0604020202020204" pitchFamily="34" charset="0"/>
                <a:cs typeface="Arial" panose="020B0604020202020204" pitchFamily="34" charset="0"/>
              </a:rPr>
              <a:t> de </a:t>
            </a:r>
            <a:r>
              <a:rPr lang="en-US" sz="1400" err="1">
                <a:latin typeface="Arial" panose="020B0604020202020204" pitchFamily="34" charset="0"/>
                <a:cs typeface="Arial" panose="020B0604020202020204" pitchFamily="34" charset="0"/>
              </a:rPr>
              <a:t>fase</a:t>
            </a:r>
            <a:r>
              <a:rPr lang="en-US" sz="1400">
                <a:latin typeface="Arial" panose="020B0604020202020204" pitchFamily="34" charset="0"/>
                <a:cs typeface="Arial" panose="020B0604020202020204" pitchFamily="34" charset="0"/>
              </a:rPr>
              <a:t> </a:t>
            </a:r>
            <a:r>
              <a:rPr lang="en-US" sz="1400" err="1">
                <a:latin typeface="Arial" panose="020B0604020202020204" pitchFamily="34" charset="0"/>
                <a:cs typeface="Arial" panose="020B0604020202020204" pitchFamily="34" charset="0"/>
              </a:rPr>
              <a:t>que</a:t>
            </a:r>
            <a:r>
              <a:rPr lang="en-US" sz="1400">
                <a:latin typeface="Arial" panose="020B0604020202020204" pitchFamily="34" charset="0"/>
                <a:cs typeface="Arial" panose="020B0604020202020204" pitchFamily="34" charset="0"/>
              </a:rPr>
              <a:t> </a:t>
            </a:r>
            <a:r>
              <a:rPr lang="en-US" sz="1400" err="1">
                <a:latin typeface="Arial" panose="020B0604020202020204" pitchFamily="34" charset="0"/>
                <a:cs typeface="Arial" panose="020B0604020202020204" pitchFamily="34" charset="0"/>
              </a:rPr>
              <a:t>dependa</a:t>
            </a:r>
            <a:r>
              <a:rPr lang="en-US" sz="1400">
                <a:latin typeface="Arial" panose="020B0604020202020204" pitchFamily="34" charset="0"/>
                <a:cs typeface="Arial" panose="020B0604020202020204" pitchFamily="34" charset="0"/>
              </a:rPr>
              <a:t> de la longitude de la </a:t>
            </a:r>
            <a:r>
              <a:rPr lang="en-US" sz="1400" err="1">
                <a:latin typeface="Arial" panose="020B0604020202020204" pitchFamily="34" charset="0"/>
                <a:cs typeface="Arial" panose="020B0604020202020204" pitchFamily="34" charset="0"/>
              </a:rPr>
              <a:t>onda</a:t>
            </a:r>
            <a:r>
              <a:rPr lang="en-US" sz="1400">
                <a:latin typeface="Arial" panose="020B0604020202020204" pitchFamily="34" charset="0"/>
                <a:cs typeface="Arial" panose="020B0604020202020204" pitchFamily="34" charset="0"/>
              </a:rPr>
              <a:t>, </a:t>
            </a:r>
            <a:r>
              <a:rPr lang="en-US" sz="1400" err="1">
                <a:latin typeface="Arial" panose="020B0604020202020204" pitchFamily="34" charset="0"/>
                <a:cs typeface="Arial" panose="020B0604020202020204" pitchFamily="34" charset="0"/>
              </a:rPr>
              <a:t>por</a:t>
            </a:r>
            <a:r>
              <a:rPr lang="en-US" sz="1400">
                <a:latin typeface="Arial" panose="020B0604020202020204" pitchFamily="34" charset="0"/>
                <a:cs typeface="Arial" panose="020B0604020202020204" pitchFamily="34" charset="0"/>
              </a:rPr>
              <a:t> lo </a:t>
            </a:r>
            <a:r>
              <a:rPr lang="en-US" sz="1400" err="1">
                <a:latin typeface="Arial" panose="020B0604020202020204" pitchFamily="34" charset="0"/>
                <a:cs typeface="Arial" panose="020B0604020202020204" pitchFamily="34" charset="0"/>
              </a:rPr>
              <a:t>que</a:t>
            </a:r>
            <a:r>
              <a:rPr lang="en-US" sz="1400">
                <a:latin typeface="Arial" panose="020B0604020202020204" pitchFamily="34" charset="0"/>
                <a:cs typeface="Arial" panose="020B0604020202020204" pitchFamily="34" charset="0"/>
              </a:rPr>
              <a:t> las curvas H00 y H01 son </a:t>
            </a:r>
            <a:r>
              <a:rPr lang="en-US" sz="1400" err="1">
                <a:latin typeface="Arial" panose="020B0604020202020204" pitchFamily="34" charset="0"/>
                <a:cs typeface="Arial" panose="020B0604020202020204" pitchFamily="34" charset="0"/>
              </a:rPr>
              <a:t>completamente</a:t>
            </a:r>
            <a:r>
              <a:rPr lang="en-US" sz="1400">
                <a:latin typeface="Arial" panose="020B0604020202020204" pitchFamily="34" charset="0"/>
                <a:cs typeface="Arial" panose="020B0604020202020204" pitchFamily="34" charset="0"/>
              </a:rPr>
              <a:t> </a:t>
            </a:r>
            <a:r>
              <a:rPr lang="en-US" sz="1400" err="1">
                <a:latin typeface="Arial" panose="020B0604020202020204" pitchFamily="34" charset="0"/>
                <a:cs typeface="Arial" panose="020B0604020202020204" pitchFamily="34" charset="0"/>
              </a:rPr>
              <a:t>independientes</a:t>
            </a:r>
            <a:r>
              <a:rPr lang="en-US" sz="1400">
                <a:latin typeface="Arial" panose="020B0604020202020204" pitchFamily="34" charset="0"/>
                <a:cs typeface="Arial" panose="020B0604020202020204" pitchFamily="34" charset="0"/>
              </a:rPr>
              <a:t> de la </a:t>
            </a:r>
            <a:r>
              <a:rPr lang="en-US" sz="1400" err="1">
                <a:latin typeface="Arial" panose="020B0604020202020204" pitchFamily="34" charset="0"/>
                <a:cs typeface="Arial" panose="020B0604020202020204" pitchFamily="34" charset="0"/>
              </a:rPr>
              <a:t>misma</a:t>
            </a:r>
            <a:r>
              <a:rPr lang="en-US" sz="1400">
                <a:latin typeface="Arial" panose="020B0604020202020204" pitchFamily="34" charset="0"/>
                <a:cs typeface="Arial" panose="020B0604020202020204" pitchFamily="34" charset="0"/>
              </a:rPr>
              <a:t>. Es </a:t>
            </a:r>
            <a:r>
              <a:rPr lang="en-US" sz="1400" err="1">
                <a:latin typeface="Arial" panose="020B0604020202020204" pitchFamily="34" charset="0"/>
                <a:cs typeface="Arial" panose="020B0604020202020204" pitchFamily="34" charset="0"/>
              </a:rPr>
              <a:t>por</a:t>
            </a:r>
            <a:r>
              <a:rPr lang="en-US" sz="1400">
                <a:latin typeface="Arial" panose="020B0604020202020204" pitchFamily="34" charset="0"/>
                <a:cs typeface="Arial" panose="020B0604020202020204" pitchFamily="34" charset="0"/>
              </a:rPr>
              <a:t> </a:t>
            </a:r>
            <a:r>
              <a:rPr lang="en-US" sz="1400" err="1">
                <a:latin typeface="Arial" panose="020B0604020202020204" pitchFamily="34" charset="0"/>
                <a:cs typeface="Arial" panose="020B0604020202020204" pitchFamily="34" charset="0"/>
              </a:rPr>
              <a:t>esto</a:t>
            </a:r>
            <a:r>
              <a:rPr lang="en-US" sz="1400">
                <a:latin typeface="Arial" panose="020B0604020202020204" pitchFamily="34" charset="0"/>
                <a:cs typeface="Arial" panose="020B0604020202020204" pitchFamily="34" charset="0"/>
              </a:rPr>
              <a:t> </a:t>
            </a:r>
            <a:r>
              <a:rPr lang="en-US" sz="1400" err="1">
                <a:latin typeface="Arial" panose="020B0604020202020204" pitchFamily="34" charset="0"/>
                <a:cs typeface="Arial" panose="020B0604020202020204" pitchFamily="34" charset="0"/>
              </a:rPr>
              <a:t>que</a:t>
            </a:r>
            <a:r>
              <a:rPr lang="en-US" sz="1400">
                <a:latin typeface="Arial" panose="020B0604020202020204" pitchFamily="34" charset="0"/>
                <a:cs typeface="Arial" panose="020B0604020202020204" pitchFamily="34" charset="0"/>
              </a:rPr>
              <a:t> no hay </a:t>
            </a:r>
            <a:r>
              <a:rPr lang="en-US" sz="1400" err="1">
                <a:latin typeface="Arial" panose="020B0604020202020204" pitchFamily="34" charset="0"/>
                <a:cs typeface="Arial" panose="020B0604020202020204" pitchFamily="34" charset="0"/>
              </a:rPr>
              <a:t>periodicidad</a:t>
            </a:r>
            <a:r>
              <a:rPr lang="en-US" sz="1400">
                <a:latin typeface="Arial" panose="020B0604020202020204" pitchFamily="34" charset="0"/>
                <a:cs typeface="Arial" panose="020B0604020202020204" pitchFamily="34" charset="0"/>
              </a:rPr>
              <a:t> spectral </a:t>
            </a:r>
            <a:r>
              <a:rPr lang="en-US" sz="1400" err="1">
                <a:latin typeface="Arial" panose="020B0604020202020204" pitchFamily="34" charset="0"/>
                <a:cs typeface="Arial" panose="020B0604020202020204" pitchFamily="34" charset="0"/>
              </a:rPr>
              <a:t>ni</a:t>
            </a:r>
            <a:r>
              <a:rPr lang="en-US" sz="1400">
                <a:latin typeface="Arial" panose="020B0604020202020204" pitchFamily="34" charset="0"/>
                <a:cs typeface="Arial" panose="020B0604020202020204" pitchFamily="34" charset="0"/>
              </a:rPr>
              <a:t> FSR observable. </a:t>
            </a:r>
          </a:p>
          <a:p>
            <a:pPr algn="just"/>
            <a:endParaRPr lang="en-US" sz="1400">
              <a:latin typeface="Arial" panose="020B0604020202020204" pitchFamily="34" charset="0"/>
              <a:cs typeface="Arial" panose="020B0604020202020204" pitchFamily="34" charset="0"/>
            </a:endParaRPr>
          </a:p>
          <a:p>
            <a:pPr algn="just"/>
            <a:endParaRPr lang="en-US" sz="1400">
              <a:latin typeface="Arial" panose="020B0604020202020204" pitchFamily="34" charset="0"/>
              <a:cs typeface="Arial" panose="020B0604020202020204" pitchFamily="34" charset="0"/>
            </a:endParaRPr>
          </a:p>
          <a:p>
            <a:pPr algn="just"/>
            <a:r>
              <a:rPr lang="en-US" sz="1400">
                <a:latin typeface="Arial" panose="020B0604020202020204" pitchFamily="34" charset="0"/>
                <a:cs typeface="Arial" panose="020B0604020202020204" pitchFamily="34" charset="0"/>
              </a:rPr>
              <a:t>En la </a:t>
            </a:r>
            <a:r>
              <a:rPr lang="en-US" sz="1400" err="1">
                <a:latin typeface="Arial" panose="020B0604020202020204" pitchFamily="34" charset="0"/>
                <a:cs typeface="Arial" panose="020B0604020202020204" pitchFamily="34" charset="0"/>
              </a:rPr>
              <a:t>salida</a:t>
            </a:r>
            <a:r>
              <a:rPr lang="en-US" sz="1400">
                <a:latin typeface="Arial" panose="020B0604020202020204" pitchFamily="34" charset="0"/>
                <a:cs typeface="Arial" panose="020B0604020202020204" pitchFamily="34" charset="0"/>
              </a:rPr>
              <a:t> </a:t>
            </a:r>
            <a:r>
              <a:rPr lang="en-US" sz="1400" err="1">
                <a:latin typeface="Arial" panose="020B0604020202020204" pitchFamily="34" charset="0"/>
                <a:cs typeface="Arial" panose="020B0604020202020204" pitchFamily="34" charset="0"/>
              </a:rPr>
              <a:t>cruzada</a:t>
            </a:r>
            <a:r>
              <a:rPr lang="en-US" sz="1400">
                <a:latin typeface="Arial" panose="020B0604020202020204" pitchFamily="34" charset="0"/>
                <a:cs typeface="Arial" panose="020B0604020202020204" pitchFamily="34" charset="0"/>
              </a:rPr>
              <a:t> (out1), las dos </a:t>
            </a:r>
            <a:r>
              <a:rPr lang="en-US" sz="1400" err="1">
                <a:latin typeface="Arial" panose="020B0604020202020204" pitchFamily="34" charset="0"/>
                <a:cs typeface="Arial" panose="020B0604020202020204" pitchFamily="34" charset="0"/>
              </a:rPr>
              <a:t>contribuciones</a:t>
            </a:r>
            <a:r>
              <a:rPr lang="en-US" sz="1400">
                <a:latin typeface="Arial" panose="020B0604020202020204" pitchFamily="34" charset="0"/>
                <a:cs typeface="Arial" panose="020B0604020202020204" pitchFamily="34" charset="0"/>
              </a:rPr>
              <a:t> </a:t>
            </a:r>
            <a:r>
              <a:rPr lang="en-US" sz="1400" err="1">
                <a:latin typeface="Arial" panose="020B0604020202020204" pitchFamily="34" charset="0"/>
                <a:cs typeface="Arial" panose="020B0604020202020204" pitchFamily="34" charset="0"/>
              </a:rPr>
              <a:t>parciales</a:t>
            </a:r>
            <a:r>
              <a:rPr lang="en-US" sz="1400">
                <a:latin typeface="Arial" panose="020B0604020202020204" pitchFamily="34" charset="0"/>
                <a:cs typeface="Arial" panose="020B0604020202020204" pitchFamily="34" charset="0"/>
              </a:rPr>
              <a:t> </a:t>
            </a:r>
            <a:r>
              <a:rPr lang="en-US" sz="1400" err="1">
                <a:latin typeface="Arial" panose="020B0604020202020204" pitchFamily="34" charset="0"/>
                <a:cs typeface="Arial" panose="020B0604020202020204" pitchFamily="34" charset="0"/>
              </a:rPr>
              <a:t>acumulan</a:t>
            </a:r>
            <a:r>
              <a:rPr lang="en-US" sz="1400">
                <a:latin typeface="Arial" panose="020B0604020202020204" pitchFamily="34" charset="0"/>
                <a:cs typeface="Arial" panose="020B0604020202020204" pitchFamily="34" charset="0"/>
              </a:rPr>
              <a:t> </a:t>
            </a:r>
            <a:r>
              <a:rPr lang="en-US" sz="1400" err="1">
                <a:latin typeface="Arial" panose="020B0604020202020204" pitchFamily="34" charset="0"/>
                <a:cs typeface="Arial" panose="020B0604020202020204" pitchFamily="34" charset="0"/>
              </a:rPr>
              <a:t>cada</a:t>
            </a:r>
            <a:r>
              <a:rPr lang="en-US" sz="1400">
                <a:latin typeface="Arial" panose="020B0604020202020204" pitchFamily="34" charset="0"/>
                <a:cs typeface="Arial" panose="020B0604020202020204" pitchFamily="34" charset="0"/>
              </a:rPr>
              <a:t> </a:t>
            </a:r>
            <a:r>
              <a:rPr lang="en-US" sz="1400" err="1">
                <a:latin typeface="Arial" panose="020B0604020202020204" pitchFamily="34" charset="0"/>
                <a:cs typeface="Arial" panose="020B0604020202020204" pitchFamily="34" charset="0"/>
              </a:rPr>
              <a:t>una</a:t>
            </a:r>
            <a:r>
              <a:rPr lang="en-US" sz="1400">
                <a:latin typeface="Arial" panose="020B0604020202020204" pitchFamily="34" charset="0"/>
                <a:cs typeface="Arial" panose="020B0604020202020204" pitchFamily="34" charset="0"/>
              </a:rPr>
              <a:t> un </a:t>
            </a:r>
            <a:r>
              <a:rPr lang="en-US" sz="1400" err="1">
                <a:latin typeface="Arial" panose="020B0604020202020204" pitchFamily="34" charset="0"/>
                <a:cs typeface="Arial" panose="020B0604020202020204" pitchFamily="34" charset="0"/>
              </a:rPr>
              <a:t>desfase</a:t>
            </a:r>
            <a:r>
              <a:rPr lang="en-US" sz="1400">
                <a:latin typeface="Arial" panose="020B0604020202020204" pitchFamily="34" charset="0"/>
                <a:cs typeface="Arial" panose="020B0604020202020204" pitchFamily="34" charset="0"/>
              </a:rPr>
              <a:t> de –pi/2 al </a:t>
            </a:r>
            <a:r>
              <a:rPr lang="en-US" sz="1400" err="1">
                <a:latin typeface="Arial" panose="020B0604020202020204" pitchFamily="34" charset="0"/>
                <a:cs typeface="Arial" panose="020B0604020202020204" pitchFamily="34" charset="0"/>
              </a:rPr>
              <a:t>atravesar</a:t>
            </a:r>
            <a:r>
              <a:rPr lang="en-US" sz="1400">
                <a:latin typeface="Arial" panose="020B0604020202020204" pitchFamily="34" charset="0"/>
                <a:cs typeface="Arial" panose="020B0604020202020204" pitchFamily="34" charset="0"/>
              </a:rPr>
              <a:t> </a:t>
            </a:r>
            <a:r>
              <a:rPr lang="en-US" sz="1400" err="1">
                <a:latin typeface="Arial" panose="020B0604020202020204" pitchFamily="34" charset="0"/>
                <a:cs typeface="Arial" panose="020B0604020202020204" pitchFamily="34" charset="0"/>
              </a:rPr>
              <a:t>su</a:t>
            </a:r>
            <a:r>
              <a:rPr lang="en-US" sz="1400">
                <a:latin typeface="Arial" panose="020B0604020202020204" pitchFamily="34" charset="0"/>
                <a:cs typeface="Arial" panose="020B0604020202020204" pitchFamily="34" charset="0"/>
              </a:rPr>
              <a:t> respective coupler, </a:t>
            </a:r>
            <a:r>
              <a:rPr lang="en-US" sz="1400" err="1">
                <a:latin typeface="Arial" panose="020B0604020202020204" pitchFamily="34" charset="0"/>
                <a:cs typeface="Arial" panose="020B0604020202020204" pitchFamily="34" charset="0"/>
              </a:rPr>
              <a:t>llegando</a:t>
            </a:r>
            <a:r>
              <a:rPr lang="en-US" sz="1400">
                <a:latin typeface="Arial" panose="020B0604020202020204" pitchFamily="34" charset="0"/>
                <a:cs typeface="Arial" panose="020B0604020202020204" pitchFamily="34" charset="0"/>
              </a:rPr>
              <a:t> en </a:t>
            </a:r>
            <a:r>
              <a:rPr lang="en-US" sz="1400" err="1">
                <a:latin typeface="Arial" panose="020B0604020202020204" pitchFamily="34" charset="0"/>
                <a:cs typeface="Arial" panose="020B0604020202020204" pitchFamily="34" charset="0"/>
              </a:rPr>
              <a:t>fase</a:t>
            </a:r>
            <a:r>
              <a:rPr lang="en-US" sz="1400">
                <a:latin typeface="Arial" panose="020B0604020202020204" pitchFamily="34" charset="0"/>
                <a:cs typeface="Arial" panose="020B0604020202020204" pitchFamily="34" charset="0"/>
              </a:rPr>
              <a:t> y </a:t>
            </a:r>
            <a:r>
              <a:rPr lang="en-US" sz="1400" err="1">
                <a:latin typeface="Arial" panose="020B0604020202020204" pitchFamily="34" charset="0"/>
                <a:cs typeface="Arial" panose="020B0604020202020204" pitchFamily="34" charset="0"/>
              </a:rPr>
              <a:t>sumándose</a:t>
            </a:r>
            <a:r>
              <a:rPr lang="en-US" sz="1400">
                <a:latin typeface="Arial" panose="020B0604020202020204" pitchFamily="34" charset="0"/>
                <a:cs typeface="Arial" panose="020B0604020202020204" pitchFamily="34" charset="0"/>
              </a:rPr>
              <a:t> </a:t>
            </a:r>
            <a:r>
              <a:rPr lang="en-US" sz="1400" err="1">
                <a:latin typeface="Arial" panose="020B0604020202020204" pitchFamily="34" charset="0"/>
                <a:cs typeface="Arial" panose="020B0604020202020204" pitchFamily="34" charset="0"/>
              </a:rPr>
              <a:t>constructivamente</a:t>
            </a:r>
            <a:r>
              <a:rPr lang="en-US" sz="1400">
                <a:latin typeface="Arial" panose="020B0604020202020204" pitchFamily="34" charset="0"/>
                <a:cs typeface="Arial" panose="020B0604020202020204" pitchFamily="34" charset="0"/>
              </a:rPr>
              <a:t>. En la </a:t>
            </a:r>
            <a:r>
              <a:rPr lang="en-US" sz="1400" err="1">
                <a:latin typeface="Arial" panose="020B0604020202020204" pitchFamily="34" charset="0"/>
                <a:cs typeface="Arial" panose="020B0604020202020204" pitchFamily="34" charset="0"/>
              </a:rPr>
              <a:t>salida</a:t>
            </a:r>
            <a:r>
              <a:rPr lang="en-US" sz="1400">
                <a:latin typeface="Arial" panose="020B0604020202020204" pitchFamily="34" charset="0"/>
                <a:cs typeface="Arial" panose="020B0604020202020204" pitchFamily="34" charset="0"/>
              </a:rPr>
              <a:t> </a:t>
            </a:r>
            <a:r>
              <a:rPr lang="en-US" sz="1400" err="1">
                <a:latin typeface="Arial" panose="020B0604020202020204" pitchFamily="34" charset="0"/>
                <a:cs typeface="Arial" panose="020B0604020202020204" pitchFamily="34" charset="0"/>
              </a:rPr>
              <a:t>directa</a:t>
            </a:r>
            <a:r>
              <a:rPr lang="en-US" sz="1400">
                <a:latin typeface="Arial" panose="020B0604020202020204" pitchFamily="34" charset="0"/>
                <a:cs typeface="Arial" panose="020B0604020202020204" pitchFamily="34" charset="0"/>
              </a:rPr>
              <a:t> (out0), ambas </a:t>
            </a:r>
            <a:r>
              <a:rPr lang="en-US" sz="1400" err="1">
                <a:latin typeface="Arial" panose="020B0604020202020204" pitchFamily="34" charset="0"/>
                <a:cs typeface="Arial" panose="020B0604020202020204" pitchFamily="34" charset="0"/>
              </a:rPr>
              <a:t>contribuciones</a:t>
            </a:r>
            <a:r>
              <a:rPr lang="en-US" sz="1400">
                <a:latin typeface="Arial" panose="020B0604020202020204" pitchFamily="34" charset="0"/>
                <a:cs typeface="Arial" panose="020B0604020202020204" pitchFamily="34" charset="0"/>
              </a:rPr>
              <a:t> </a:t>
            </a:r>
            <a:r>
              <a:rPr lang="en-US" sz="1400" err="1">
                <a:latin typeface="Arial" panose="020B0604020202020204" pitchFamily="34" charset="0"/>
                <a:cs typeface="Arial" panose="020B0604020202020204" pitchFamily="34" charset="0"/>
              </a:rPr>
              <a:t>llegan</a:t>
            </a:r>
            <a:r>
              <a:rPr lang="en-US" sz="1400">
                <a:latin typeface="Arial" panose="020B0604020202020204" pitchFamily="34" charset="0"/>
                <a:cs typeface="Arial" panose="020B0604020202020204" pitchFamily="34" charset="0"/>
              </a:rPr>
              <a:t> con </a:t>
            </a:r>
            <a:r>
              <a:rPr lang="en-US" sz="1400" err="1">
                <a:latin typeface="Arial" panose="020B0604020202020204" pitchFamily="34" charset="0"/>
                <a:cs typeface="Arial" panose="020B0604020202020204" pitchFamily="34" charset="0"/>
              </a:rPr>
              <a:t>una</a:t>
            </a:r>
            <a:r>
              <a:rPr lang="en-US" sz="1400">
                <a:latin typeface="Arial" panose="020B0604020202020204" pitchFamily="34" charset="0"/>
                <a:cs typeface="Arial" panose="020B0604020202020204" pitchFamily="34" charset="0"/>
              </a:rPr>
              <a:t> </a:t>
            </a:r>
            <a:r>
              <a:rPr lang="en-US" sz="1400" err="1">
                <a:latin typeface="Arial" panose="020B0604020202020204" pitchFamily="34" charset="0"/>
                <a:cs typeface="Arial" panose="020B0604020202020204" pitchFamily="34" charset="0"/>
              </a:rPr>
              <a:t>diferencia</a:t>
            </a:r>
            <a:r>
              <a:rPr lang="en-US" sz="1400">
                <a:latin typeface="Arial" panose="020B0604020202020204" pitchFamily="34" charset="0"/>
                <a:cs typeface="Arial" panose="020B0604020202020204" pitchFamily="34" charset="0"/>
              </a:rPr>
              <a:t> de </a:t>
            </a:r>
            <a:r>
              <a:rPr lang="en-US" sz="1400" err="1">
                <a:latin typeface="Arial" panose="020B0604020202020204" pitchFamily="34" charset="0"/>
                <a:cs typeface="Arial" panose="020B0604020202020204" pitchFamily="34" charset="0"/>
              </a:rPr>
              <a:t>fase</a:t>
            </a:r>
            <a:r>
              <a:rPr lang="en-US" sz="1400">
                <a:latin typeface="Arial" panose="020B0604020202020204" pitchFamily="34" charset="0"/>
                <a:cs typeface="Arial" panose="020B0604020202020204" pitchFamily="34" charset="0"/>
              </a:rPr>
              <a:t> de pi entre </a:t>
            </a:r>
            <a:r>
              <a:rPr lang="en-US" sz="1400" err="1">
                <a:latin typeface="Arial" panose="020B0604020202020204" pitchFamily="34" charset="0"/>
                <a:cs typeface="Arial" panose="020B0604020202020204" pitchFamily="34" charset="0"/>
              </a:rPr>
              <a:t>sí</a:t>
            </a:r>
            <a:r>
              <a:rPr lang="en-US" sz="1400">
                <a:latin typeface="Arial" panose="020B0604020202020204" pitchFamily="34" charset="0"/>
                <a:cs typeface="Arial" panose="020B0604020202020204" pitchFamily="34" charset="0"/>
              </a:rPr>
              <a:t>, </a:t>
            </a:r>
            <a:r>
              <a:rPr lang="en-US" sz="1400" err="1">
                <a:latin typeface="Arial" panose="020B0604020202020204" pitchFamily="34" charset="0"/>
                <a:cs typeface="Arial" panose="020B0604020202020204" pitchFamily="34" charset="0"/>
              </a:rPr>
              <a:t>dando</a:t>
            </a:r>
            <a:r>
              <a:rPr lang="en-US" sz="1400">
                <a:latin typeface="Arial" panose="020B0604020202020204" pitchFamily="34" charset="0"/>
                <a:cs typeface="Arial" panose="020B0604020202020204" pitchFamily="34" charset="0"/>
              </a:rPr>
              <a:t> </a:t>
            </a:r>
            <a:r>
              <a:rPr lang="en-US" sz="1400" err="1">
                <a:latin typeface="Arial" panose="020B0604020202020204" pitchFamily="34" charset="0"/>
                <a:cs typeface="Arial" panose="020B0604020202020204" pitchFamily="34" charset="0"/>
              </a:rPr>
              <a:t>lugar</a:t>
            </a:r>
            <a:r>
              <a:rPr lang="en-US" sz="1400">
                <a:latin typeface="Arial" panose="020B0604020202020204" pitchFamily="34" charset="0"/>
                <a:cs typeface="Arial" panose="020B0604020202020204" pitchFamily="34" charset="0"/>
              </a:rPr>
              <a:t> a </a:t>
            </a:r>
            <a:r>
              <a:rPr lang="en-US" sz="1400" err="1">
                <a:latin typeface="Arial" panose="020B0604020202020204" pitchFamily="34" charset="0"/>
                <a:cs typeface="Arial" panose="020B0604020202020204" pitchFamily="34" charset="0"/>
              </a:rPr>
              <a:t>una</a:t>
            </a:r>
            <a:r>
              <a:rPr lang="en-US" sz="1400">
                <a:latin typeface="Arial" panose="020B0604020202020204" pitchFamily="34" charset="0"/>
                <a:cs typeface="Arial" panose="020B0604020202020204" pitchFamily="34" charset="0"/>
              </a:rPr>
              <a:t> </a:t>
            </a:r>
            <a:r>
              <a:rPr lang="en-US" sz="1400" err="1">
                <a:latin typeface="Arial" panose="020B0604020202020204" pitchFamily="34" charset="0"/>
                <a:cs typeface="Arial" panose="020B0604020202020204" pitchFamily="34" charset="0"/>
              </a:rPr>
              <a:t>cancelación</a:t>
            </a:r>
            <a:r>
              <a:rPr lang="en-US" sz="1400">
                <a:latin typeface="Arial" panose="020B0604020202020204" pitchFamily="34" charset="0"/>
                <a:cs typeface="Arial" panose="020B0604020202020204" pitchFamily="34" charset="0"/>
              </a:rPr>
              <a:t> perfecta </a:t>
            </a:r>
            <a:r>
              <a:rPr lang="en-US" sz="1400" err="1">
                <a:latin typeface="Arial" panose="020B0604020202020204" pitchFamily="34" charset="0"/>
                <a:cs typeface="Arial" panose="020B0604020202020204" pitchFamily="34" charset="0"/>
              </a:rPr>
              <a:t>por</a:t>
            </a:r>
            <a:r>
              <a:rPr lang="en-US" sz="1400">
                <a:latin typeface="Arial" panose="020B0604020202020204" pitchFamily="34" charset="0"/>
                <a:cs typeface="Arial" panose="020B0604020202020204" pitchFamily="34" charset="0"/>
              </a:rPr>
              <a:t> </a:t>
            </a:r>
            <a:r>
              <a:rPr lang="en-US" sz="1400" err="1">
                <a:latin typeface="Arial" panose="020B0604020202020204" pitchFamily="34" charset="0"/>
                <a:cs typeface="Arial" panose="020B0604020202020204" pitchFamily="34" charset="0"/>
              </a:rPr>
              <a:t>interferencia</a:t>
            </a:r>
            <a:r>
              <a:rPr lang="en-US" sz="1400">
                <a:latin typeface="Arial" panose="020B0604020202020204" pitchFamily="34" charset="0"/>
                <a:cs typeface="Arial" panose="020B0604020202020204" pitchFamily="34" charset="0"/>
              </a:rPr>
              <a:t> </a:t>
            </a:r>
            <a:r>
              <a:rPr lang="en-US" sz="1400" err="1">
                <a:latin typeface="Arial" panose="020B0604020202020204" pitchFamily="34" charset="0"/>
                <a:cs typeface="Arial" panose="020B0604020202020204" pitchFamily="34" charset="0"/>
              </a:rPr>
              <a:t>destructiva</a:t>
            </a:r>
            <a:r>
              <a:rPr lang="en-US" sz="1400">
                <a:latin typeface="Arial" panose="020B0604020202020204" pitchFamily="34" charset="0"/>
                <a:cs typeface="Arial" panose="020B0604020202020204" pitchFamily="34" charset="0"/>
              </a:rPr>
              <a:t>.</a:t>
            </a:r>
          </a:p>
        </p:txBody>
      </p:sp>
      <p:sp>
        <p:nvSpPr>
          <p:cNvPr id="6" name="Rectángulo 5">
            <a:extLst>
              <a:ext uri="{FF2B5EF4-FFF2-40B4-BE49-F238E27FC236}">
                <a16:creationId xmlns:a16="http://schemas.microsoft.com/office/drawing/2014/main" id="{82AE4A84-532D-D50D-F368-79FF1C11E97A}"/>
              </a:ext>
            </a:extLst>
          </p:cNvPr>
          <p:cNvSpPr/>
          <p:nvPr/>
        </p:nvSpPr>
        <p:spPr>
          <a:xfrm>
            <a:off x="463295" y="1332717"/>
            <a:ext cx="6781800" cy="4270953"/>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CuadroTexto 6">
            <a:extLst>
              <a:ext uri="{FF2B5EF4-FFF2-40B4-BE49-F238E27FC236}">
                <a16:creationId xmlns:a16="http://schemas.microsoft.com/office/drawing/2014/main" id="{024B9AF7-5B09-CE7C-68D9-8620B8F4F607}"/>
              </a:ext>
            </a:extLst>
          </p:cNvPr>
          <p:cNvSpPr txBox="1"/>
          <p:nvPr/>
        </p:nvSpPr>
        <p:spPr>
          <a:xfrm>
            <a:off x="1690195" y="2494306"/>
            <a:ext cx="3171061" cy="1154162"/>
          </a:xfrm>
          <a:prstGeom prst="rect">
            <a:avLst/>
          </a:prstGeom>
          <a:noFill/>
        </p:spPr>
        <p:txBody>
          <a:bodyPr wrap="none" rtlCol="0">
            <a:spAutoFit/>
          </a:bodyPr>
          <a:lstStyle/>
          <a:p>
            <a:pPr algn="ctr"/>
            <a:r>
              <a:rPr lang="es-ES"/>
              <a:t>MZI transfer </a:t>
            </a:r>
            <a:r>
              <a:rPr lang="es-ES" err="1"/>
              <a:t>functions</a:t>
            </a:r>
            <a:endParaRPr lang="en-US"/>
          </a:p>
          <a:p>
            <a:pPr algn="ctr"/>
            <a:endParaRPr lang="en-US"/>
          </a:p>
          <a:p>
            <a:pPr algn="ctr"/>
            <a:r>
              <a:rPr lang="en-US"/>
              <a:t>Paste plot here</a:t>
            </a:r>
          </a:p>
        </p:txBody>
      </p:sp>
      <p:pic>
        <p:nvPicPr>
          <p:cNvPr id="9" name="Imagen 8">
            <a:extLst>
              <a:ext uri="{FF2B5EF4-FFF2-40B4-BE49-F238E27FC236}">
                <a16:creationId xmlns:a16="http://schemas.microsoft.com/office/drawing/2014/main" id="{D8EDA731-A12E-71C5-FC6C-FFD17B1A3C0F}"/>
              </a:ext>
            </a:extLst>
          </p:cNvPr>
          <p:cNvPicPr>
            <a:picLocks noChangeAspect="1"/>
          </p:cNvPicPr>
          <p:nvPr/>
        </p:nvPicPr>
        <p:blipFill>
          <a:blip r:embed="rId4"/>
          <a:stretch>
            <a:fillRect/>
          </a:stretch>
        </p:blipFill>
        <p:spPr>
          <a:xfrm>
            <a:off x="533400" y="1588921"/>
            <a:ext cx="6641589" cy="3915836"/>
          </a:xfrm>
          <a:prstGeom prst="rect">
            <a:avLst/>
          </a:prstGeom>
        </p:spPr>
      </p:pic>
    </p:spTree>
    <p:extLst>
      <p:ext uri="{BB962C8B-B14F-4D97-AF65-F5344CB8AC3E}">
        <p14:creationId xmlns:p14="http://schemas.microsoft.com/office/powerpoint/2010/main" val="73050131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D5EA17-A19F-F6ED-E241-A2268CBA45D6}"/>
            </a:ext>
          </a:extLst>
        </p:cNvPr>
        <p:cNvGrpSpPr/>
        <p:nvPr/>
      </p:nvGrpSpPr>
      <p:grpSpPr>
        <a:xfrm>
          <a:off x="0" y="0"/>
          <a:ext cx="0" cy="0"/>
          <a:chOff x="0" y="0"/>
          <a:chExt cx="0" cy="0"/>
        </a:xfrm>
      </p:grpSpPr>
      <p:pic>
        <p:nvPicPr>
          <p:cNvPr id="83" name="Gráfico 82">
            <a:extLst>
              <a:ext uri="{FF2B5EF4-FFF2-40B4-BE49-F238E27FC236}">
                <a16:creationId xmlns:a16="http://schemas.microsoft.com/office/drawing/2014/main" id="{08B251FE-4B29-D52F-1DB1-9E5BBD8CFF56}"/>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63FA43D9-CFE1-F872-DD44-E04BB1B18DFD}"/>
              </a:ext>
            </a:extLst>
          </p:cNvPr>
          <p:cNvSpPr>
            <a:spLocks noGrp="1"/>
          </p:cNvSpPr>
          <p:nvPr>
            <p:ph type="sldNum" sz="quarter" idx="7"/>
          </p:nvPr>
        </p:nvSpPr>
        <p:spPr/>
        <p:txBody>
          <a:bodyPr/>
          <a:lstStyle/>
          <a:p>
            <a:fld id="{B6F15528-21DE-4FAA-801E-634DDDAF4B2B}" type="slidenum">
              <a:rPr lang="es-ES" smtClean="0"/>
              <a:t>3</a:t>
            </a:fld>
            <a:endParaRPr lang="es-ES"/>
          </a:p>
        </p:txBody>
      </p:sp>
      <p:sp>
        <p:nvSpPr>
          <p:cNvPr id="3" name="Marcador de pie de página 2">
            <a:extLst>
              <a:ext uri="{FF2B5EF4-FFF2-40B4-BE49-F238E27FC236}">
                <a16:creationId xmlns:a16="http://schemas.microsoft.com/office/drawing/2014/main" id="{06710B9A-16F8-7A75-9BC8-FE3189874FB8}"/>
              </a:ext>
            </a:extLst>
          </p:cNvPr>
          <p:cNvSpPr>
            <a:spLocks noGrp="1"/>
          </p:cNvSpPr>
          <p:nvPr>
            <p:ph type="ftr" sz="quarter" idx="5"/>
          </p:nvPr>
        </p:nvSpPr>
        <p:spPr/>
        <p:txBody>
          <a:bodyPr/>
          <a:lstStyle/>
          <a:p>
            <a:pPr marL="12700">
              <a:spcBef>
                <a:spcPts val="15"/>
              </a:spcBef>
            </a:pPr>
            <a:r>
              <a:rPr lang="en-US" spc="-5"/>
              <a:t>LAB 3.0. CIRCUITS &amp; COMPACT MODELS</a:t>
            </a:r>
            <a:endParaRPr lang="es-ES" spc="-5"/>
          </a:p>
        </p:txBody>
      </p:sp>
      <p:sp>
        <p:nvSpPr>
          <p:cNvPr id="2" name="CuadroTexto 1">
            <a:extLst>
              <a:ext uri="{FF2B5EF4-FFF2-40B4-BE49-F238E27FC236}">
                <a16:creationId xmlns:a16="http://schemas.microsoft.com/office/drawing/2014/main" id="{50C41089-061E-9B39-3904-6F31AFE073B8}"/>
              </a:ext>
            </a:extLst>
          </p:cNvPr>
          <p:cNvSpPr txBox="1"/>
          <p:nvPr/>
        </p:nvSpPr>
        <p:spPr>
          <a:xfrm>
            <a:off x="246585" y="4864795"/>
            <a:ext cx="11504930" cy="1384995"/>
          </a:xfrm>
          <a:prstGeom prst="rect">
            <a:avLst/>
          </a:prstGeom>
          <a:solidFill>
            <a:schemeClr val="bg1">
              <a:lumMod val="95000"/>
            </a:schemeClr>
          </a:solidFill>
          <a:ln w="28575">
            <a:solidFill>
              <a:srgbClr val="E0700D"/>
            </a:solidFill>
          </a:ln>
        </p:spPr>
        <p:txBody>
          <a:bodyPr wrap="square" rtlCol="0">
            <a:spAutoFit/>
          </a:bodyPr>
          <a:lstStyle>
            <a:defPPr>
              <a:defRPr lang="es-ES"/>
            </a:defPPr>
            <a:lvl1pPr algn="just">
              <a:defRPr sz="1400">
                <a:latin typeface="Arial" panose="020B0604020202020204" pitchFamily="34" charset="0"/>
                <a:cs typeface="Arial" panose="020B0604020202020204" pitchFamily="34" charset="0"/>
              </a:defRPr>
            </a:lvl1pPr>
          </a:lstStyle>
          <a:p>
            <a:r>
              <a:rPr lang="en-US"/>
              <a:t>El </a:t>
            </a:r>
            <a:r>
              <a:rPr lang="en-US" err="1"/>
              <a:t>cálculo</a:t>
            </a:r>
            <a:r>
              <a:rPr lang="en-US"/>
              <a:t> </a:t>
            </a:r>
            <a:r>
              <a:rPr lang="en-US" err="1"/>
              <a:t>numérico</a:t>
            </a:r>
            <a:r>
              <a:rPr lang="en-US"/>
              <a:t> de la FSR </a:t>
            </a:r>
            <a:r>
              <a:rPr lang="en-US" err="1"/>
              <a:t>viene</a:t>
            </a:r>
            <a:r>
              <a:rPr lang="en-US"/>
              <a:t> dado </a:t>
            </a:r>
            <a:r>
              <a:rPr lang="en-US" err="1"/>
              <a:t>por</a:t>
            </a:r>
            <a:r>
              <a:rPr lang="en-US"/>
              <a:t> la </a:t>
            </a:r>
            <a:r>
              <a:rPr lang="en-US" err="1"/>
              <a:t>ecuación</a:t>
            </a:r>
            <a:r>
              <a:rPr lang="en-US"/>
              <a:t> con </a:t>
            </a:r>
            <a:r>
              <a:rPr lang="en-US" err="1"/>
              <a:t>el</a:t>
            </a:r>
            <a:r>
              <a:rPr lang="en-US"/>
              <a:t> </a:t>
            </a:r>
            <a:r>
              <a:rPr lang="en-US" err="1"/>
              <a:t>borde</a:t>
            </a:r>
            <a:r>
              <a:rPr lang="en-US"/>
              <a:t> </a:t>
            </a:r>
            <a:r>
              <a:rPr lang="en-US" err="1"/>
              <a:t>azul</a:t>
            </a:r>
            <a:r>
              <a:rPr lang="en-US"/>
              <a:t>. Con </a:t>
            </a:r>
            <a:r>
              <a:rPr lang="en-US" err="1"/>
              <a:t>los</a:t>
            </a:r>
            <a:r>
              <a:rPr lang="en-US"/>
              <a:t> </a:t>
            </a:r>
            <a:r>
              <a:rPr lang="en-US" err="1"/>
              <a:t>parámetros</a:t>
            </a:r>
            <a:r>
              <a:rPr lang="en-US"/>
              <a:t> ng = 2.0, lambda=1.55 um y </a:t>
            </a:r>
            <a:r>
              <a:rPr lang="en-US" err="1"/>
              <a:t>deltaL</a:t>
            </a:r>
            <a:r>
              <a:rPr lang="en-US"/>
              <a:t> = 100 um:</a:t>
            </a:r>
          </a:p>
          <a:p>
            <a:r>
              <a:rPr lang="en-US"/>
              <a:t>FSR = (1.55 um)^2/(2.0*100 um) = 0.01201 um ≈ 12 nm, lo </a:t>
            </a:r>
            <a:r>
              <a:rPr lang="en-US" err="1"/>
              <a:t>que</a:t>
            </a:r>
            <a:r>
              <a:rPr lang="en-US"/>
              <a:t> coincide con lo </a:t>
            </a:r>
            <a:r>
              <a:rPr lang="en-US" err="1"/>
              <a:t>observado</a:t>
            </a:r>
            <a:r>
              <a:rPr lang="en-US"/>
              <a:t> en la </a:t>
            </a:r>
            <a:r>
              <a:rPr lang="en-US" err="1"/>
              <a:t>simulación</a:t>
            </a:r>
            <a:r>
              <a:rPr lang="en-US"/>
              <a:t>.</a:t>
            </a:r>
          </a:p>
          <a:p>
            <a:endParaRPr lang="en-US"/>
          </a:p>
          <a:p>
            <a:r>
              <a:rPr lang="es-ES"/>
              <a:t>Este resultado valida el modelo y la relación teórica del FSR. El MZI desequilibrado actúa como un “</a:t>
            </a:r>
            <a:r>
              <a:rPr lang="es-ES" err="1"/>
              <a:t>comb</a:t>
            </a:r>
            <a:r>
              <a:rPr lang="es-ES"/>
              <a:t> </a:t>
            </a:r>
            <a:r>
              <a:rPr lang="es-ES" err="1"/>
              <a:t>filter</a:t>
            </a:r>
            <a:r>
              <a:rPr lang="es-ES"/>
              <a:t>” cuya periodicidad espectral está controlada únicamente por </a:t>
            </a:r>
            <a:r>
              <a:rPr lang="es-ES" err="1"/>
              <a:t>dL</a:t>
            </a:r>
            <a:r>
              <a:rPr lang="es-ES"/>
              <a:t> y el índice de grupo del </a:t>
            </a:r>
            <a:r>
              <a:rPr lang="es-ES" err="1"/>
              <a:t>waveguide</a:t>
            </a:r>
            <a:r>
              <a:rPr lang="es-ES"/>
              <a:t>. Aumentar </a:t>
            </a:r>
            <a:r>
              <a:rPr lang="es-ES" err="1"/>
              <a:t>dL</a:t>
            </a:r>
            <a:r>
              <a:rPr lang="es-ES"/>
              <a:t> comprimiría el FSR (más oscilaciones), mientras que reducirlo lo ensancharía, hasta llegar al caso </a:t>
            </a:r>
            <a:r>
              <a:rPr lang="es-ES" err="1"/>
              <a:t>dL</a:t>
            </a:r>
            <a:r>
              <a:rPr lang="es-ES"/>
              <a:t> = 0 donde el FSR → infinito y la respuesta es plana (LO1a, MZI balanceado ideal).</a:t>
            </a:r>
            <a:endParaRPr lang="en-US"/>
          </a:p>
        </p:txBody>
      </p:sp>
      <p:sp>
        <p:nvSpPr>
          <p:cNvPr id="6" name="Rectángulo 5">
            <a:extLst>
              <a:ext uri="{FF2B5EF4-FFF2-40B4-BE49-F238E27FC236}">
                <a16:creationId xmlns:a16="http://schemas.microsoft.com/office/drawing/2014/main" id="{F95B976F-6522-EA3D-1323-5C97E9F88EDF}"/>
              </a:ext>
            </a:extLst>
          </p:cNvPr>
          <p:cNvSpPr/>
          <p:nvPr/>
        </p:nvSpPr>
        <p:spPr>
          <a:xfrm>
            <a:off x="304641" y="773107"/>
            <a:ext cx="6400959" cy="3810000"/>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CuadroTexto 6">
            <a:extLst>
              <a:ext uri="{FF2B5EF4-FFF2-40B4-BE49-F238E27FC236}">
                <a16:creationId xmlns:a16="http://schemas.microsoft.com/office/drawing/2014/main" id="{8934523B-51D9-2926-EAC0-7EAD4D1D5B75}"/>
              </a:ext>
            </a:extLst>
          </p:cNvPr>
          <p:cNvSpPr txBox="1"/>
          <p:nvPr/>
        </p:nvSpPr>
        <p:spPr>
          <a:xfrm>
            <a:off x="1690195" y="2494306"/>
            <a:ext cx="3171061" cy="1154162"/>
          </a:xfrm>
          <a:prstGeom prst="rect">
            <a:avLst/>
          </a:prstGeom>
          <a:noFill/>
        </p:spPr>
        <p:txBody>
          <a:bodyPr wrap="none" rtlCol="0">
            <a:spAutoFit/>
          </a:bodyPr>
          <a:lstStyle/>
          <a:p>
            <a:pPr algn="ctr"/>
            <a:r>
              <a:rPr lang="es-ES"/>
              <a:t>MZI transfer </a:t>
            </a:r>
            <a:r>
              <a:rPr lang="es-ES" err="1"/>
              <a:t>functions</a:t>
            </a:r>
            <a:endParaRPr lang="en-US"/>
          </a:p>
          <a:p>
            <a:pPr algn="ctr"/>
            <a:endParaRPr lang="en-US"/>
          </a:p>
          <a:p>
            <a:pPr algn="ctr"/>
            <a:r>
              <a:rPr lang="en-US"/>
              <a:t>Paste plot here</a:t>
            </a:r>
          </a:p>
        </p:txBody>
      </p:sp>
      <p:pic>
        <p:nvPicPr>
          <p:cNvPr id="9" name="Imagen 8">
            <a:extLst>
              <a:ext uri="{FF2B5EF4-FFF2-40B4-BE49-F238E27FC236}">
                <a16:creationId xmlns:a16="http://schemas.microsoft.com/office/drawing/2014/main" id="{B427EA4A-5544-BA09-1726-24FE2A63E13C}"/>
              </a:ext>
            </a:extLst>
          </p:cNvPr>
          <p:cNvPicPr>
            <a:picLocks noChangeAspect="1"/>
          </p:cNvPicPr>
          <p:nvPr/>
        </p:nvPicPr>
        <p:blipFill>
          <a:blip r:embed="rId4"/>
          <a:stretch>
            <a:fillRect/>
          </a:stretch>
        </p:blipFill>
        <p:spPr>
          <a:xfrm>
            <a:off x="381000" y="1038125"/>
            <a:ext cx="6211782" cy="3401128"/>
          </a:xfrm>
          <a:prstGeom prst="rect">
            <a:avLst/>
          </a:prstGeom>
        </p:spPr>
      </p:pic>
      <p:sp>
        <p:nvSpPr>
          <p:cNvPr id="8" name="object 16">
            <a:extLst>
              <a:ext uri="{FF2B5EF4-FFF2-40B4-BE49-F238E27FC236}">
                <a16:creationId xmlns:a16="http://schemas.microsoft.com/office/drawing/2014/main" id="{A9CA15DA-9A17-EB45-9578-511B457FC738}"/>
              </a:ext>
            </a:extLst>
          </p:cNvPr>
          <p:cNvSpPr txBox="1">
            <a:spLocks/>
          </p:cNvSpPr>
          <p:nvPr/>
        </p:nvSpPr>
        <p:spPr>
          <a:xfrm>
            <a:off x="-381000" y="-175248"/>
            <a:ext cx="6858000" cy="1166986"/>
          </a:xfrm>
          <a:prstGeom prst="rect">
            <a:avLst/>
          </a:prstGeom>
        </p:spPr>
        <p:txBody>
          <a:bodyPr vert="horz" wrap="square" lIns="0" tIns="12700" rIns="0" bIns="0" rtlCol="0">
            <a:spAutoFit/>
          </a:bodyPr>
          <a:lstStyle>
            <a:lvl1pPr>
              <a:defRPr sz="2000" b="1" i="0">
                <a:solidFill>
                  <a:schemeClr val="tx1"/>
                </a:solidFill>
                <a:latin typeface="Calibri"/>
                <a:ea typeface="+mj-ea"/>
                <a:cs typeface="Calibri"/>
              </a:defRPr>
            </a:lvl1pPr>
          </a:lstStyle>
          <a:p>
            <a:pPr marL="12700" algn="ctr">
              <a:spcBef>
                <a:spcPts val="100"/>
              </a:spcBef>
            </a:pPr>
            <a:br>
              <a:rPr lang="en-US" sz="2500" kern="0"/>
            </a:br>
            <a:r>
              <a:rPr lang="en-US" sz="2500" kern="0"/>
              <a:t>Learning outcome #1b – Unbalanced MZI</a:t>
            </a:r>
            <a:br>
              <a:rPr lang="es-ES" sz="2500" kern="0" spc="-5">
                <a:latin typeface="+mj-lt"/>
                <a:cs typeface="Lucida Sans"/>
              </a:rPr>
            </a:br>
            <a:endParaRPr lang="es-ES" sz="2500" b="0" kern="0">
              <a:latin typeface="+mj-lt"/>
              <a:cs typeface="Lucida Sans"/>
            </a:endParaRPr>
          </a:p>
        </p:txBody>
      </p:sp>
      <p:sp>
        <p:nvSpPr>
          <p:cNvPr id="12" name="CuadroTexto 1">
            <a:extLst>
              <a:ext uri="{FF2B5EF4-FFF2-40B4-BE49-F238E27FC236}">
                <a16:creationId xmlns:a16="http://schemas.microsoft.com/office/drawing/2014/main" id="{706CB5FB-E837-A07D-F128-EA75E2892693}"/>
              </a:ext>
            </a:extLst>
          </p:cNvPr>
          <p:cNvSpPr txBox="1"/>
          <p:nvPr/>
        </p:nvSpPr>
        <p:spPr>
          <a:xfrm>
            <a:off x="6823842" y="119997"/>
            <a:ext cx="5216612" cy="4616648"/>
          </a:xfrm>
          <a:prstGeom prst="rect">
            <a:avLst/>
          </a:prstGeom>
          <a:solidFill>
            <a:schemeClr val="bg1">
              <a:lumMod val="95000"/>
            </a:schemeClr>
          </a:solidFill>
          <a:ln w="28575">
            <a:solidFill>
              <a:srgbClr val="E0700D"/>
            </a:solidFill>
          </a:ln>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a:latin typeface="Arial" panose="020B0604020202020204" pitchFamily="34" charset="0"/>
                <a:cs typeface="Arial" panose="020B0604020202020204" pitchFamily="34" charset="0"/>
              </a:rPr>
              <a:t>Al introducer </a:t>
            </a:r>
            <a:r>
              <a:rPr lang="en-US" sz="1400" err="1">
                <a:latin typeface="Arial" panose="020B0604020202020204" pitchFamily="34" charset="0"/>
                <a:cs typeface="Arial" panose="020B0604020202020204" pitchFamily="34" charset="0"/>
              </a:rPr>
              <a:t>una</a:t>
            </a:r>
            <a:r>
              <a:rPr lang="en-US" sz="1400">
                <a:latin typeface="Arial" panose="020B0604020202020204" pitchFamily="34" charset="0"/>
                <a:cs typeface="Arial" panose="020B0604020202020204" pitchFamily="34" charset="0"/>
              </a:rPr>
              <a:t> </a:t>
            </a:r>
            <a:r>
              <a:rPr lang="en-US" sz="1400" err="1">
                <a:latin typeface="Arial" panose="020B0604020202020204" pitchFamily="34" charset="0"/>
                <a:cs typeface="Arial" panose="020B0604020202020204" pitchFamily="34" charset="0"/>
              </a:rPr>
              <a:t>diferencia</a:t>
            </a:r>
            <a:r>
              <a:rPr lang="en-US" sz="1400">
                <a:latin typeface="Arial" panose="020B0604020202020204" pitchFamily="34" charset="0"/>
                <a:cs typeface="Arial" panose="020B0604020202020204" pitchFamily="34" charset="0"/>
              </a:rPr>
              <a:t> de longitude dL = 100 um entre </a:t>
            </a:r>
            <a:r>
              <a:rPr lang="en-US" sz="1400" err="1">
                <a:latin typeface="Arial" panose="020B0604020202020204" pitchFamily="34" charset="0"/>
                <a:cs typeface="Arial" panose="020B0604020202020204" pitchFamily="34" charset="0"/>
              </a:rPr>
              <a:t>los</a:t>
            </a:r>
            <a:r>
              <a:rPr lang="en-US" sz="1400">
                <a:latin typeface="Arial" panose="020B0604020202020204" pitchFamily="34" charset="0"/>
                <a:cs typeface="Arial" panose="020B0604020202020204" pitchFamily="34" charset="0"/>
              </a:rPr>
              <a:t> </a:t>
            </a:r>
            <a:r>
              <a:rPr lang="en-US" sz="1400" err="1">
                <a:latin typeface="Arial" panose="020B0604020202020204" pitchFamily="34" charset="0"/>
                <a:cs typeface="Arial" panose="020B0604020202020204" pitchFamily="34" charset="0"/>
              </a:rPr>
              <a:t>brazos</a:t>
            </a:r>
            <a:r>
              <a:rPr lang="en-US" sz="1400">
                <a:latin typeface="Arial" panose="020B0604020202020204" pitchFamily="34" charset="0"/>
                <a:cs typeface="Arial" panose="020B0604020202020204" pitchFamily="34" charset="0"/>
              </a:rPr>
              <a:t>, </a:t>
            </a:r>
            <a:r>
              <a:rPr lang="en-US" sz="1400" err="1">
                <a:latin typeface="Arial" panose="020B0604020202020204" pitchFamily="34" charset="0"/>
                <a:cs typeface="Arial" panose="020B0604020202020204" pitchFamily="34" charset="0"/>
              </a:rPr>
              <a:t>el</a:t>
            </a:r>
            <a:r>
              <a:rPr lang="en-US" sz="1400">
                <a:latin typeface="Arial" panose="020B0604020202020204" pitchFamily="34" charset="0"/>
                <a:cs typeface="Arial" panose="020B0604020202020204" pitchFamily="34" charset="0"/>
              </a:rPr>
              <a:t> MZI </a:t>
            </a:r>
            <a:r>
              <a:rPr lang="en-US" sz="1400" err="1">
                <a:latin typeface="Arial" panose="020B0604020202020204" pitchFamily="34" charset="0"/>
                <a:cs typeface="Arial" panose="020B0604020202020204" pitchFamily="34" charset="0"/>
              </a:rPr>
              <a:t>deja</a:t>
            </a:r>
            <a:r>
              <a:rPr lang="en-US" sz="1400">
                <a:latin typeface="Arial" panose="020B0604020202020204" pitchFamily="34" charset="0"/>
                <a:cs typeface="Arial" panose="020B0604020202020204" pitchFamily="34" charset="0"/>
              </a:rPr>
              <a:t> de </a:t>
            </a:r>
            <a:r>
              <a:rPr lang="en-US" sz="1400" err="1">
                <a:latin typeface="Arial" panose="020B0604020202020204" pitchFamily="34" charset="0"/>
                <a:cs typeface="Arial" panose="020B0604020202020204" pitchFamily="34" charset="0"/>
              </a:rPr>
              <a:t>estar</a:t>
            </a:r>
            <a:r>
              <a:rPr lang="en-US" sz="1400">
                <a:latin typeface="Arial" panose="020B0604020202020204" pitchFamily="34" charset="0"/>
                <a:cs typeface="Arial" panose="020B0604020202020204" pitchFamily="34" charset="0"/>
              </a:rPr>
              <a:t> </a:t>
            </a:r>
            <a:r>
              <a:rPr lang="en-US" sz="1400" err="1">
                <a:latin typeface="Arial" panose="020B0604020202020204" pitchFamily="34" charset="0"/>
                <a:cs typeface="Arial" panose="020B0604020202020204" pitchFamily="34" charset="0"/>
              </a:rPr>
              <a:t>perfectamente</a:t>
            </a:r>
            <a:r>
              <a:rPr lang="en-US" sz="1400">
                <a:latin typeface="Arial" panose="020B0604020202020204" pitchFamily="34" charset="0"/>
                <a:cs typeface="Arial" panose="020B0604020202020204" pitchFamily="34" charset="0"/>
              </a:rPr>
              <a:t> </a:t>
            </a:r>
            <a:r>
              <a:rPr lang="en-US" sz="1400" err="1">
                <a:latin typeface="Arial" panose="020B0604020202020204" pitchFamily="34" charset="0"/>
                <a:cs typeface="Arial" panose="020B0604020202020204" pitchFamily="34" charset="0"/>
              </a:rPr>
              <a:t>balanceado</a:t>
            </a:r>
            <a:r>
              <a:rPr lang="en-US" sz="1400">
                <a:latin typeface="Arial" panose="020B0604020202020204" pitchFamily="34" charset="0"/>
                <a:cs typeface="Arial" panose="020B0604020202020204" pitchFamily="34" charset="0"/>
              </a:rPr>
              <a:t>, </a:t>
            </a:r>
            <a:r>
              <a:rPr lang="en-US" sz="1400" err="1">
                <a:latin typeface="Arial" panose="020B0604020202020204" pitchFamily="34" charset="0"/>
                <a:cs typeface="Arial" panose="020B0604020202020204" pitchFamily="34" charset="0"/>
              </a:rPr>
              <a:t>deja</a:t>
            </a:r>
            <a:r>
              <a:rPr lang="en-US" sz="1400">
                <a:latin typeface="Arial" panose="020B0604020202020204" pitchFamily="34" charset="0"/>
                <a:cs typeface="Arial" panose="020B0604020202020204" pitchFamily="34" charset="0"/>
              </a:rPr>
              <a:t> de </a:t>
            </a:r>
            <a:r>
              <a:rPr lang="en-US" sz="1400" err="1">
                <a:latin typeface="Arial" panose="020B0604020202020204" pitchFamily="34" charset="0"/>
                <a:cs typeface="Arial" panose="020B0604020202020204" pitchFamily="34" charset="0"/>
              </a:rPr>
              <a:t>estar</a:t>
            </a:r>
            <a:r>
              <a:rPr lang="en-US" sz="1400">
                <a:latin typeface="Arial" panose="020B0604020202020204" pitchFamily="34" charset="0"/>
                <a:cs typeface="Arial" panose="020B0604020202020204" pitchFamily="34" charset="0"/>
              </a:rPr>
              <a:t> en </a:t>
            </a:r>
            <a:r>
              <a:rPr lang="en-US" sz="1400" err="1">
                <a:latin typeface="Arial" panose="020B0604020202020204" pitchFamily="34" charset="0"/>
                <a:cs typeface="Arial" panose="020B0604020202020204" pitchFamily="34" charset="0"/>
              </a:rPr>
              <a:t>estado</a:t>
            </a:r>
            <a:r>
              <a:rPr lang="en-US" sz="1400">
                <a:latin typeface="Arial" panose="020B0604020202020204" pitchFamily="34" charset="0"/>
                <a:cs typeface="Arial" panose="020B0604020202020204" pitchFamily="34" charset="0"/>
              </a:rPr>
              <a:t> cruzado </a:t>
            </a:r>
            <a:r>
              <a:rPr lang="en-US" sz="1400" err="1">
                <a:latin typeface="Arial" panose="020B0604020202020204" pitchFamily="34" charset="0"/>
                <a:cs typeface="Arial" panose="020B0604020202020204" pitchFamily="34" charset="0"/>
              </a:rPr>
              <a:t>fijo</a:t>
            </a:r>
            <a:r>
              <a:rPr lang="en-US" sz="1400">
                <a:latin typeface="Arial" panose="020B0604020202020204" pitchFamily="34" charset="0"/>
                <a:cs typeface="Arial" panose="020B0604020202020204" pitchFamily="34" charset="0"/>
              </a:rPr>
              <a:t> y </a:t>
            </a:r>
            <a:r>
              <a:rPr lang="en-US" sz="1400" err="1">
                <a:latin typeface="Arial" panose="020B0604020202020204" pitchFamily="34" charset="0"/>
                <a:cs typeface="Arial" panose="020B0604020202020204" pitchFamily="34" charset="0"/>
              </a:rPr>
              <a:t>pasa</a:t>
            </a:r>
            <a:r>
              <a:rPr lang="en-US" sz="1400">
                <a:latin typeface="Arial" panose="020B0604020202020204" pitchFamily="34" charset="0"/>
                <a:cs typeface="Arial" panose="020B0604020202020204" pitchFamily="34" charset="0"/>
              </a:rPr>
              <a:t> a </a:t>
            </a:r>
            <a:r>
              <a:rPr lang="en-US" sz="1400" err="1">
                <a:latin typeface="Arial" panose="020B0604020202020204" pitchFamily="34" charset="0"/>
                <a:cs typeface="Arial" panose="020B0604020202020204" pitchFamily="34" charset="0"/>
              </a:rPr>
              <a:t>comportarse</a:t>
            </a:r>
            <a:r>
              <a:rPr lang="en-US" sz="1400">
                <a:latin typeface="Arial" panose="020B0604020202020204" pitchFamily="34" charset="0"/>
                <a:cs typeface="Arial" panose="020B0604020202020204" pitchFamily="34" charset="0"/>
              </a:rPr>
              <a:t> </a:t>
            </a:r>
            <a:r>
              <a:rPr lang="en-US" sz="1400" err="1">
                <a:latin typeface="Arial" panose="020B0604020202020204" pitchFamily="34" charset="0"/>
                <a:cs typeface="Arial" panose="020B0604020202020204" pitchFamily="34" charset="0"/>
              </a:rPr>
              <a:t>como</a:t>
            </a:r>
            <a:r>
              <a:rPr lang="en-US" sz="1400">
                <a:latin typeface="Arial" panose="020B0604020202020204" pitchFamily="34" charset="0"/>
                <a:cs typeface="Arial" panose="020B0604020202020204" pitchFamily="34" charset="0"/>
              </a:rPr>
              <a:t> un </a:t>
            </a:r>
            <a:r>
              <a:rPr lang="en-US" sz="1400" err="1">
                <a:latin typeface="Arial" panose="020B0604020202020204" pitchFamily="34" charset="0"/>
                <a:cs typeface="Arial" panose="020B0604020202020204" pitchFamily="34" charset="0"/>
              </a:rPr>
              <a:t>filtro</a:t>
            </a:r>
            <a:r>
              <a:rPr lang="en-US" sz="1400">
                <a:latin typeface="Arial" panose="020B0604020202020204" pitchFamily="34" charset="0"/>
                <a:cs typeface="Arial" panose="020B0604020202020204" pitchFamily="34" charset="0"/>
              </a:rPr>
              <a:t> </a:t>
            </a:r>
            <a:r>
              <a:rPr lang="en-US" sz="1400" err="1">
                <a:latin typeface="Arial" panose="020B0604020202020204" pitchFamily="34" charset="0"/>
                <a:cs typeface="Arial" panose="020B0604020202020204" pitchFamily="34" charset="0"/>
              </a:rPr>
              <a:t>periódico</a:t>
            </a:r>
            <a:r>
              <a:rPr lang="en-US" sz="1400">
                <a:latin typeface="Arial" panose="020B0604020202020204" pitchFamily="34" charset="0"/>
                <a:cs typeface="Arial" panose="020B0604020202020204" pitchFamily="34" charset="0"/>
              </a:rPr>
              <a:t> en </a:t>
            </a:r>
            <a:r>
              <a:rPr lang="en-US" sz="1400" err="1">
                <a:latin typeface="Arial" panose="020B0604020202020204" pitchFamily="34" charset="0"/>
                <a:cs typeface="Arial" panose="020B0604020202020204" pitchFamily="34" charset="0"/>
              </a:rPr>
              <a:t>longitud</a:t>
            </a:r>
            <a:r>
              <a:rPr lang="en-US" sz="1400">
                <a:latin typeface="Arial" panose="020B0604020202020204" pitchFamily="34" charset="0"/>
                <a:cs typeface="Arial" panose="020B0604020202020204" pitchFamily="34" charset="0"/>
              </a:rPr>
              <a:t> de </a:t>
            </a:r>
            <a:r>
              <a:rPr lang="en-US" sz="1400" err="1">
                <a:latin typeface="Arial" panose="020B0604020202020204" pitchFamily="34" charset="0"/>
                <a:cs typeface="Arial" panose="020B0604020202020204" pitchFamily="34" charset="0"/>
              </a:rPr>
              <a:t>onda</a:t>
            </a:r>
            <a:r>
              <a:rPr lang="en-US" sz="1400">
                <a:latin typeface="Arial" panose="020B0604020202020204" pitchFamily="34" charset="0"/>
                <a:cs typeface="Arial" panose="020B0604020202020204" pitchFamily="34" charset="0"/>
              </a:rPr>
              <a:t>. </a:t>
            </a:r>
            <a:r>
              <a:rPr lang="es-ES" sz="1400">
                <a:latin typeface="Arial" panose="020B0604020202020204" pitchFamily="34" charset="0"/>
                <a:cs typeface="Arial" panose="020B0604020202020204" pitchFamily="34" charset="0"/>
              </a:rPr>
              <a:t>Por ello, al barrer la longitud de onda entre 1500 y 1600 nm, la diferencia de fase cambia continuamente y las salidas alternan entre interferencia constructiva y destructiva. Esto explica que H00 y H01 sean periódicas y complementarias: cuando una salida está en máximo, la otra está en mínimo.</a:t>
            </a:r>
          </a:p>
          <a:p>
            <a:pPr algn="just"/>
            <a:endParaRPr lang="en-US" sz="1400">
              <a:latin typeface="Arial" panose="020B0604020202020204" pitchFamily="34" charset="0"/>
              <a:cs typeface="Arial" panose="020B0604020202020204" pitchFamily="34" charset="0"/>
            </a:endParaRPr>
          </a:p>
          <a:p>
            <a:pPr algn="just"/>
            <a:r>
              <a:rPr lang="en-US" sz="1400">
                <a:latin typeface="Arial" panose="020B0604020202020204" pitchFamily="34" charset="0"/>
                <a:cs typeface="Arial" panose="020B0604020202020204" pitchFamily="34" charset="0"/>
              </a:rPr>
              <a:t>El “Free Spectral Range” (FSR) es la </a:t>
            </a:r>
            <a:r>
              <a:rPr lang="en-US" sz="1400" err="1">
                <a:latin typeface="Arial" panose="020B0604020202020204" pitchFamily="34" charset="0"/>
                <a:cs typeface="Arial" panose="020B0604020202020204" pitchFamily="34" charset="0"/>
              </a:rPr>
              <a:t>separación</a:t>
            </a:r>
            <a:r>
              <a:rPr lang="en-US" sz="1400">
                <a:latin typeface="Arial" panose="020B0604020202020204" pitchFamily="34" charset="0"/>
                <a:cs typeface="Arial" panose="020B0604020202020204" pitchFamily="34" charset="0"/>
              </a:rPr>
              <a:t> entre dos </a:t>
            </a:r>
            <a:r>
              <a:rPr lang="en-US" sz="1400" err="1">
                <a:latin typeface="Arial" panose="020B0604020202020204" pitchFamily="34" charset="0"/>
                <a:cs typeface="Arial" panose="020B0604020202020204" pitchFamily="34" charset="0"/>
              </a:rPr>
              <a:t>máximos</a:t>
            </a:r>
            <a:r>
              <a:rPr lang="en-US" sz="1400">
                <a:latin typeface="Arial" panose="020B0604020202020204" pitchFamily="34" charset="0"/>
                <a:cs typeface="Arial" panose="020B0604020202020204" pitchFamily="34" charset="0"/>
              </a:rPr>
              <a:t> (o </a:t>
            </a:r>
            <a:r>
              <a:rPr lang="en-US" sz="1400" err="1">
                <a:latin typeface="Arial" panose="020B0604020202020204" pitchFamily="34" charset="0"/>
                <a:cs typeface="Arial" panose="020B0604020202020204" pitchFamily="34" charset="0"/>
              </a:rPr>
              <a:t>mínimos</a:t>
            </a:r>
            <a:r>
              <a:rPr lang="en-US" sz="1400">
                <a:latin typeface="Arial" panose="020B0604020202020204" pitchFamily="34" charset="0"/>
                <a:cs typeface="Arial" panose="020B0604020202020204" pitchFamily="34" charset="0"/>
              </a:rPr>
              <a:t>) consecutives. </a:t>
            </a:r>
            <a:r>
              <a:rPr lang="en-US" sz="1400" err="1">
                <a:latin typeface="Arial" panose="020B0604020202020204" pitchFamily="34" charset="0"/>
                <a:cs typeface="Arial" panose="020B0604020202020204" pitchFamily="34" charset="0"/>
              </a:rPr>
              <a:t>Viene</a:t>
            </a:r>
            <a:r>
              <a:rPr lang="en-US" sz="1400">
                <a:latin typeface="Arial" panose="020B0604020202020204" pitchFamily="34" charset="0"/>
                <a:cs typeface="Arial" panose="020B0604020202020204" pitchFamily="34" charset="0"/>
              </a:rPr>
              <a:t> </a:t>
            </a:r>
            <a:r>
              <a:rPr lang="en-US" sz="1400" err="1">
                <a:latin typeface="Arial" panose="020B0604020202020204" pitchFamily="34" charset="0"/>
                <a:cs typeface="Arial" panose="020B0604020202020204" pitchFamily="34" charset="0"/>
              </a:rPr>
              <a:t>determinado</a:t>
            </a:r>
            <a:r>
              <a:rPr lang="en-US" sz="1400">
                <a:latin typeface="Arial" panose="020B0604020202020204" pitchFamily="34" charset="0"/>
                <a:cs typeface="Arial" panose="020B0604020202020204" pitchFamily="34" charset="0"/>
              </a:rPr>
              <a:t> </a:t>
            </a:r>
            <a:r>
              <a:rPr lang="en-US" sz="1400" err="1">
                <a:latin typeface="Arial" panose="020B0604020202020204" pitchFamily="34" charset="0"/>
                <a:cs typeface="Arial" panose="020B0604020202020204" pitchFamily="34" charset="0"/>
              </a:rPr>
              <a:t>por</a:t>
            </a:r>
            <a:r>
              <a:rPr lang="en-US" sz="1400">
                <a:latin typeface="Arial" panose="020B0604020202020204" pitchFamily="34" charset="0"/>
                <a:cs typeface="Arial" panose="020B0604020202020204" pitchFamily="34" charset="0"/>
              </a:rPr>
              <a:t> la </a:t>
            </a:r>
            <a:r>
              <a:rPr lang="en-US" sz="1400" err="1">
                <a:latin typeface="Arial" panose="020B0604020202020204" pitchFamily="34" charset="0"/>
                <a:cs typeface="Arial" panose="020B0604020202020204" pitchFamily="34" charset="0"/>
              </a:rPr>
              <a:t>condición</a:t>
            </a:r>
            <a:r>
              <a:rPr lang="en-US" sz="1400">
                <a:latin typeface="Arial" panose="020B0604020202020204" pitchFamily="34" charset="0"/>
                <a:cs typeface="Arial" panose="020B0604020202020204" pitchFamily="34" charset="0"/>
              </a:rPr>
              <a:t> de </a:t>
            </a:r>
            <a:r>
              <a:rPr lang="en-US" sz="1400" err="1">
                <a:latin typeface="Arial" panose="020B0604020202020204" pitchFamily="34" charset="0"/>
                <a:cs typeface="Arial" panose="020B0604020202020204" pitchFamily="34" charset="0"/>
              </a:rPr>
              <a:t>que</a:t>
            </a:r>
            <a:r>
              <a:rPr lang="en-US" sz="1400">
                <a:latin typeface="Arial" panose="020B0604020202020204" pitchFamily="34" charset="0"/>
                <a:cs typeface="Arial" panose="020B0604020202020204" pitchFamily="34" charset="0"/>
              </a:rPr>
              <a:t> la </a:t>
            </a:r>
            <a:r>
              <a:rPr lang="en-US" sz="1400" err="1">
                <a:latin typeface="Arial" panose="020B0604020202020204" pitchFamily="34" charset="0"/>
                <a:cs typeface="Arial" panose="020B0604020202020204" pitchFamily="34" charset="0"/>
              </a:rPr>
              <a:t>diferencia</a:t>
            </a:r>
            <a:r>
              <a:rPr lang="en-US" sz="1400">
                <a:latin typeface="Arial" panose="020B0604020202020204" pitchFamily="34" charset="0"/>
                <a:cs typeface="Arial" panose="020B0604020202020204" pitchFamily="34" charset="0"/>
              </a:rPr>
              <a:t> de </a:t>
            </a:r>
            <a:r>
              <a:rPr lang="en-US" sz="1400" err="1">
                <a:latin typeface="Arial" panose="020B0604020202020204" pitchFamily="34" charset="0"/>
                <a:cs typeface="Arial" panose="020B0604020202020204" pitchFamily="34" charset="0"/>
              </a:rPr>
              <a:t>fase</a:t>
            </a:r>
            <a:r>
              <a:rPr lang="en-US" sz="1400">
                <a:latin typeface="Arial" panose="020B0604020202020204" pitchFamily="34" charset="0"/>
                <a:cs typeface="Arial" panose="020B0604020202020204" pitchFamily="34" charset="0"/>
              </a:rPr>
              <a:t> </a:t>
            </a:r>
            <a:r>
              <a:rPr lang="en-US" sz="1400" err="1">
                <a:latin typeface="Arial" panose="020B0604020202020204" pitchFamily="34" charset="0"/>
                <a:cs typeface="Arial" panose="020B0604020202020204" pitchFamily="34" charset="0"/>
              </a:rPr>
              <a:t>óptica</a:t>
            </a:r>
            <a:r>
              <a:rPr lang="en-US" sz="1400">
                <a:latin typeface="Arial" panose="020B0604020202020204" pitchFamily="34" charset="0"/>
                <a:cs typeface="Arial" panose="020B0604020202020204" pitchFamily="34" charset="0"/>
              </a:rPr>
              <a:t> entre </a:t>
            </a:r>
            <a:r>
              <a:rPr lang="en-US" sz="1400" err="1">
                <a:latin typeface="Arial" panose="020B0604020202020204" pitchFamily="34" charset="0"/>
                <a:cs typeface="Arial" panose="020B0604020202020204" pitchFamily="34" charset="0"/>
              </a:rPr>
              <a:t>los</a:t>
            </a:r>
            <a:r>
              <a:rPr lang="en-US" sz="1400">
                <a:latin typeface="Arial" panose="020B0604020202020204" pitchFamily="34" charset="0"/>
                <a:cs typeface="Arial" panose="020B0604020202020204" pitchFamily="34" charset="0"/>
              </a:rPr>
              <a:t> dos </a:t>
            </a:r>
            <a:r>
              <a:rPr lang="en-US" sz="1400" err="1">
                <a:latin typeface="Arial" panose="020B0604020202020204" pitchFamily="34" charset="0"/>
                <a:cs typeface="Arial" panose="020B0604020202020204" pitchFamily="34" charset="0"/>
              </a:rPr>
              <a:t>brazos</a:t>
            </a:r>
            <a:r>
              <a:rPr lang="en-US" sz="1400">
                <a:latin typeface="Arial" panose="020B0604020202020204" pitchFamily="34" charset="0"/>
                <a:cs typeface="Arial" panose="020B0604020202020204" pitchFamily="34" charset="0"/>
              </a:rPr>
              <a:t> </a:t>
            </a:r>
            <a:r>
              <a:rPr lang="en-US" sz="1400" err="1">
                <a:latin typeface="Arial" panose="020B0604020202020204" pitchFamily="34" charset="0"/>
                <a:cs typeface="Arial" panose="020B0604020202020204" pitchFamily="34" charset="0"/>
              </a:rPr>
              <a:t>cambie</a:t>
            </a:r>
            <a:r>
              <a:rPr lang="en-US" sz="1400">
                <a:latin typeface="Arial" panose="020B0604020202020204" pitchFamily="34" charset="0"/>
                <a:cs typeface="Arial" panose="020B0604020202020204" pitchFamily="34" charset="0"/>
              </a:rPr>
              <a:t> en 2pi al </a:t>
            </a:r>
            <a:r>
              <a:rPr lang="en-US" sz="1400" err="1">
                <a:latin typeface="Arial" panose="020B0604020202020204" pitchFamily="34" charset="0"/>
                <a:cs typeface="Arial" panose="020B0604020202020204" pitchFamily="34" charset="0"/>
              </a:rPr>
              <a:t>variar</a:t>
            </a:r>
            <a:r>
              <a:rPr lang="en-US" sz="1400">
                <a:latin typeface="Arial" panose="020B0604020202020204" pitchFamily="34" charset="0"/>
                <a:cs typeface="Arial" panose="020B0604020202020204" pitchFamily="34" charset="0"/>
              </a:rPr>
              <a:t> la </a:t>
            </a:r>
            <a:r>
              <a:rPr lang="en-US" sz="1400" err="1">
                <a:latin typeface="Arial" panose="020B0604020202020204" pitchFamily="34" charset="0"/>
                <a:cs typeface="Arial" panose="020B0604020202020204" pitchFamily="34" charset="0"/>
              </a:rPr>
              <a:t>longitud</a:t>
            </a:r>
            <a:r>
              <a:rPr lang="en-US" sz="1400">
                <a:latin typeface="Arial" panose="020B0604020202020204" pitchFamily="34" charset="0"/>
                <a:cs typeface="Arial" panose="020B0604020202020204" pitchFamily="34" charset="0"/>
              </a:rPr>
              <a:t> de </a:t>
            </a:r>
            <a:r>
              <a:rPr lang="en-US" sz="1400" err="1">
                <a:latin typeface="Arial" panose="020B0604020202020204" pitchFamily="34" charset="0"/>
                <a:cs typeface="Arial" panose="020B0604020202020204" pitchFamily="34" charset="0"/>
              </a:rPr>
              <a:t>onda</a:t>
            </a:r>
            <a:r>
              <a:rPr lang="en-US" sz="1400">
                <a:latin typeface="Arial" panose="020B0604020202020204" pitchFamily="34" charset="0"/>
                <a:cs typeface="Arial" panose="020B0604020202020204" pitchFamily="34" charset="0"/>
              </a:rPr>
              <a:t>. La </a:t>
            </a:r>
            <a:r>
              <a:rPr lang="en-US" sz="1400" err="1">
                <a:latin typeface="Arial" panose="020B0604020202020204" pitchFamily="34" charset="0"/>
                <a:cs typeface="Arial" panose="020B0604020202020204" pitchFamily="34" charset="0"/>
              </a:rPr>
              <a:t>relación</a:t>
            </a:r>
            <a:r>
              <a:rPr lang="en-US" sz="1400">
                <a:latin typeface="Arial" panose="020B0604020202020204" pitchFamily="34" charset="0"/>
                <a:cs typeface="Arial" panose="020B0604020202020204" pitchFamily="34" charset="0"/>
              </a:rPr>
              <a:t> del FSR es </a:t>
            </a:r>
            <a:r>
              <a:rPr lang="en-US" sz="1400" err="1">
                <a:latin typeface="Arial" panose="020B0604020202020204" pitchFamily="34" charset="0"/>
                <a:cs typeface="Arial" panose="020B0604020202020204" pitchFamily="34" charset="0"/>
              </a:rPr>
              <a:t>inversamente</a:t>
            </a:r>
            <a:r>
              <a:rPr lang="en-US" sz="1400">
                <a:latin typeface="Arial" panose="020B0604020202020204" pitchFamily="34" charset="0"/>
                <a:cs typeface="Arial" panose="020B0604020202020204" pitchFamily="34" charset="0"/>
              </a:rPr>
              <a:t> </a:t>
            </a:r>
            <a:r>
              <a:rPr lang="en-US" sz="1400" err="1">
                <a:latin typeface="Arial" panose="020B0604020202020204" pitchFamily="34" charset="0"/>
                <a:cs typeface="Arial" panose="020B0604020202020204" pitchFamily="34" charset="0"/>
              </a:rPr>
              <a:t>proporcional</a:t>
            </a:r>
            <a:r>
              <a:rPr lang="en-US" sz="1400">
                <a:latin typeface="Arial" panose="020B0604020202020204" pitchFamily="34" charset="0"/>
                <a:cs typeface="Arial" panose="020B0604020202020204" pitchFamily="34" charset="0"/>
              </a:rPr>
              <a:t> a dL, </a:t>
            </a:r>
            <a:r>
              <a:rPr lang="en-US" sz="1400" err="1">
                <a:latin typeface="Arial" panose="020B0604020202020204" pitchFamily="34" charset="0"/>
                <a:cs typeface="Arial" panose="020B0604020202020204" pitchFamily="34" charset="0"/>
              </a:rPr>
              <a:t>ya</a:t>
            </a:r>
            <a:r>
              <a:rPr lang="en-US" sz="1400">
                <a:latin typeface="Arial" panose="020B0604020202020204" pitchFamily="34" charset="0"/>
                <a:cs typeface="Arial" panose="020B0604020202020204" pitchFamily="34" charset="0"/>
              </a:rPr>
              <a:t> </a:t>
            </a:r>
            <a:r>
              <a:rPr lang="en-US" sz="1400" err="1">
                <a:latin typeface="Arial" panose="020B0604020202020204" pitchFamily="34" charset="0"/>
                <a:cs typeface="Arial" panose="020B0604020202020204" pitchFamily="34" charset="0"/>
              </a:rPr>
              <a:t>que</a:t>
            </a:r>
            <a:r>
              <a:rPr lang="en-US" sz="1400">
                <a:latin typeface="Arial" panose="020B0604020202020204" pitchFamily="34" charset="0"/>
                <a:cs typeface="Arial" panose="020B0604020202020204" pitchFamily="34" charset="0"/>
              </a:rPr>
              <a:t> </a:t>
            </a:r>
            <a:r>
              <a:rPr lang="en-US" sz="1400" err="1">
                <a:latin typeface="Arial" panose="020B0604020202020204" pitchFamily="34" charset="0"/>
                <a:cs typeface="Arial" panose="020B0604020202020204" pitchFamily="34" charset="0"/>
              </a:rPr>
              <a:t>cuanto</a:t>
            </a:r>
            <a:r>
              <a:rPr lang="en-US" sz="1400">
                <a:latin typeface="Arial" panose="020B0604020202020204" pitchFamily="34" charset="0"/>
                <a:cs typeface="Arial" panose="020B0604020202020204" pitchFamily="34" charset="0"/>
              </a:rPr>
              <a:t> mayor es </a:t>
            </a:r>
            <a:r>
              <a:rPr lang="en-US" sz="1400" err="1">
                <a:latin typeface="Arial" panose="020B0604020202020204" pitchFamily="34" charset="0"/>
                <a:cs typeface="Arial" panose="020B0604020202020204" pitchFamily="34" charset="0"/>
              </a:rPr>
              <a:t>el</a:t>
            </a:r>
            <a:r>
              <a:rPr lang="en-US" sz="1400">
                <a:latin typeface="Arial" panose="020B0604020202020204" pitchFamily="34" charset="0"/>
                <a:cs typeface="Arial" panose="020B0604020202020204" pitchFamily="34" charset="0"/>
              </a:rPr>
              <a:t> </a:t>
            </a:r>
            <a:r>
              <a:rPr lang="en-US" sz="1400" err="1">
                <a:latin typeface="Arial" panose="020B0604020202020204" pitchFamily="34" charset="0"/>
                <a:cs typeface="Arial" panose="020B0604020202020204" pitchFamily="34" charset="0"/>
              </a:rPr>
              <a:t>desequilibrio</a:t>
            </a:r>
            <a:r>
              <a:rPr lang="en-US" sz="1400">
                <a:latin typeface="Arial" panose="020B0604020202020204" pitchFamily="34" charset="0"/>
                <a:cs typeface="Arial" panose="020B0604020202020204" pitchFamily="34" charset="0"/>
              </a:rPr>
              <a:t> entre </a:t>
            </a:r>
            <a:r>
              <a:rPr lang="en-US" sz="1400" err="1">
                <a:latin typeface="Arial" panose="020B0604020202020204" pitchFamily="34" charset="0"/>
                <a:cs typeface="Arial" panose="020B0604020202020204" pitchFamily="34" charset="0"/>
              </a:rPr>
              <a:t>brazos</a:t>
            </a:r>
            <a:r>
              <a:rPr lang="en-US" sz="1400">
                <a:latin typeface="Arial" panose="020B0604020202020204" pitchFamily="34" charset="0"/>
                <a:cs typeface="Arial" panose="020B0604020202020204" pitchFamily="34" charset="0"/>
              </a:rPr>
              <a:t>, </a:t>
            </a:r>
            <a:r>
              <a:rPr lang="en-US" sz="1400" err="1">
                <a:latin typeface="Arial" panose="020B0604020202020204" pitchFamily="34" charset="0"/>
                <a:cs typeface="Arial" panose="020B0604020202020204" pitchFamily="34" charset="0"/>
              </a:rPr>
              <a:t>más</a:t>
            </a:r>
            <a:r>
              <a:rPr lang="en-US" sz="1400">
                <a:latin typeface="Arial" panose="020B0604020202020204" pitchFamily="34" charset="0"/>
                <a:cs typeface="Arial" panose="020B0604020202020204" pitchFamily="34" charset="0"/>
              </a:rPr>
              <a:t> </a:t>
            </a:r>
            <a:r>
              <a:rPr lang="en-US" sz="1400" err="1">
                <a:latin typeface="Arial" panose="020B0604020202020204" pitchFamily="34" charset="0"/>
                <a:cs typeface="Arial" panose="020B0604020202020204" pitchFamily="34" charset="0"/>
              </a:rPr>
              <a:t>estrecho</a:t>
            </a:r>
            <a:r>
              <a:rPr lang="en-US" sz="1400">
                <a:latin typeface="Arial" panose="020B0604020202020204" pitchFamily="34" charset="0"/>
                <a:cs typeface="Arial" panose="020B0604020202020204" pitchFamily="34" charset="0"/>
              </a:rPr>
              <a:t> es </a:t>
            </a:r>
            <a:r>
              <a:rPr lang="en-US" sz="1400" err="1">
                <a:latin typeface="Arial" panose="020B0604020202020204" pitchFamily="34" charset="0"/>
                <a:cs typeface="Arial" panose="020B0604020202020204" pitchFamily="34" charset="0"/>
              </a:rPr>
              <a:t>el</a:t>
            </a:r>
            <a:r>
              <a:rPr lang="en-US" sz="1400">
                <a:latin typeface="Arial" panose="020B0604020202020204" pitchFamily="34" charset="0"/>
                <a:cs typeface="Arial" panose="020B0604020202020204" pitchFamily="34" charset="0"/>
              </a:rPr>
              <a:t> FSR y </a:t>
            </a:r>
            <a:r>
              <a:rPr lang="en-US" sz="1400" err="1">
                <a:latin typeface="Arial" panose="020B0604020202020204" pitchFamily="34" charset="0"/>
                <a:cs typeface="Arial" panose="020B0604020202020204" pitchFamily="34" charset="0"/>
              </a:rPr>
              <a:t>más</a:t>
            </a:r>
            <a:r>
              <a:rPr lang="en-US" sz="1400">
                <a:latin typeface="Arial" panose="020B0604020202020204" pitchFamily="34" charset="0"/>
                <a:cs typeface="Arial" panose="020B0604020202020204" pitchFamily="34" charset="0"/>
              </a:rPr>
              <a:t> </a:t>
            </a:r>
            <a:r>
              <a:rPr lang="en-US" sz="1400" err="1">
                <a:latin typeface="Arial" panose="020B0604020202020204" pitchFamily="34" charset="0"/>
                <a:cs typeface="Arial" panose="020B0604020202020204" pitchFamily="34" charset="0"/>
              </a:rPr>
              <a:t>oscilaciones</a:t>
            </a:r>
            <a:r>
              <a:rPr lang="en-US" sz="1400">
                <a:latin typeface="Arial" panose="020B0604020202020204" pitchFamily="34" charset="0"/>
                <a:cs typeface="Arial" panose="020B0604020202020204" pitchFamily="34" charset="0"/>
              </a:rPr>
              <a:t> </a:t>
            </a:r>
            <a:r>
              <a:rPr lang="en-US" sz="1400" err="1">
                <a:latin typeface="Arial" panose="020B0604020202020204" pitchFamily="34" charset="0"/>
                <a:cs typeface="Arial" panose="020B0604020202020204" pitchFamily="34" charset="0"/>
              </a:rPr>
              <a:t>caben</a:t>
            </a:r>
            <a:r>
              <a:rPr lang="en-US" sz="1400">
                <a:latin typeface="Arial" panose="020B0604020202020204" pitchFamily="34" charset="0"/>
                <a:cs typeface="Arial" panose="020B0604020202020204" pitchFamily="34" charset="0"/>
              </a:rPr>
              <a:t> en la </a:t>
            </a:r>
            <a:r>
              <a:rPr lang="en-US" sz="1400" err="1">
                <a:latin typeface="Arial" panose="020B0604020202020204" pitchFamily="34" charset="0"/>
                <a:cs typeface="Arial" panose="020B0604020202020204" pitchFamily="34" charset="0"/>
              </a:rPr>
              <a:t>misma</a:t>
            </a:r>
            <a:r>
              <a:rPr lang="en-US" sz="1400">
                <a:latin typeface="Arial" panose="020B0604020202020204" pitchFamily="34" charset="0"/>
                <a:cs typeface="Arial" panose="020B0604020202020204" pitchFamily="34" charset="0"/>
              </a:rPr>
              <a:t> </a:t>
            </a:r>
            <a:r>
              <a:rPr lang="en-US" sz="1400" err="1">
                <a:latin typeface="Arial" panose="020B0604020202020204" pitchFamily="34" charset="0"/>
                <a:cs typeface="Arial" panose="020B0604020202020204" pitchFamily="34" charset="0"/>
              </a:rPr>
              <a:t>ventana</a:t>
            </a:r>
            <a:r>
              <a:rPr lang="en-US" sz="1400">
                <a:latin typeface="Arial" panose="020B0604020202020204" pitchFamily="34" charset="0"/>
                <a:cs typeface="Arial" panose="020B0604020202020204" pitchFamily="34" charset="0"/>
              </a:rPr>
              <a:t> spectral.</a:t>
            </a:r>
          </a:p>
          <a:p>
            <a:pPr algn="just"/>
            <a:endParaRPr lang="en-US" sz="1400">
              <a:latin typeface="Arial" panose="020B0604020202020204" pitchFamily="34" charset="0"/>
              <a:cs typeface="Arial" panose="020B0604020202020204" pitchFamily="34" charset="0"/>
            </a:endParaRPr>
          </a:p>
          <a:p>
            <a:pPr algn="just"/>
            <a:r>
              <a:rPr lang="en-US" sz="1400" err="1">
                <a:latin typeface="Arial" panose="020B0604020202020204" pitchFamily="34" charset="0"/>
                <a:cs typeface="Arial" panose="020B0604020202020204" pitchFamily="34" charset="0"/>
              </a:rPr>
              <a:t>Visualmente</a:t>
            </a:r>
            <a:r>
              <a:rPr lang="en-US" sz="1400">
                <a:latin typeface="Arial" panose="020B0604020202020204" pitchFamily="34" charset="0"/>
                <a:cs typeface="Arial" panose="020B0604020202020204" pitchFamily="34" charset="0"/>
              </a:rPr>
              <a:t>, se </a:t>
            </a:r>
            <a:r>
              <a:rPr lang="en-US" sz="1400" err="1">
                <a:latin typeface="Arial" panose="020B0604020202020204" pitchFamily="34" charset="0"/>
                <a:cs typeface="Arial" panose="020B0604020202020204" pitchFamily="34" charset="0"/>
              </a:rPr>
              <a:t>observa</a:t>
            </a:r>
            <a:r>
              <a:rPr lang="en-US" sz="1400">
                <a:latin typeface="Arial" panose="020B0604020202020204" pitchFamily="34" charset="0"/>
                <a:cs typeface="Arial" panose="020B0604020202020204" pitchFamily="34" charset="0"/>
              </a:rPr>
              <a:t> </a:t>
            </a:r>
            <a:r>
              <a:rPr lang="en-US" sz="1400" err="1">
                <a:latin typeface="Arial" panose="020B0604020202020204" pitchFamily="34" charset="0"/>
                <a:cs typeface="Arial" panose="020B0604020202020204" pitchFamily="34" charset="0"/>
              </a:rPr>
              <a:t>que</a:t>
            </a:r>
            <a:r>
              <a:rPr lang="en-US" sz="1400">
                <a:latin typeface="Arial" panose="020B0604020202020204" pitchFamily="34" charset="0"/>
                <a:cs typeface="Arial" panose="020B0604020202020204" pitchFamily="34" charset="0"/>
              </a:rPr>
              <a:t> en un </a:t>
            </a:r>
            <a:r>
              <a:rPr lang="en-US" sz="1400" err="1">
                <a:latin typeface="Arial" panose="020B0604020202020204" pitchFamily="34" charset="0"/>
                <a:cs typeface="Arial" panose="020B0604020202020204" pitchFamily="34" charset="0"/>
              </a:rPr>
              <a:t>rango</a:t>
            </a:r>
            <a:r>
              <a:rPr lang="en-US" sz="1400">
                <a:latin typeface="Arial" panose="020B0604020202020204" pitchFamily="34" charset="0"/>
                <a:cs typeface="Arial" panose="020B0604020202020204" pitchFamily="34" charset="0"/>
              </a:rPr>
              <a:t> de 100nm (de 1500 a 1600 nm), se </a:t>
            </a:r>
            <a:r>
              <a:rPr lang="en-US" sz="1400" err="1">
                <a:latin typeface="Arial" panose="020B0604020202020204" pitchFamily="34" charset="0"/>
                <a:cs typeface="Arial" panose="020B0604020202020204" pitchFamily="34" charset="0"/>
              </a:rPr>
              <a:t>observan</a:t>
            </a:r>
            <a:r>
              <a:rPr lang="en-US" sz="1400">
                <a:latin typeface="Arial" panose="020B0604020202020204" pitchFamily="34" charset="0"/>
                <a:cs typeface="Arial" panose="020B0604020202020204" pitchFamily="34" charset="0"/>
              </a:rPr>
              <a:t> entre 8 y 9 </a:t>
            </a:r>
            <a:r>
              <a:rPr lang="en-US" sz="1400" err="1">
                <a:latin typeface="Arial" panose="020B0604020202020204" pitchFamily="34" charset="0"/>
                <a:cs typeface="Arial" panose="020B0604020202020204" pitchFamily="34" charset="0"/>
              </a:rPr>
              <a:t>periodos</a:t>
            </a:r>
            <a:r>
              <a:rPr lang="en-US" sz="1400">
                <a:latin typeface="Arial" panose="020B0604020202020204" pitchFamily="34" charset="0"/>
                <a:cs typeface="Arial" panose="020B0604020202020204" pitchFamily="34" charset="0"/>
              </a:rPr>
              <a:t> </a:t>
            </a:r>
            <a:r>
              <a:rPr lang="en-US" sz="1400" err="1">
                <a:latin typeface="Arial" panose="020B0604020202020204" pitchFamily="34" charset="0"/>
                <a:cs typeface="Arial" panose="020B0604020202020204" pitchFamily="34" charset="0"/>
              </a:rPr>
              <a:t>completos</a:t>
            </a:r>
            <a:r>
              <a:rPr lang="en-US" sz="1400">
                <a:latin typeface="Arial" panose="020B0604020202020204" pitchFamily="34" charset="0"/>
                <a:cs typeface="Arial" panose="020B0604020202020204" pitchFamily="34" charset="0"/>
              </a:rPr>
              <a:t>. FSR = 100nm/8.5 ≈ 12 nm. </a:t>
            </a:r>
          </a:p>
        </p:txBody>
      </p:sp>
      <p:pic>
        <p:nvPicPr>
          <p:cNvPr id="14" name="Picture 13">
            <a:extLst>
              <a:ext uri="{FF2B5EF4-FFF2-40B4-BE49-F238E27FC236}">
                <a16:creationId xmlns:a16="http://schemas.microsoft.com/office/drawing/2014/main" id="{F7F80442-0CB9-F99F-9281-EFB290F93971}"/>
              </a:ext>
            </a:extLst>
          </p:cNvPr>
          <p:cNvPicPr>
            <a:picLocks noChangeAspect="1"/>
          </p:cNvPicPr>
          <p:nvPr/>
        </p:nvPicPr>
        <p:blipFill>
          <a:blip r:embed="rId5"/>
          <a:stretch>
            <a:fillRect/>
          </a:stretch>
        </p:blipFill>
        <p:spPr>
          <a:xfrm>
            <a:off x="4951892" y="4000126"/>
            <a:ext cx="1730874" cy="538857"/>
          </a:xfrm>
          <a:prstGeom prst="rect">
            <a:avLst/>
          </a:prstGeom>
          <a:ln w="57150">
            <a:solidFill>
              <a:srgbClr val="00B0F0"/>
            </a:solidFill>
          </a:ln>
        </p:spPr>
      </p:pic>
      <p:cxnSp>
        <p:nvCxnSpPr>
          <p:cNvPr id="17" name="Straight Arrow Connector 16">
            <a:extLst>
              <a:ext uri="{FF2B5EF4-FFF2-40B4-BE49-F238E27FC236}">
                <a16:creationId xmlns:a16="http://schemas.microsoft.com/office/drawing/2014/main" id="{F5680390-396B-7060-6818-411C17FFEFD8}"/>
              </a:ext>
            </a:extLst>
          </p:cNvPr>
          <p:cNvCxnSpPr>
            <a:cxnSpLocks/>
          </p:cNvCxnSpPr>
          <p:nvPr/>
        </p:nvCxnSpPr>
        <p:spPr>
          <a:xfrm>
            <a:off x="6109625" y="4583107"/>
            <a:ext cx="0" cy="293693"/>
          </a:xfrm>
          <a:prstGeom prst="straightConnector1">
            <a:avLst/>
          </a:prstGeom>
          <a:ln w="57150">
            <a:solidFill>
              <a:srgbClr val="00B0F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39518033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Marcador de pie de página 4">
            <a:extLst>
              <a:ext uri="{FF2B5EF4-FFF2-40B4-BE49-F238E27FC236}">
                <a16:creationId xmlns:a16="http://schemas.microsoft.com/office/drawing/2014/main" id="{F929251A-3DC4-36B2-3FB3-341378364BED}"/>
              </a:ext>
            </a:extLst>
          </p:cNvPr>
          <p:cNvSpPr>
            <a:spLocks noGrp="1"/>
          </p:cNvSpPr>
          <p:nvPr>
            <p:ph type="ftr" sz="quarter" idx="5"/>
          </p:nvPr>
        </p:nvSpPr>
        <p:spPr/>
        <p:txBody>
          <a:bodyPr/>
          <a:lstStyle/>
          <a:p>
            <a:r>
              <a:rPr lang="en-US"/>
              <a:t>LAB 3.0. CIRCUITS &amp; COMPACT MODELS</a:t>
            </a:r>
          </a:p>
        </p:txBody>
      </p:sp>
      <p:sp>
        <p:nvSpPr>
          <p:cNvPr id="6" name="Marcador de número de diapositiva 5">
            <a:extLst>
              <a:ext uri="{FF2B5EF4-FFF2-40B4-BE49-F238E27FC236}">
                <a16:creationId xmlns:a16="http://schemas.microsoft.com/office/drawing/2014/main" id="{8E91A34C-DF76-97CF-3EFD-546BC64A2184}"/>
              </a:ext>
            </a:extLst>
          </p:cNvPr>
          <p:cNvSpPr>
            <a:spLocks noGrp="1"/>
          </p:cNvSpPr>
          <p:nvPr>
            <p:ph type="sldNum" sz="quarter" idx="7"/>
          </p:nvPr>
        </p:nvSpPr>
        <p:spPr/>
        <p:txBody>
          <a:bodyPr/>
          <a:lstStyle/>
          <a:p>
            <a:fld id="{C2F52289-4012-4053-9770-FE82CEB9514F}" type="slidenum">
              <a:rPr lang="en-US" smtClean="0"/>
              <a:pPr/>
              <a:t>4</a:t>
            </a:fld>
            <a:endParaRPr lang="en-US"/>
          </a:p>
        </p:txBody>
      </p:sp>
      <p:sp>
        <p:nvSpPr>
          <p:cNvPr id="8" name="CuadroTexto 7">
            <a:extLst>
              <a:ext uri="{FF2B5EF4-FFF2-40B4-BE49-F238E27FC236}">
                <a16:creationId xmlns:a16="http://schemas.microsoft.com/office/drawing/2014/main" id="{D9601617-351E-AE1A-1F4D-693F2EA59361}"/>
              </a:ext>
            </a:extLst>
          </p:cNvPr>
          <p:cNvSpPr txBox="1"/>
          <p:nvPr/>
        </p:nvSpPr>
        <p:spPr>
          <a:xfrm>
            <a:off x="232481" y="4860335"/>
            <a:ext cx="11578078" cy="1384995"/>
          </a:xfrm>
          <a:prstGeom prst="rect">
            <a:avLst/>
          </a:prstGeom>
          <a:solidFill>
            <a:schemeClr val="bg1">
              <a:lumMod val="95000"/>
            </a:schemeClr>
          </a:solidFill>
          <a:ln w="28575">
            <a:solidFill>
              <a:srgbClr val="E0700D"/>
            </a:solidFill>
          </a:ln>
        </p:spPr>
        <p:txBody>
          <a:bodyPr wrap="square" rtlCol="0">
            <a:spAutoFit/>
          </a:bodyPr>
          <a:lstStyle/>
          <a:p>
            <a:pPr algn="just"/>
            <a:r>
              <a:rPr lang="en-US" sz="1400">
                <a:latin typeface="Arial" panose="020B0604020202020204" pitchFamily="34" charset="0"/>
                <a:cs typeface="Arial" panose="020B0604020202020204" pitchFamily="34" charset="0"/>
              </a:rPr>
              <a:t>El </a:t>
            </a:r>
            <a:r>
              <a:rPr lang="en-US" sz="1400" err="1">
                <a:latin typeface="Arial" panose="020B0604020202020204" pitchFamily="34" charset="0"/>
                <a:cs typeface="Arial" panose="020B0604020202020204" pitchFamily="34" charset="0"/>
              </a:rPr>
              <a:t>modelo</a:t>
            </a:r>
            <a:r>
              <a:rPr lang="en-US" sz="1400">
                <a:latin typeface="Arial" panose="020B0604020202020204" pitchFamily="34" charset="0"/>
                <a:cs typeface="Arial" panose="020B0604020202020204" pitchFamily="34" charset="0"/>
              </a:rPr>
              <a:t> reproduce </a:t>
            </a:r>
            <a:r>
              <a:rPr lang="en-US" sz="1400" err="1">
                <a:latin typeface="Arial" panose="020B0604020202020204" pitchFamily="34" charset="0"/>
                <a:cs typeface="Arial" panose="020B0604020202020204" pitchFamily="34" charset="0"/>
              </a:rPr>
              <a:t>correctamente</a:t>
            </a:r>
            <a:r>
              <a:rPr lang="en-US" sz="1400">
                <a:latin typeface="Arial" panose="020B0604020202020204" pitchFamily="34" charset="0"/>
                <a:cs typeface="Arial" panose="020B0604020202020204" pitchFamily="34" charset="0"/>
              </a:rPr>
              <a:t> </a:t>
            </a:r>
            <a:r>
              <a:rPr lang="en-US" sz="1400" err="1">
                <a:latin typeface="Arial" panose="020B0604020202020204" pitchFamily="34" charset="0"/>
                <a:cs typeface="Arial" panose="020B0604020202020204" pitchFamily="34" charset="0"/>
              </a:rPr>
              <a:t>el</a:t>
            </a:r>
            <a:r>
              <a:rPr lang="en-US" sz="1400">
                <a:latin typeface="Arial" panose="020B0604020202020204" pitchFamily="34" charset="0"/>
                <a:cs typeface="Arial" panose="020B0604020202020204" pitchFamily="34" charset="0"/>
              </a:rPr>
              <a:t> FSR de </a:t>
            </a:r>
            <a:r>
              <a:rPr lang="en-US" sz="1400" err="1">
                <a:latin typeface="Arial" panose="020B0604020202020204" pitchFamily="34" charset="0"/>
                <a:cs typeface="Arial" panose="020B0604020202020204" pitchFamily="34" charset="0"/>
              </a:rPr>
              <a:t>diseño</a:t>
            </a:r>
            <a:r>
              <a:rPr lang="en-US" sz="1400">
                <a:latin typeface="Arial" panose="020B0604020202020204" pitchFamily="34" charset="0"/>
                <a:cs typeface="Arial" panose="020B0604020202020204" pitchFamily="34" charset="0"/>
              </a:rPr>
              <a:t> de 2 nm con la </a:t>
            </a:r>
            <a:r>
              <a:rPr lang="en-US" sz="1400" err="1">
                <a:latin typeface="Arial" panose="020B0604020202020204" pitchFamily="34" charset="0"/>
                <a:cs typeface="Arial" panose="020B0604020202020204" pitchFamily="34" charset="0"/>
              </a:rPr>
              <a:t>deltaL</a:t>
            </a:r>
            <a:r>
              <a:rPr lang="en-US" sz="1400">
                <a:latin typeface="Arial" panose="020B0604020202020204" pitchFamily="34" charset="0"/>
                <a:cs typeface="Arial" panose="020B0604020202020204" pitchFamily="34" charset="0"/>
              </a:rPr>
              <a:t> </a:t>
            </a:r>
            <a:r>
              <a:rPr lang="en-US" sz="1400" err="1">
                <a:latin typeface="Arial" panose="020B0604020202020204" pitchFamily="34" charset="0"/>
                <a:cs typeface="Arial" panose="020B0604020202020204" pitchFamily="34" charset="0"/>
              </a:rPr>
              <a:t>calculada</a:t>
            </a:r>
            <a:r>
              <a:rPr lang="en-US" sz="1400">
                <a:latin typeface="Arial" panose="020B0604020202020204" pitchFamily="34" charset="0"/>
                <a:cs typeface="Arial" panose="020B0604020202020204" pitchFamily="34" charset="0"/>
              </a:rPr>
              <a:t>. La </a:t>
            </a:r>
            <a:r>
              <a:rPr lang="en-US" sz="1400" err="1">
                <a:latin typeface="Arial" panose="020B0604020202020204" pitchFamily="34" charset="0"/>
                <a:cs typeface="Arial" panose="020B0604020202020204" pitchFamily="34" charset="0"/>
              </a:rPr>
              <a:t>aparente</a:t>
            </a:r>
            <a:r>
              <a:rPr lang="en-US" sz="1400">
                <a:latin typeface="Arial" panose="020B0604020202020204" pitchFamily="34" charset="0"/>
                <a:cs typeface="Arial" panose="020B0604020202020204" pitchFamily="34" charset="0"/>
              </a:rPr>
              <a:t> </a:t>
            </a:r>
            <a:r>
              <a:rPr lang="en-US" sz="1400" err="1">
                <a:latin typeface="Arial" panose="020B0604020202020204" pitchFamily="34" charset="0"/>
                <a:cs typeface="Arial" panose="020B0604020202020204" pitchFamily="34" charset="0"/>
              </a:rPr>
              <a:t>irregularidad</a:t>
            </a:r>
            <a:r>
              <a:rPr lang="en-US" sz="1400">
                <a:latin typeface="Arial" panose="020B0604020202020204" pitchFamily="34" charset="0"/>
                <a:cs typeface="Arial" panose="020B0604020202020204" pitchFamily="34" charset="0"/>
              </a:rPr>
              <a:t> en la </a:t>
            </a:r>
            <a:r>
              <a:rPr lang="en-US" sz="1400" err="1">
                <a:latin typeface="Arial" panose="020B0604020202020204" pitchFamily="34" charset="0"/>
                <a:cs typeface="Arial" panose="020B0604020202020204" pitchFamily="34" charset="0"/>
              </a:rPr>
              <a:t>profundidad</a:t>
            </a:r>
            <a:r>
              <a:rPr lang="en-US" sz="1400">
                <a:latin typeface="Arial" panose="020B0604020202020204" pitchFamily="34" charset="0"/>
                <a:cs typeface="Arial" panose="020B0604020202020204" pitchFamily="34" charset="0"/>
              </a:rPr>
              <a:t> del </a:t>
            </a:r>
            <a:r>
              <a:rPr lang="en-US" sz="1400" err="1">
                <a:latin typeface="Arial" panose="020B0604020202020204" pitchFamily="34" charset="0"/>
                <a:cs typeface="Arial" panose="020B0604020202020204" pitchFamily="34" charset="0"/>
              </a:rPr>
              <a:t>los</a:t>
            </a:r>
            <a:r>
              <a:rPr lang="en-US" sz="1400">
                <a:latin typeface="Arial" panose="020B0604020202020204" pitchFamily="34" charset="0"/>
                <a:cs typeface="Arial" panose="020B0604020202020204" pitchFamily="34" charset="0"/>
              </a:rPr>
              <a:t> notches en la </a:t>
            </a:r>
            <a:r>
              <a:rPr lang="en-US" sz="1400" err="1">
                <a:latin typeface="Arial" panose="020B0604020202020204" pitchFamily="34" charset="0"/>
                <a:cs typeface="Arial" panose="020B0604020202020204" pitchFamily="34" charset="0"/>
              </a:rPr>
              <a:t>escala</a:t>
            </a:r>
            <a:r>
              <a:rPr lang="en-US" sz="1400">
                <a:latin typeface="Arial" panose="020B0604020202020204" pitchFamily="34" charset="0"/>
                <a:cs typeface="Arial" panose="020B0604020202020204" pitchFamily="34" charset="0"/>
              </a:rPr>
              <a:t> dB se </a:t>
            </a:r>
            <a:r>
              <a:rPr lang="en-US" sz="1400" err="1">
                <a:latin typeface="Arial" panose="020B0604020202020204" pitchFamily="34" charset="0"/>
                <a:cs typeface="Arial" panose="020B0604020202020204" pitchFamily="34" charset="0"/>
              </a:rPr>
              <a:t>debe</a:t>
            </a:r>
            <a:r>
              <a:rPr lang="en-US" sz="1400">
                <a:latin typeface="Arial" panose="020B0604020202020204" pitchFamily="34" charset="0"/>
                <a:cs typeface="Arial" panose="020B0604020202020204" pitchFamily="34" charset="0"/>
              </a:rPr>
              <a:t> a la </a:t>
            </a:r>
            <a:r>
              <a:rPr lang="en-US" sz="1400" err="1">
                <a:latin typeface="Arial" panose="020B0604020202020204" pitchFamily="34" charset="0"/>
                <a:cs typeface="Arial" panose="020B0604020202020204" pitchFamily="34" charset="0"/>
              </a:rPr>
              <a:t>resolución</a:t>
            </a:r>
            <a:r>
              <a:rPr lang="en-US" sz="1400">
                <a:latin typeface="Arial" panose="020B0604020202020204" pitchFamily="34" charset="0"/>
                <a:cs typeface="Arial" panose="020B0604020202020204" pitchFamily="34" charset="0"/>
              </a:rPr>
              <a:t> en </a:t>
            </a:r>
            <a:r>
              <a:rPr lang="en-US" sz="1400" err="1">
                <a:latin typeface="Arial" panose="020B0604020202020204" pitchFamily="34" charset="0"/>
                <a:cs typeface="Arial" panose="020B0604020202020204" pitchFamily="34" charset="0"/>
              </a:rPr>
              <a:t>el</a:t>
            </a:r>
            <a:r>
              <a:rPr lang="en-US" sz="1400">
                <a:latin typeface="Arial" panose="020B0604020202020204" pitchFamily="34" charset="0"/>
                <a:cs typeface="Arial" panose="020B0604020202020204" pitchFamily="34" charset="0"/>
              </a:rPr>
              <a:t> </a:t>
            </a:r>
            <a:r>
              <a:rPr lang="en-US" sz="1400" err="1">
                <a:latin typeface="Arial" panose="020B0604020202020204" pitchFamily="34" charset="0"/>
                <a:cs typeface="Arial" panose="020B0604020202020204" pitchFamily="34" charset="0"/>
              </a:rPr>
              <a:t>barrido</a:t>
            </a:r>
            <a:r>
              <a:rPr lang="en-US" sz="1400">
                <a:latin typeface="Arial" panose="020B0604020202020204" pitchFamily="34" charset="0"/>
                <a:cs typeface="Arial" panose="020B0604020202020204" pitchFamily="34" charset="0"/>
              </a:rPr>
              <a:t> </a:t>
            </a:r>
            <a:r>
              <a:rPr lang="en-US" sz="1400" err="1">
                <a:latin typeface="Arial" panose="020B0604020202020204" pitchFamily="34" charset="0"/>
                <a:cs typeface="Arial" panose="020B0604020202020204" pitchFamily="34" charset="0"/>
              </a:rPr>
              <a:t>espectral</a:t>
            </a:r>
            <a:r>
              <a:rPr lang="en-US" sz="1400">
                <a:latin typeface="Arial" panose="020B0604020202020204" pitchFamily="34" charset="0"/>
                <a:cs typeface="Arial" panose="020B0604020202020204" pitchFamily="34" charset="0"/>
              </a:rPr>
              <a:t>. El MZI </a:t>
            </a:r>
            <a:r>
              <a:rPr lang="en-US" sz="1400" err="1">
                <a:latin typeface="Arial" panose="020B0604020202020204" pitchFamily="34" charset="0"/>
                <a:cs typeface="Arial" panose="020B0604020202020204" pitchFamily="34" charset="0"/>
              </a:rPr>
              <a:t>simulado</a:t>
            </a:r>
            <a:r>
              <a:rPr lang="en-US" sz="1400">
                <a:latin typeface="Arial" panose="020B0604020202020204" pitchFamily="34" charset="0"/>
                <a:cs typeface="Arial" panose="020B0604020202020204" pitchFamily="34" charset="0"/>
              </a:rPr>
              <a:t> </a:t>
            </a:r>
            <a:r>
              <a:rPr lang="en-US" sz="1400" err="1">
                <a:latin typeface="Arial" panose="020B0604020202020204" pitchFamily="34" charset="0"/>
                <a:cs typeface="Arial" panose="020B0604020202020204" pitchFamily="34" charset="0"/>
              </a:rPr>
              <a:t>sigue</a:t>
            </a:r>
            <a:r>
              <a:rPr lang="en-US" sz="1400">
                <a:latin typeface="Arial" panose="020B0604020202020204" pitchFamily="34" charset="0"/>
                <a:cs typeface="Arial" panose="020B0604020202020204" pitchFamily="34" charset="0"/>
              </a:rPr>
              <a:t> </a:t>
            </a:r>
            <a:r>
              <a:rPr lang="en-US" sz="1400" err="1">
                <a:latin typeface="Arial" panose="020B0604020202020204" pitchFamily="34" charset="0"/>
                <a:cs typeface="Arial" panose="020B0604020202020204" pitchFamily="34" charset="0"/>
              </a:rPr>
              <a:t>siendo</a:t>
            </a:r>
            <a:r>
              <a:rPr lang="en-US" sz="1400">
                <a:latin typeface="Arial" panose="020B0604020202020204" pitchFamily="34" charset="0"/>
                <a:cs typeface="Arial" panose="020B0604020202020204" pitchFamily="34" charset="0"/>
              </a:rPr>
              <a:t> ideal: lossless, con </a:t>
            </a:r>
            <a:r>
              <a:rPr lang="en-US" sz="1400" err="1">
                <a:latin typeface="Arial" panose="020B0604020202020204" pitchFamily="34" charset="0"/>
                <a:cs typeface="Arial" panose="020B0604020202020204" pitchFamily="34" charset="0"/>
              </a:rPr>
              <a:t>extinción</a:t>
            </a:r>
            <a:r>
              <a:rPr lang="en-US" sz="1400">
                <a:latin typeface="Arial" panose="020B0604020202020204" pitchFamily="34" charset="0"/>
                <a:cs typeface="Arial" panose="020B0604020202020204" pitchFamily="34" charset="0"/>
              </a:rPr>
              <a:t> </a:t>
            </a:r>
            <a:r>
              <a:rPr lang="en-US" sz="1400" err="1">
                <a:latin typeface="Arial" panose="020B0604020202020204" pitchFamily="34" charset="0"/>
                <a:cs typeface="Arial" panose="020B0604020202020204" pitchFamily="34" charset="0"/>
              </a:rPr>
              <a:t>teórica</a:t>
            </a:r>
            <a:r>
              <a:rPr lang="en-US" sz="1400">
                <a:latin typeface="Arial" panose="020B0604020202020204" pitchFamily="34" charset="0"/>
                <a:cs typeface="Arial" panose="020B0604020202020204" pitchFamily="34" charset="0"/>
              </a:rPr>
              <a:t> </a:t>
            </a:r>
            <a:r>
              <a:rPr lang="en-US" sz="1400" err="1">
                <a:latin typeface="Arial" panose="020B0604020202020204" pitchFamily="34" charset="0"/>
                <a:cs typeface="Arial" panose="020B0604020202020204" pitchFamily="34" charset="0"/>
              </a:rPr>
              <a:t>infinita</a:t>
            </a:r>
            <a:r>
              <a:rPr lang="en-US" sz="1400">
                <a:latin typeface="Arial" panose="020B0604020202020204" pitchFamily="34" charset="0"/>
                <a:cs typeface="Arial" panose="020B0604020202020204" pitchFamily="34" charset="0"/>
              </a:rPr>
              <a:t> en </a:t>
            </a:r>
            <a:r>
              <a:rPr lang="en-US" sz="1400" err="1">
                <a:latin typeface="Arial" panose="020B0604020202020204" pitchFamily="34" charset="0"/>
                <a:cs typeface="Arial" panose="020B0604020202020204" pitchFamily="34" charset="0"/>
              </a:rPr>
              <a:t>los</a:t>
            </a:r>
            <a:r>
              <a:rPr lang="en-US" sz="1400">
                <a:latin typeface="Arial" panose="020B0604020202020204" pitchFamily="34" charset="0"/>
                <a:cs typeface="Arial" panose="020B0604020202020204" pitchFamily="34" charset="0"/>
              </a:rPr>
              <a:t> </a:t>
            </a:r>
            <a:r>
              <a:rPr lang="en-US" sz="1400" err="1">
                <a:latin typeface="Arial" panose="020B0604020202020204" pitchFamily="34" charset="0"/>
                <a:cs typeface="Arial" panose="020B0604020202020204" pitchFamily="34" charset="0"/>
              </a:rPr>
              <a:t>mínimos</a:t>
            </a:r>
            <a:r>
              <a:rPr lang="en-US" sz="1400">
                <a:latin typeface="Arial" panose="020B0604020202020204" pitchFamily="34" charset="0"/>
                <a:cs typeface="Arial" panose="020B0604020202020204" pitchFamily="34" charset="0"/>
              </a:rPr>
              <a:t> y </a:t>
            </a:r>
            <a:r>
              <a:rPr lang="en-US" sz="1400" err="1">
                <a:latin typeface="Arial" panose="020B0604020202020204" pitchFamily="34" charset="0"/>
                <a:cs typeface="Arial" panose="020B0604020202020204" pitchFamily="34" charset="0"/>
              </a:rPr>
              <a:t>complementariedad</a:t>
            </a:r>
            <a:r>
              <a:rPr lang="en-US" sz="1400">
                <a:latin typeface="Arial" panose="020B0604020202020204" pitchFamily="34" charset="0"/>
                <a:cs typeface="Arial" panose="020B0604020202020204" pitchFamily="34" charset="0"/>
              </a:rPr>
              <a:t> entre H00 y H01. </a:t>
            </a:r>
            <a:r>
              <a:rPr lang="es-ES" sz="1400">
                <a:latin typeface="Arial" panose="020B0604020202020204" pitchFamily="34" charset="0"/>
                <a:cs typeface="Arial" panose="020B0604020202020204" pitchFamily="34" charset="0"/>
              </a:rPr>
              <a:t>Las curvas H00 y H01 muestran la respuesta periódica complementaria esperada, oscilando entre 0 y 1. Con FSR = 2 nm en una ventana de 100 nm (1500–1600 nm), el número esperado de periodos es N = 100nm/2nm = 50 periodos. Esto concuerda con la densidad de oscilaciones observada en la gráfica, donde las curvas aparecen muy juntas y casi forman una banda sólida visualmente.</a:t>
            </a:r>
            <a:endParaRPr lang="en-US" sz="1200">
              <a:latin typeface="Arial" panose="020B0604020202020204" pitchFamily="34" charset="0"/>
              <a:cs typeface="Arial" panose="020B0604020202020204" pitchFamily="34" charset="0"/>
            </a:endParaRPr>
          </a:p>
        </p:txBody>
      </p:sp>
      <p:sp>
        <p:nvSpPr>
          <p:cNvPr id="11" name="Rectángulo 10">
            <a:extLst>
              <a:ext uri="{FF2B5EF4-FFF2-40B4-BE49-F238E27FC236}">
                <a16:creationId xmlns:a16="http://schemas.microsoft.com/office/drawing/2014/main" id="{B811A5F9-C0B5-716C-70FB-9472E1BC2CD3}"/>
              </a:ext>
            </a:extLst>
          </p:cNvPr>
          <p:cNvSpPr/>
          <p:nvPr/>
        </p:nvSpPr>
        <p:spPr>
          <a:xfrm>
            <a:off x="232481" y="1270304"/>
            <a:ext cx="2581303" cy="3303822"/>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 name="Gráfico 9">
            <a:extLst>
              <a:ext uri="{FF2B5EF4-FFF2-40B4-BE49-F238E27FC236}">
                <a16:creationId xmlns:a16="http://schemas.microsoft.com/office/drawing/2014/main" id="{C582D9ED-A2CE-6C08-D473-4C1FC636E811}"/>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045006" y="6356057"/>
            <a:ext cx="6409575" cy="363174"/>
          </a:xfrm>
          <a:prstGeom prst="rect">
            <a:avLst/>
          </a:prstGeom>
        </p:spPr>
      </p:pic>
      <p:sp>
        <p:nvSpPr>
          <p:cNvPr id="13" name="object 16">
            <a:extLst>
              <a:ext uri="{FF2B5EF4-FFF2-40B4-BE49-F238E27FC236}">
                <a16:creationId xmlns:a16="http://schemas.microsoft.com/office/drawing/2014/main" id="{98DA9316-CFD5-58C0-735F-237403D53172}"/>
              </a:ext>
            </a:extLst>
          </p:cNvPr>
          <p:cNvSpPr txBox="1">
            <a:spLocks/>
          </p:cNvSpPr>
          <p:nvPr/>
        </p:nvSpPr>
        <p:spPr>
          <a:xfrm>
            <a:off x="685800" y="408883"/>
            <a:ext cx="10994410" cy="1025922"/>
          </a:xfrm>
          <a:prstGeom prst="rect">
            <a:avLst/>
          </a:prstGeom>
        </p:spPr>
        <p:txBody>
          <a:bodyPr vert="horz" wrap="square" lIns="0" tIns="12700" rIns="0" bIns="0" rtlCol="0">
            <a:spAutoFit/>
          </a:bodyPr>
          <a:lstStyle>
            <a:lvl1pPr>
              <a:defRPr sz="2000" b="1" i="0">
                <a:solidFill>
                  <a:schemeClr val="tx1"/>
                </a:solidFill>
                <a:latin typeface="Calibri"/>
                <a:ea typeface="+mj-ea"/>
                <a:cs typeface="Calibri"/>
              </a:defRPr>
            </a:lvl1pPr>
          </a:lstStyle>
          <a:p>
            <a:pPr marL="12700">
              <a:spcBef>
                <a:spcPts val="100"/>
              </a:spcBef>
            </a:pPr>
            <a:r>
              <a:rPr lang="en-US" sz="2500" kern="0"/>
              <a:t>Learning outcome #2 – MZI Design</a:t>
            </a:r>
          </a:p>
          <a:p>
            <a:pPr marL="12700">
              <a:spcBef>
                <a:spcPts val="100"/>
              </a:spcBef>
            </a:pPr>
            <a:r>
              <a:rPr lang="en-US" b="0" kern="0" spc="-5">
                <a:latin typeface="+mj-lt"/>
                <a:cs typeface="Lucida Sans"/>
              </a:rPr>
              <a:t>Design a MZI with FSR = 2 nm at 1550 nm</a:t>
            </a:r>
            <a:br>
              <a:rPr lang="en-US" b="0" kern="0" spc="-5">
                <a:latin typeface="+mj-lt"/>
                <a:cs typeface="Lucida Sans"/>
              </a:rPr>
            </a:br>
            <a:endParaRPr lang="en-US" b="0" kern="0">
              <a:latin typeface="+mj-lt"/>
              <a:cs typeface="Lucida Sans"/>
            </a:endParaRPr>
          </a:p>
        </p:txBody>
      </p:sp>
      <p:sp>
        <p:nvSpPr>
          <p:cNvPr id="17" name="CuadroTexto 16">
            <a:extLst>
              <a:ext uri="{FF2B5EF4-FFF2-40B4-BE49-F238E27FC236}">
                <a16:creationId xmlns:a16="http://schemas.microsoft.com/office/drawing/2014/main" id="{CF539331-8E60-18C7-AC71-E29976BECFE5}"/>
              </a:ext>
            </a:extLst>
          </p:cNvPr>
          <p:cNvSpPr txBox="1"/>
          <p:nvPr/>
        </p:nvSpPr>
        <p:spPr>
          <a:xfrm>
            <a:off x="232481" y="1352554"/>
            <a:ext cx="2553194" cy="3139321"/>
          </a:xfrm>
          <a:prstGeom prst="rect">
            <a:avLst/>
          </a:prstGeom>
          <a:noFill/>
        </p:spPr>
        <p:txBody>
          <a:bodyPr wrap="square">
            <a:spAutoFit/>
          </a:bodyPr>
          <a:lstStyle/>
          <a:p>
            <a:pPr algn="just"/>
            <a:r>
              <a:rPr lang="es-ES"/>
              <a:t>The MZI </a:t>
            </a:r>
            <a:r>
              <a:rPr lang="es-ES" err="1"/>
              <a:t>was</a:t>
            </a:r>
            <a:r>
              <a:rPr lang="es-ES"/>
              <a:t> </a:t>
            </a:r>
            <a:r>
              <a:rPr lang="es-ES" err="1"/>
              <a:t>designed</a:t>
            </a:r>
            <a:r>
              <a:rPr lang="es-ES"/>
              <a:t> </a:t>
            </a:r>
            <a:r>
              <a:rPr lang="es-ES" err="1"/>
              <a:t>using</a:t>
            </a:r>
            <a:r>
              <a:rPr lang="es-ES"/>
              <a:t>:</a:t>
            </a:r>
          </a:p>
          <a:p>
            <a:pPr algn="just"/>
            <a:r>
              <a:rPr lang="es-ES"/>
              <a:t>FSR = λ₀² / (ng · ΔL)</a:t>
            </a:r>
          </a:p>
          <a:p>
            <a:pPr algn="just"/>
            <a:endParaRPr lang="es-ES"/>
          </a:p>
          <a:p>
            <a:pPr algn="just"/>
            <a:r>
              <a:rPr lang="es-ES"/>
              <a:t>For λ₀ = 1550 nm = 1.55 µm, FSR = 2 nm = 0.002 µm, and ng = 2.0:</a:t>
            </a:r>
          </a:p>
          <a:p>
            <a:pPr algn="just"/>
            <a:endParaRPr lang="es-ES"/>
          </a:p>
          <a:p>
            <a:pPr algn="just"/>
            <a:r>
              <a:rPr lang="es-ES"/>
              <a:t>ΔL = λ₀² / (ng · FSR)</a:t>
            </a:r>
          </a:p>
          <a:p>
            <a:pPr algn="just"/>
            <a:r>
              <a:rPr lang="es-ES"/>
              <a:t>ΔL = 1.55² / (2.0 · 0.002)</a:t>
            </a:r>
          </a:p>
          <a:p>
            <a:pPr algn="just"/>
            <a:r>
              <a:rPr lang="es-ES"/>
              <a:t>ΔL = 600.625 µm</a:t>
            </a:r>
          </a:p>
        </p:txBody>
      </p:sp>
      <p:sp>
        <p:nvSpPr>
          <p:cNvPr id="2" name="Rectángulo 13">
            <a:extLst>
              <a:ext uri="{FF2B5EF4-FFF2-40B4-BE49-F238E27FC236}">
                <a16:creationId xmlns:a16="http://schemas.microsoft.com/office/drawing/2014/main" id="{F6EEBC3A-AC42-82F6-6C66-B63B405C95D6}"/>
              </a:ext>
            </a:extLst>
          </p:cNvPr>
          <p:cNvSpPr/>
          <p:nvPr/>
        </p:nvSpPr>
        <p:spPr>
          <a:xfrm>
            <a:off x="7220176" y="1270304"/>
            <a:ext cx="4460034" cy="3270527"/>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ángulo 13">
            <a:extLst>
              <a:ext uri="{FF2B5EF4-FFF2-40B4-BE49-F238E27FC236}">
                <a16:creationId xmlns:a16="http://schemas.microsoft.com/office/drawing/2014/main" id="{1DD07398-2E23-34E4-CC87-78B7D4A1ACF1}"/>
              </a:ext>
            </a:extLst>
          </p:cNvPr>
          <p:cNvSpPr/>
          <p:nvPr/>
        </p:nvSpPr>
        <p:spPr>
          <a:xfrm>
            <a:off x="2923504" y="1270305"/>
            <a:ext cx="4186952" cy="3270526"/>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Imagen 8">
            <a:extLst>
              <a:ext uri="{FF2B5EF4-FFF2-40B4-BE49-F238E27FC236}">
                <a16:creationId xmlns:a16="http://schemas.microsoft.com/office/drawing/2014/main" id="{B8BDEEDB-C4A0-949E-69A6-D778A80CB715}"/>
              </a:ext>
            </a:extLst>
          </p:cNvPr>
          <p:cNvPicPr>
            <a:picLocks noChangeAspect="1"/>
          </p:cNvPicPr>
          <p:nvPr/>
        </p:nvPicPr>
        <p:blipFill>
          <a:blip r:embed="rId4"/>
          <a:stretch>
            <a:fillRect/>
          </a:stretch>
        </p:blipFill>
        <p:spPr>
          <a:xfrm>
            <a:off x="3013311" y="1352554"/>
            <a:ext cx="3985652" cy="3139321"/>
          </a:xfrm>
          <a:prstGeom prst="rect">
            <a:avLst/>
          </a:prstGeom>
        </p:spPr>
      </p:pic>
      <p:pic>
        <p:nvPicPr>
          <p:cNvPr id="15" name="Picture 14">
            <a:extLst>
              <a:ext uri="{FF2B5EF4-FFF2-40B4-BE49-F238E27FC236}">
                <a16:creationId xmlns:a16="http://schemas.microsoft.com/office/drawing/2014/main" id="{380E1610-D629-8D53-B9D6-EBE78ED7BA50}"/>
              </a:ext>
            </a:extLst>
          </p:cNvPr>
          <p:cNvPicPr>
            <a:picLocks noChangeAspect="1"/>
          </p:cNvPicPr>
          <p:nvPr/>
        </p:nvPicPr>
        <p:blipFill>
          <a:blip r:embed="rId5"/>
          <a:stretch>
            <a:fillRect/>
          </a:stretch>
        </p:blipFill>
        <p:spPr>
          <a:xfrm>
            <a:off x="7289386" y="1874912"/>
            <a:ext cx="4320918" cy="2365825"/>
          </a:xfrm>
          <a:prstGeom prst="rect">
            <a:avLst/>
          </a:prstGeom>
        </p:spPr>
      </p:pic>
      <p:sp>
        <p:nvSpPr>
          <p:cNvPr id="16" name="Arrow: Right 15">
            <a:extLst>
              <a:ext uri="{FF2B5EF4-FFF2-40B4-BE49-F238E27FC236}">
                <a16:creationId xmlns:a16="http://schemas.microsoft.com/office/drawing/2014/main" id="{8101989E-9ABC-3103-71CB-FB82C02848C7}"/>
              </a:ext>
            </a:extLst>
          </p:cNvPr>
          <p:cNvSpPr/>
          <p:nvPr/>
        </p:nvSpPr>
        <p:spPr>
          <a:xfrm>
            <a:off x="6452315" y="2620851"/>
            <a:ext cx="1075386" cy="295734"/>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8" name="CuadroTexto 11">
            <a:extLst>
              <a:ext uri="{FF2B5EF4-FFF2-40B4-BE49-F238E27FC236}">
                <a16:creationId xmlns:a16="http://schemas.microsoft.com/office/drawing/2014/main" id="{3B73E3CF-9DDF-6984-D87E-104DBB715A48}"/>
              </a:ext>
            </a:extLst>
          </p:cNvPr>
          <p:cNvSpPr txBox="1"/>
          <p:nvPr/>
        </p:nvSpPr>
        <p:spPr>
          <a:xfrm>
            <a:off x="6626124" y="2301347"/>
            <a:ext cx="663262" cy="338554"/>
          </a:xfrm>
          <a:prstGeom prst="rect">
            <a:avLst/>
          </a:prstGeom>
        </p:spPr>
        <p:style>
          <a:lnRef idx="2">
            <a:schemeClr val="dk1"/>
          </a:lnRef>
          <a:fillRef idx="1">
            <a:schemeClr val="lt1"/>
          </a:fillRef>
          <a:effectRef idx="0">
            <a:schemeClr val="dk1"/>
          </a:effectRef>
          <a:fontRef idx="minor">
            <a:schemeClr val="dk1"/>
          </a:fontRef>
        </p:style>
        <p:txBody>
          <a:bodyPr wrap="square">
            <a:spAutoFit/>
          </a:bodyPr>
          <a:lstStyle/>
          <a:p>
            <a:r>
              <a:rPr lang="en-US" sz="1600" b="1" i="0">
                <a:effectLst/>
                <a:latin typeface="Consolas" panose="020B0609020204030204" pitchFamily="49" charset="0"/>
              </a:rPr>
              <a:t>ZOOM</a:t>
            </a:r>
            <a:endParaRPr lang="es-ES" sz="1600" b="1"/>
          </a:p>
        </p:txBody>
      </p:sp>
    </p:spTree>
    <p:extLst>
      <p:ext uri="{BB962C8B-B14F-4D97-AF65-F5344CB8AC3E}">
        <p14:creationId xmlns:p14="http://schemas.microsoft.com/office/powerpoint/2010/main" val="122265446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01636B-7BF0-5143-57E9-673FF1B33E8E}"/>
            </a:ext>
          </a:extLst>
        </p:cNvPr>
        <p:cNvGrpSpPr/>
        <p:nvPr/>
      </p:nvGrpSpPr>
      <p:grpSpPr>
        <a:xfrm>
          <a:off x="0" y="0"/>
          <a:ext cx="0" cy="0"/>
          <a:chOff x="0" y="0"/>
          <a:chExt cx="0" cy="0"/>
        </a:xfrm>
      </p:grpSpPr>
      <p:sp>
        <p:nvSpPr>
          <p:cNvPr id="5" name="Marcador de pie de página 4">
            <a:extLst>
              <a:ext uri="{FF2B5EF4-FFF2-40B4-BE49-F238E27FC236}">
                <a16:creationId xmlns:a16="http://schemas.microsoft.com/office/drawing/2014/main" id="{D79F9CCB-631D-A124-3694-9DBF91E01CAA}"/>
              </a:ext>
            </a:extLst>
          </p:cNvPr>
          <p:cNvSpPr>
            <a:spLocks noGrp="1"/>
          </p:cNvSpPr>
          <p:nvPr>
            <p:ph type="ftr" sz="quarter" idx="5"/>
          </p:nvPr>
        </p:nvSpPr>
        <p:spPr/>
        <p:txBody>
          <a:bodyPr/>
          <a:lstStyle/>
          <a:p>
            <a:r>
              <a:rPr lang="en-US"/>
              <a:t>LAB 3.0. CIRCUITS &amp; COMPACT MODELS</a:t>
            </a:r>
          </a:p>
        </p:txBody>
      </p:sp>
      <p:sp>
        <p:nvSpPr>
          <p:cNvPr id="6" name="Marcador de número de diapositiva 5">
            <a:extLst>
              <a:ext uri="{FF2B5EF4-FFF2-40B4-BE49-F238E27FC236}">
                <a16:creationId xmlns:a16="http://schemas.microsoft.com/office/drawing/2014/main" id="{DED76083-7F21-5E97-9AC1-DEEB9C8B23CA}"/>
              </a:ext>
            </a:extLst>
          </p:cNvPr>
          <p:cNvSpPr>
            <a:spLocks noGrp="1"/>
          </p:cNvSpPr>
          <p:nvPr>
            <p:ph type="sldNum" sz="quarter" idx="7"/>
          </p:nvPr>
        </p:nvSpPr>
        <p:spPr/>
        <p:txBody>
          <a:bodyPr/>
          <a:lstStyle/>
          <a:p>
            <a:fld id="{C2F52289-4012-4053-9770-FE82CEB9514F}" type="slidenum">
              <a:rPr lang="en-US" smtClean="0"/>
              <a:pPr/>
              <a:t>5</a:t>
            </a:fld>
            <a:endParaRPr lang="en-US"/>
          </a:p>
        </p:txBody>
      </p:sp>
      <p:pic>
        <p:nvPicPr>
          <p:cNvPr id="10" name="Gráfico 9">
            <a:extLst>
              <a:ext uri="{FF2B5EF4-FFF2-40B4-BE49-F238E27FC236}">
                <a16:creationId xmlns:a16="http://schemas.microsoft.com/office/drawing/2014/main" id="{6A4FE9E0-92EE-4367-CEE1-FB072709D7E8}"/>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045006" y="6356057"/>
            <a:ext cx="6409575" cy="363174"/>
          </a:xfrm>
          <a:prstGeom prst="rect">
            <a:avLst/>
          </a:prstGeom>
        </p:spPr>
      </p:pic>
      <p:sp>
        <p:nvSpPr>
          <p:cNvPr id="13" name="object 16">
            <a:extLst>
              <a:ext uri="{FF2B5EF4-FFF2-40B4-BE49-F238E27FC236}">
                <a16:creationId xmlns:a16="http://schemas.microsoft.com/office/drawing/2014/main" id="{1E286371-F443-FD5C-BF57-FB23A8D7F4F7}"/>
              </a:ext>
            </a:extLst>
          </p:cNvPr>
          <p:cNvSpPr txBox="1">
            <a:spLocks/>
          </p:cNvSpPr>
          <p:nvPr/>
        </p:nvSpPr>
        <p:spPr>
          <a:xfrm>
            <a:off x="685800" y="408883"/>
            <a:ext cx="10994410" cy="718145"/>
          </a:xfrm>
          <a:prstGeom prst="rect">
            <a:avLst/>
          </a:prstGeom>
        </p:spPr>
        <p:txBody>
          <a:bodyPr vert="horz" wrap="square" lIns="0" tIns="12700" rIns="0" bIns="0" rtlCol="0">
            <a:spAutoFit/>
          </a:bodyPr>
          <a:lstStyle>
            <a:lvl1pPr>
              <a:defRPr sz="2000" b="1" i="0">
                <a:solidFill>
                  <a:schemeClr val="tx1"/>
                </a:solidFill>
                <a:latin typeface="Calibri"/>
                <a:ea typeface="+mj-ea"/>
                <a:cs typeface="Calibri"/>
              </a:defRPr>
            </a:lvl1pPr>
          </a:lstStyle>
          <a:p>
            <a:pPr marL="12700">
              <a:spcBef>
                <a:spcPts val="100"/>
              </a:spcBef>
            </a:pPr>
            <a:r>
              <a:rPr lang="en-US" sz="2500" kern="0"/>
              <a:t>Learning outcome #3 – Delay imbalance with loss</a:t>
            </a:r>
          </a:p>
          <a:p>
            <a:pPr marL="12700">
              <a:spcBef>
                <a:spcPts val="100"/>
              </a:spcBef>
            </a:pPr>
            <a:r>
              <a:rPr lang="en-US" b="0" kern="0" spc="-5">
                <a:latin typeface="+mj-lt"/>
                <a:cs typeface="Lucida Sans"/>
              </a:rPr>
              <a:t>Fringe visibility</a:t>
            </a:r>
            <a:endParaRPr lang="en-US" b="0" kern="0">
              <a:latin typeface="+mj-lt"/>
              <a:cs typeface="Lucida Sans"/>
            </a:endParaRPr>
          </a:p>
        </p:txBody>
      </p:sp>
      <p:sp>
        <p:nvSpPr>
          <p:cNvPr id="4" name="Rectángulo 3">
            <a:extLst>
              <a:ext uri="{FF2B5EF4-FFF2-40B4-BE49-F238E27FC236}">
                <a16:creationId xmlns:a16="http://schemas.microsoft.com/office/drawing/2014/main" id="{FDBAE930-4EE5-671B-4DE7-6BC60C48E7C0}"/>
              </a:ext>
            </a:extLst>
          </p:cNvPr>
          <p:cNvSpPr/>
          <p:nvPr/>
        </p:nvSpPr>
        <p:spPr>
          <a:xfrm>
            <a:off x="327670" y="2017194"/>
            <a:ext cx="5477330" cy="3966620"/>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ángulo 6">
            <a:extLst>
              <a:ext uri="{FF2B5EF4-FFF2-40B4-BE49-F238E27FC236}">
                <a16:creationId xmlns:a16="http://schemas.microsoft.com/office/drawing/2014/main" id="{A6CCE634-FF91-FD5F-7C1D-4329E9DA2469}"/>
              </a:ext>
            </a:extLst>
          </p:cNvPr>
          <p:cNvSpPr/>
          <p:nvPr/>
        </p:nvSpPr>
        <p:spPr>
          <a:xfrm>
            <a:off x="7670800" y="109778"/>
            <a:ext cx="4445000" cy="1610165"/>
          </a:xfrm>
          <a:prstGeom prst="rect">
            <a:avLst/>
          </a:prstGeom>
          <a:solidFill>
            <a:schemeClr val="bg1">
              <a:lumMod val="95000"/>
            </a:schemeClr>
          </a:solid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pPr algn="just"/>
            <a:r>
              <a:rPr lang="en-US" sz="1050" b="1">
                <a:solidFill>
                  <a:schemeClr val="tx1"/>
                </a:solidFill>
                <a:latin typeface="Arial" panose="020B0604020202020204" pitchFamily="34" charset="0"/>
                <a:cs typeface="Arial" panose="020B0604020202020204" pitchFamily="34" charset="0"/>
              </a:rPr>
              <a:t>Hints:</a:t>
            </a:r>
          </a:p>
          <a:p>
            <a:pPr algn="just"/>
            <a:r>
              <a:rPr lang="en-US" sz="1050" err="1">
                <a:solidFill>
                  <a:schemeClr val="tx1"/>
                </a:solidFill>
                <a:latin typeface="Arial" panose="020B0604020202020204" pitchFamily="34" charset="0"/>
                <a:cs typeface="Arial" panose="020B0604020202020204" pitchFamily="34" charset="0"/>
                <a:sym typeface="Wingdings" pitchFamily="2" charset="2"/>
              </a:rPr>
              <a:t>wvl</a:t>
            </a:r>
            <a:r>
              <a:rPr lang="en-US" sz="1050">
                <a:solidFill>
                  <a:schemeClr val="tx1"/>
                </a:solidFill>
                <a:latin typeface="Arial" panose="020B0604020202020204" pitchFamily="34" charset="0"/>
                <a:cs typeface="Arial" panose="020B0604020202020204" pitchFamily="34" charset="0"/>
                <a:sym typeface="Wingdings" pitchFamily="2" charset="2"/>
              </a:rPr>
              <a:t> [1550-1550.5] step 0.0000005</a:t>
            </a:r>
          </a:p>
          <a:p>
            <a:pPr algn="just"/>
            <a:r>
              <a:rPr lang="en-US" sz="1050">
                <a:solidFill>
                  <a:schemeClr val="tx1"/>
                </a:solidFill>
                <a:latin typeface="Arial" panose="020B0604020202020204" pitchFamily="34" charset="0"/>
                <a:cs typeface="Arial" panose="020B0604020202020204" pitchFamily="34" charset="0"/>
                <a:sym typeface="Wingdings" pitchFamily="2" charset="2"/>
              </a:rPr>
              <a:t>Silicon waveguide model:</a:t>
            </a:r>
          </a:p>
          <a:p>
            <a:pPr algn="just"/>
            <a:r>
              <a:rPr lang="en-US" sz="1050" err="1">
                <a:solidFill>
                  <a:schemeClr val="tx1"/>
                </a:solidFill>
                <a:latin typeface="Arial" panose="020B0604020202020204" pitchFamily="34" charset="0"/>
                <a:cs typeface="Arial" panose="020B0604020202020204" pitchFamily="34" charset="0"/>
                <a:sym typeface="Wingdings" pitchFamily="2" charset="2"/>
              </a:rPr>
              <a:t>n_eff</a:t>
            </a:r>
            <a:r>
              <a:rPr lang="en-US" sz="1050">
                <a:solidFill>
                  <a:schemeClr val="tx1"/>
                </a:solidFill>
                <a:latin typeface="Arial" panose="020B0604020202020204" pitchFamily="34" charset="0"/>
                <a:cs typeface="Arial" panose="020B0604020202020204" pitchFamily="34" charset="0"/>
                <a:sym typeface="Wingdings" pitchFamily="2" charset="2"/>
              </a:rPr>
              <a:t> = 2.38, </a:t>
            </a:r>
            <a:r>
              <a:rPr lang="en-US" sz="1050" err="1">
                <a:solidFill>
                  <a:schemeClr val="tx1"/>
                </a:solidFill>
                <a:latin typeface="Arial" panose="020B0604020202020204" pitchFamily="34" charset="0"/>
                <a:cs typeface="Arial" panose="020B0604020202020204" pitchFamily="34" charset="0"/>
                <a:sym typeface="Wingdings" pitchFamily="2" charset="2"/>
              </a:rPr>
              <a:t>n_g</a:t>
            </a:r>
            <a:r>
              <a:rPr lang="en-US" sz="1050">
                <a:solidFill>
                  <a:schemeClr val="tx1"/>
                </a:solidFill>
                <a:latin typeface="Arial" panose="020B0604020202020204" pitchFamily="34" charset="0"/>
                <a:cs typeface="Arial" panose="020B0604020202020204" pitchFamily="34" charset="0"/>
                <a:sym typeface="Wingdings" pitchFamily="2" charset="2"/>
              </a:rPr>
              <a:t> = 4.25,  D=0, </a:t>
            </a:r>
            <a:r>
              <a:rPr lang="en-US" sz="1050" err="1">
                <a:solidFill>
                  <a:schemeClr val="tx1"/>
                </a:solidFill>
                <a:latin typeface="Arial" panose="020B0604020202020204" pitchFamily="34" charset="0"/>
                <a:cs typeface="Arial" panose="020B0604020202020204" pitchFamily="34" charset="0"/>
                <a:sym typeface="Wingdings" pitchFamily="2" charset="2"/>
              </a:rPr>
              <a:t>L_base</a:t>
            </a:r>
            <a:r>
              <a:rPr lang="en-US" sz="1050">
                <a:solidFill>
                  <a:schemeClr val="tx1"/>
                </a:solidFill>
                <a:latin typeface="Arial" panose="020B0604020202020204" pitchFamily="34" charset="0"/>
                <a:cs typeface="Arial" panose="020B0604020202020204" pitchFamily="34" charset="0"/>
                <a:sym typeface="Wingdings" pitchFamily="2" charset="2"/>
              </a:rPr>
              <a:t>=1000; </a:t>
            </a:r>
          </a:p>
          <a:p>
            <a:pPr algn="just"/>
            <a:r>
              <a:rPr lang="en-US" sz="1050">
                <a:solidFill>
                  <a:schemeClr val="tx1"/>
                </a:solidFill>
                <a:latin typeface="Arial" panose="020B0604020202020204" pitchFamily="34" charset="0"/>
                <a:cs typeface="Arial" panose="020B0604020202020204" pitchFamily="34" charset="0"/>
                <a:sym typeface="Wingdings" pitchFamily="2" charset="2"/>
              </a:rPr>
              <a:t>dL = </a:t>
            </a:r>
            <a:r>
              <a:rPr lang="en-US" sz="1050" err="1">
                <a:solidFill>
                  <a:schemeClr val="tx1"/>
                </a:solidFill>
                <a:latin typeface="Arial" panose="020B0604020202020204" pitchFamily="34" charset="0"/>
                <a:cs typeface="Arial" panose="020B0604020202020204" pitchFamily="34" charset="0"/>
                <a:sym typeface="Wingdings" pitchFamily="2" charset="2"/>
              </a:rPr>
              <a:t>L_base</a:t>
            </a:r>
            <a:r>
              <a:rPr lang="en-US" sz="1050">
                <a:solidFill>
                  <a:schemeClr val="tx1"/>
                </a:solidFill>
                <a:latin typeface="Arial" panose="020B0604020202020204" pitchFamily="34" charset="0"/>
                <a:cs typeface="Arial" panose="020B0604020202020204" pitchFamily="34" charset="0"/>
                <a:sym typeface="Wingdings" pitchFamily="2" charset="2"/>
              </a:rPr>
              <a:t> + 55960.0840224255;</a:t>
            </a:r>
          </a:p>
          <a:p>
            <a:pPr algn="just"/>
            <a:r>
              <a:rPr lang="en-US" sz="1050">
                <a:solidFill>
                  <a:schemeClr val="tx1"/>
                </a:solidFill>
                <a:latin typeface="Arial" panose="020B0604020202020204" pitchFamily="34" charset="0"/>
                <a:cs typeface="Arial" panose="020B0604020202020204" pitchFamily="34" charset="0"/>
                <a:sym typeface="Wingdings" pitchFamily="2" charset="2"/>
              </a:rPr>
              <a:t>loss = 4 dB / cm</a:t>
            </a:r>
          </a:p>
          <a:p>
            <a:pPr algn="just"/>
            <a:r>
              <a:rPr lang="en-US" sz="1050" b="1">
                <a:solidFill>
                  <a:schemeClr val="tx1"/>
                </a:solidFill>
                <a:latin typeface="Arial" panose="020B0604020202020204" pitchFamily="34" charset="0"/>
                <a:cs typeface="Arial" panose="020B0604020202020204" pitchFamily="34" charset="0"/>
                <a:sym typeface="Wingdings" pitchFamily="2" charset="2"/>
              </a:rPr>
              <a:t>Case 1</a:t>
            </a:r>
            <a:r>
              <a:rPr lang="en-US" sz="1050">
                <a:solidFill>
                  <a:schemeClr val="tx1"/>
                </a:solidFill>
                <a:latin typeface="Arial" panose="020B0604020202020204" pitchFamily="34" charset="0"/>
                <a:cs typeface="Arial" panose="020B0604020202020204" pitchFamily="34" charset="0"/>
                <a:sym typeface="Wingdings" pitchFamily="2" charset="2"/>
              </a:rPr>
              <a:t>. Simulate for Ka = </a:t>
            </a:r>
            <a:r>
              <a:rPr lang="en-US" sz="1050" err="1">
                <a:solidFill>
                  <a:schemeClr val="tx1"/>
                </a:solidFill>
                <a:latin typeface="Arial" panose="020B0604020202020204" pitchFamily="34" charset="0"/>
                <a:cs typeface="Arial" panose="020B0604020202020204" pitchFamily="34" charset="0"/>
                <a:sym typeface="Wingdings" pitchFamily="2" charset="2"/>
              </a:rPr>
              <a:t>Kb</a:t>
            </a:r>
            <a:r>
              <a:rPr lang="en-US" sz="1050">
                <a:solidFill>
                  <a:schemeClr val="tx1"/>
                </a:solidFill>
                <a:latin typeface="Arial" panose="020B0604020202020204" pitchFamily="34" charset="0"/>
                <a:cs typeface="Arial" panose="020B0604020202020204" pitchFamily="34" charset="0"/>
                <a:sym typeface="Wingdings" pitchFamily="2" charset="2"/>
              </a:rPr>
              <a:t> = 0.5 for all </a:t>
            </a:r>
            <a:r>
              <a:rPr lang="en-US" sz="1050" err="1">
                <a:solidFill>
                  <a:schemeClr val="tx1"/>
                </a:solidFill>
                <a:latin typeface="Arial" panose="020B0604020202020204" pitchFamily="34" charset="0"/>
                <a:cs typeface="Arial" panose="020B0604020202020204" pitchFamily="34" charset="0"/>
                <a:sym typeface="Wingdings" pitchFamily="2" charset="2"/>
              </a:rPr>
              <a:t>wvl</a:t>
            </a:r>
            <a:endParaRPr lang="en-US" sz="1050">
              <a:solidFill>
                <a:schemeClr val="tx1"/>
              </a:solidFill>
              <a:latin typeface="Arial" panose="020B0604020202020204" pitchFamily="34" charset="0"/>
              <a:cs typeface="Arial" panose="020B0604020202020204" pitchFamily="34" charset="0"/>
              <a:sym typeface="Wingdings" pitchFamily="2" charset="2"/>
            </a:endParaRPr>
          </a:p>
          <a:p>
            <a:pPr algn="just"/>
            <a:r>
              <a:rPr lang="en-US" sz="1050" b="1">
                <a:solidFill>
                  <a:schemeClr val="tx1"/>
                </a:solidFill>
                <a:latin typeface="Arial" panose="020B0604020202020204" pitchFamily="34" charset="0"/>
                <a:cs typeface="Arial" panose="020B0604020202020204" pitchFamily="34" charset="0"/>
                <a:sym typeface="Wingdings" pitchFamily="2" charset="2"/>
              </a:rPr>
              <a:t>Case 2</a:t>
            </a:r>
            <a:r>
              <a:rPr lang="en-US" sz="1050">
                <a:solidFill>
                  <a:schemeClr val="tx1"/>
                </a:solidFill>
                <a:latin typeface="Arial" panose="020B0604020202020204" pitchFamily="34" charset="0"/>
                <a:cs typeface="Arial" panose="020B0604020202020204" pitchFamily="34" charset="0"/>
                <a:sym typeface="Wingdings" pitchFamily="2" charset="2"/>
              </a:rPr>
              <a:t>. Simulate for Ka=0.1 for all </a:t>
            </a:r>
            <a:r>
              <a:rPr lang="en-US" sz="1050" err="1">
                <a:solidFill>
                  <a:schemeClr val="tx1"/>
                </a:solidFill>
                <a:latin typeface="Arial" panose="020B0604020202020204" pitchFamily="34" charset="0"/>
                <a:cs typeface="Arial" panose="020B0604020202020204" pitchFamily="34" charset="0"/>
                <a:sym typeface="Wingdings" pitchFamily="2" charset="2"/>
              </a:rPr>
              <a:t>wvl</a:t>
            </a:r>
            <a:endParaRPr lang="en-US" sz="1050">
              <a:solidFill>
                <a:schemeClr val="tx1"/>
              </a:solidFill>
              <a:latin typeface="Arial" panose="020B0604020202020204" pitchFamily="34" charset="0"/>
              <a:cs typeface="Arial" panose="020B0604020202020204" pitchFamily="34" charset="0"/>
              <a:sym typeface="Wingdings" pitchFamily="2" charset="2"/>
            </a:endParaRPr>
          </a:p>
          <a:p>
            <a:pPr algn="just"/>
            <a:r>
              <a:rPr lang="en-US" sz="1050" err="1">
                <a:solidFill>
                  <a:schemeClr val="tx1"/>
                </a:solidFill>
                <a:latin typeface="Arial" panose="020B0604020202020204" pitchFamily="34" charset="0"/>
                <a:cs typeface="Arial" panose="020B0604020202020204" pitchFamily="34" charset="0"/>
                <a:sym typeface="Wingdings" pitchFamily="2" charset="2"/>
              </a:rPr>
              <a:t>Kb</a:t>
            </a:r>
            <a:r>
              <a:rPr lang="en-US" sz="1050">
                <a:solidFill>
                  <a:schemeClr val="tx1"/>
                </a:solidFill>
                <a:latin typeface="Arial" panose="020B0604020202020204" pitchFamily="34" charset="0"/>
                <a:cs typeface="Arial" panose="020B0604020202020204" pitchFamily="34" charset="0"/>
                <a:sym typeface="Wingdings" pitchFamily="2" charset="2"/>
              </a:rPr>
              <a:t>=0.5 for all </a:t>
            </a:r>
            <a:r>
              <a:rPr lang="en-US" sz="1050" err="1">
                <a:solidFill>
                  <a:schemeClr val="tx1"/>
                </a:solidFill>
                <a:latin typeface="Arial" panose="020B0604020202020204" pitchFamily="34" charset="0"/>
                <a:cs typeface="Arial" panose="020B0604020202020204" pitchFamily="34" charset="0"/>
                <a:sym typeface="Wingdings" pitchFamily="2" charset="2"/>
              </a:rPr>
              <a:t>wvl</a:t>
            </a:r>
            <a:endParaRPr lang="en-US" sz="1050">
              <a:solidFill>
                <a:schemeClr val="tx1"/>
              </a:solidFill>
              <a:latin typeface="Arial" panose="020B0604020202020204" pitchFamily="34" charset="0"/>
              <a:cs typeface="Arial" panose="020B0604020202020204" pitchFamily="34" charset="0"/>
            </a:endParaRPr>
          </a:p>
        </p:txBody>
      </p:sp>
      <p:sp>
        <p:nvSpPr>
          <p:cNvPr id="9" name="CuadroTexto 8">
            <a:extLst>
              <a:ext uri="{FF2B5EF4-FFF2-40B4-BE49-F238E27FC236}">
                <a16:creationId xmlns:a16="http://schemas.microsoft.com/office/drawing/2014/main" id="{EF71FD03-8141-88A1-69BA-49588EB48896}"/>
              </a:ext>
            </a:extLst>
          </p:cNvPr>
          <p:cNvSpPr txBox="1"/>
          <p:nvPr/>
        </p:nvSpPr>
        <p:spPr>
          <a:xfrm>
            <a:off x="1465224" y="3648192"/>
            <a:ext cx="3171061" cy="1154162"/>
          </a:xfrm>
          <a:prstGeom prst="rect">
            <a:avLst/>
          </a:prstGeom>
          <a:noFill/>
        </p:spPr>
        <p:txBody>
          <a:bodyPr wrap="none" rtlCol="0">
            <a:spAutoFit/>
          </a:bodyPr>
          <a:lstStyle/>
          <a:p>
            <a:pPr algn="ctr"/>
            <a:r>
              <a:rPr lang="es-ES"/>
              <a:t>MZI transfer </a:t>
            </a:r>
            <a:r>
              <a:rPr lang="es-ES" err="1"/>
              <a:t>functions</a:t>
            </a:r>
            <a:endParaRPr lang="en-US"/>
          </a:p>
          <a:p>
            <a:pPr algn="ctr"/>
            <a:endParaRPr lang="en-US"/>
          </a:p>
          <a:p>
            <a:pPr algn="ctr"/>
            <a:r>
              <a:rPr lang="en-US"/>
              <a:t>Paste plot here</a:t>
            </a:r>
          </a:p>
        </p:txBody>
      </p:sp>
      <p:pic>
        <p:nvPicPr>
          <p:cNvPr id="8" name="Imagen 7">
            <a:extLst>
              <a:ext uri="{FF2B5EF4-FFF2-40B4-BE49-F238E27FC236}">
                <a16:creationId xmlns:a16="http://schemas.microsoft.com/office/drawing/2014/main" id="{1C7C8611-A4ED-0042-EC62-A2636A2EA257}"/>
              </a:ext>
            </a:extLst>
          </p:cNvPr>
          <p:cNvPicPr>
            <a:picLocks noChangeAspect="1"/>
          </p:cNvPicPr>
          <p:nvPr/>
        </p:nvPicPr>
        <p:blipFill>
          <a:blip r:embed="rId4"/>
          <a:stretch>
            <a:fillRect/>
          </a:stretch>
        </p:blipFill>
        <p:spPr>
          <a:xfrm>
            <a:off x="475340" y="2293257"/>
            <a:ext cx="5264107" cy="3477965"/>
          </a:xfrm>
          <a:prstGeom prst="rect">
            <a:avLst/>
          </a:prstGeom>
        </p:spPr>
      </p:pic>
      <p:sp>
        <p:nvSpPr>
          <p:cNvPr id="12" name="CuadroTexto 11">
            <a:extLst>
              <a:ext uri="{FF2B5EF4-FFF2-40B4-BE49-F238E27FC236}">
                <a16:creationId xmlns:a16="http://schemas.microsoft.com/office/drawing/2014/main" id="{C6ED11CB-8CF3-EB75-4F95-28A2E1086DD3}"/>
              </a:ext>
            </a:extLst>
          </p:cNvPr>
          <p:cNvSpPr txBox="1"/>
          <p:nvPr/>
        </p:nvSpPr>
        <p:spPr>
          <a:xfrm>
            <a:off x="10602686" y="407028"/>
            <a:ext cx="1509486" cy="1015663"/>
          </a:xfrm>
          <a:prstGeom prst="rect">
            <a:avLst/>
          </a:prstGeom>
        </p:spPr>
        <p:style>
          <a:lnRef idx="2">
            <a:schemeClr val="dk1"/>
          </a:lnRef>
          <a:fillRef idx="1">
            <a:schemeClr val="lt1"/>
          </a:fillRef>
          <a:effectRef idx="0">
            <a:schemeClr val="dk1"/>
          </a:effectRef>
          <a:fontRef idx="minor">
            <a:schemeClr val="dk1"/>
          </a:fontRef>
        </p:style>
        <p:txBody>
          <a:bodyPr wrap="square">
            <a:spAutoFit/>
          </a:bodyPr>
          <a:lstStyle/>
          <a:p>
            <a:r>
              <a:rPr lang="en-US" sz="1200" b="0" i="0">
                <a:effectLst/>
                <a:latin typeface="Consolas" panose="020B0609020204030204" pitchFamily="49" charset="0"/>
              </a:rPr>
              <a:t>Extra loss = 22.384 dB </a:t>
            </a:r>
          </a:p>
          <a:p>
            <a:r>
              <a:rPr lang="en-US" sz="1200" b="0" i="0">
                <a:effectLst/>
                <a:latin typeface="Consolas" panose="020B0609020204030204" pitchFamily="49" charset="0"/>
              </a:rPr>
              <a:t>Ka to match amplitudes = 0.9943</a:t>
            </a:r>
            <a:endParaRPr lang="es-ES" sz="1200"/>
          </a:p>
        </p:txBody>
      </p:sp>
      <p:sp>
        <p:nvSpPr>
          <p:cNvPr id="14" name="Rectángulo 3">
            <a:extLst>
              <a:ext uri="{FF2B5EF4-FFF2-40B4-BE49-F238E27FC236}">
                <a16:creationId xmlns:a16="http://schemas.microsoft.com/office/drawing/2014/main" id="{FA661217-A06C-251B-5F8A-E2069FA56C0C}"/>
              </a:ext>
            </a:extLst>
          </p:cNvPr>
          <p:cNvSpPr/>
          <p:nvPr/>
        </p:nvSpPr>
        <p:spPr>
          <a:xfrm>
            <a:off x="5922928" y="2017193"/>
            <a:ext cx="5941402" cy="3999007"/>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6" name="Picture 15">
            <a:extLst>
              <a:ext uri="{FF2B5EF4-FFF2-40B4-BE49-F238E27FC236}">
                <a16:creationId xmlns:a16="http://schemas.microsoft.com/office/drawing/2014/main" id="{431B522E-AF6B-DD58-6D53-384833F8F2FE}"/>
              </a:ext>
            </a:extLst>
          </p:cNvPr>
          <p:cNvPicPr>
            <a:picLocks noChangeAspect="1"/>
          </p:cNvPicPr>
          <p:nvPr/>
        </p:nvPicPr>
        <p:blipFill>
          <a:blip r:embed="rId5"/>
          <a:stretch>
            <a:fillRect/>
          </a:stretch>
        </p:blipFill>
        <p:spPr>
          <a:xfrm>
            <a:off x="6018368" y="2117027"/>
            <a:ext cx="5750522" cy="3799338"/>
          </a:xfrm>
          <a:prstGeom prst="rect">
            <a:avLst/>
          </a:prstGeom>
        </p:spPr>
      </p:pic>
      <p:sp>
        <p:nvSpPr>
          <p:cNvPr id="17" name="Arrow: Right 16">
            <a:extLst>
              <a:ext uri="{FF2B5EF4-FFF2-40B4-BE49-F238E27FC236}">
                <a16:creationId xmlns:a16="http://schemas.microsoft.com/office/drawing/2014/main" id="{3463DD4A-22A5-6EA8-D46B-34ED28297AE1}"/>
              </a:ext>
            </a:extLst>
          </p:cNvPr>
          <p:cNvSpPr/>
          <p:nvPr/>
        </p:nvSpPr>
        <p:spPr>
          <a:xfrm>
            <a:off x="5201754" y="3500325"/>
            <a:ext cx="1075386" cy="295734"/>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8" name="CuadroTexto 11">
            <a:extLst>
              <a:ext uri="{FF2B5EF4-FFF2-40B4-BE49-F238E27FC236}">
                <a16:creationId xmlns:a16="http://schemas.microsoft.com/office/drawing/2014/main" id="{74A20350-BE17-9309-FBC4-356100DABA69}"/>
              </a:ext>
            </a:extLst>
          </p:cNvPr>
          <p:cNvSpPr txBox="1"/>
          <p:nvPr/>
        </p:nvSpPr>
        <p:spPr>
          <a:xfrm>
            <a:off x="5375563" y="3180821"/>
            <a:ext cx="663262" cy="338554"/>
          </a:xfrm>
          <a:prstGeom prst="rect">
            <a:avLst/>
          </a:prstGeom>
        </p:spPr>
        <p:style>
          <a:lnRef idx="2">
            <a:schemeClr val="dk1"/>
          </a:lnRef>
          <a:fillRef idx="1">
            <a:schemeClr val="lt1"/>
          </a:fillRef>
          <a:effectRef idx="0">
            <a:schemeClr val="dk1"/>
          </a:effectRef>
          <a:fontRef idx="minor">
            <a:schemeClr val="dk1"/>
          </a:fontRef>
        </p:style>
        <p:txBody>
          <a:bodyPr wrap="square">
            <a:spAutoFit/>
          </a:bodyPr>
          <a:lstStyle/>
          <a:p>
            <a:r>
              <a:rPr lang="en-US" sz="1600" b="1" i="0">
                <a:effectLst/>
                <a:latin typeface="Consolas" panose="020B0609020204030204" pitchFamily="49" charset="0"/>
              </a:rPr>
              <a:t>ZOOM</a:t>
            </a:r>
            <a:endParaRPr lang="es-ES" sz="1600" b="1"/>
          </a:p>
        </p:txBody>
      </p:sp>
      <p:sp>
        <p:nvSpPr>
          <p:cNvPr id="20" name="CuadroTexto 19">
            <a:extLst>
              <a:ext uri="{FF2B5EF4-FFF2-40B4-BE49-F238E27FC236}">
                <a16:creationId xmlns:a16="http://schemas.microsoft.com/office/drawing/2014/main" id="{2CACE774-E914-CD65-22A3-670E1D806ADF}"/>
              </a:ext>
            </a:extLst>
          </p:cNvPr>
          <p:cNvSpPr txBox="1"/>
          <p:nvPr/>
        </p:nvSpPr>
        <p:spPr>
          <a:xfrm>
            <a:off x="4517739" y="777547"/>
            <a:ext cx="2810378" cy="1169551"/>
          </a:xfrm>
          <a:prstGeom prst="rect">
            <a:avLst/>
          </a:prstGeom>
          <a:noFill/>
          <a:ln w="38100">
            <a:solidFill>
              <a:schemeClr val="accent1"/>
            </a:solidFill>
          </a:ln>
        </p:spPr>
        <p:txBody>
          <a:bodyPr wrap="square">
            <a:spAutoFit/>
          </a:bodyPr>
          <a:lstStyle/>
          <a:p>
            <a:r>
              <a:rPr lang="es-ES" sz="1000" b="0" i="0" u="sng">
                <a:effectLst/>
                <a:latin typeface="Consolas" panose="020B0609020204030204" pitchFamily="49" charset="0"/>
              </a:rPr>
              <a:t>Case 1: </a:t>
            </a:r>
          </a:p>
          <a:p>
            <a:r>
              <a:rPr lang="es-ES" sz="1000" b="0" i="0">
                <a:effectLst/>
                <a:latin typeface="Consolas" panose="020B0609020204030204" pitchFamily="49" charset="0"/>
              </a:rPr>
              <a:t>Ka=0.5, Kb=0.5 </a:t>
            </a:r>
          </a:p>
          <a:p>
            <a:r>
              <a:rPr lang="es-ES" sz="1000" b="0" i="0">
                <a:effectLst/>
                <a:latin typeface="Consolas" panose="020B0609020204030204" pitchFamily="49" charset="0"/>
              </a:rPr>
              <a:t>ER H00 = 1.323 dB = ER H01 = 1.323 dB</a:t>
            </a:r>
          </a:p>
          <a:p>
            <a:r>
              <a:rPr lang="es-ES" sz="1000" b="0" i="0">
                <a:effectLst/>
                <a:latin typeface="Consolas" panose="020B0609020204030204" pitchFamily="49" charset="0"/>
              </a:rPr>
              <a:t> </a:t>
            </a:r>
          </a:p>
          <a:p>
            <a:r>
              <a:rPr lang="es-ES" sz="1000" b="0" i="0" u="sng">
                <a:effectLst/>
                <a:latin typeface="Consolas" panose="020B0609020204030204" pitchFamily="49" charset="0"/>
              </a:rPr>
              <a:t>Case 2: </a:t>
            </a:r>
          </a:p>
          <a:p>
            <a:r>
              <a:rPr lang="es-ES" sz="1000" b="0" i="0">
                <a:effectLst/>
                <a:latin typeface="Consolas" panose="020B0609020204030204" pitchFamily="49" charset="0"/>
              </a:rPr>
              <a:t>Ka=0.1, Kb=0.5 </a:t>
            </a:r>
          </a:p>
          <a:p>
            <a:r>
              <a:rPr lang="es-ES" sz="1000" b="0" i="0">
                <a:effectLst/>
                <a:latin typeface="Consolas" panose="020B0609020204030204" pitchFamily="49" charset="0"/>
              </a:rPr>
              <a:t>ER H00 = 0.440 dB = ER H01 = 0.440 dB</a:t>
            </a:r>
            <a:endParaRPr lang="es-ES" sz="1000"/>
          </a:p>
        </p:txBody>
      </p:sp>
    </p:spTree>
    <p:extLst>
      <p:ext uri="{BB962C8B-B14F-4D97-AF65-F5344CB8AC3E}">
        <p14:creationId xmlns:p14="http://schemas.microsoft.com/office/powerpoint/2010/main" val="147571060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D7C73A-4B1A-3ECB-831D-CDACFAB5744F}"/>
            </a:ext>
          </a:extLst>
        </p:cNvPr>
        <p:cNvGrpSpPr/>
        <p:nvPr/>
      </p:nvGrpSpPr>
      <p:grpSpPr>
        <a:xfrm>
          <a:off x="0" y="0"/>
          <a:ext cx="0" cy="0"/>
          <a:chOff x="0" y="0"/>
          <a:chExt cx="0" cy="0"/>
        </a:xfrm>
      </p:grpSpPr>
      <p:sp>
        <p:nvSpPr>
          <p:cNvPr id="5" name="Marcador de pie de página 4">
            <a:extLst>
              <a:ext uri="{FF2B5EF4-FFF2-40B4-BE49-F238E27FC236}">
                <a16:creationId xmlns:a16="http://schemas.microsoft.com/office/drawing/2014/main" id="{C6F7DB66-E6A9-00F0-0B98-3DD846F9443F}"/>
              </a:ext>
            </a:extLst>
          </p:cNvPr>
          <p:cNvSpPr>
            <a:spLocks noGrp="1"/>
          </p:cNvSpPr>
          <p:nvPr>
            <p:ph type="ftr" sz="quarter" idx="5"/>
          </p:nvPr>
        </p:nvSpPr>
        <p:spPr/>
        <p:txBody>
          <a:bodyPr/>
          <a:lstStyle/>
          <a:p>
            <a:r>
              <a:rPr lang="en-US"/>
              <a:t>LAB 3.0. CIRCUITS &amp; COMPACT MODELS</a:t>
            </a:r>
          </a:p>
        </p:txBody>
      </p:sp>
      <p:sp>
        <p:nvSpPr>
          <p:cNvPr id="6" name="Marcador de número de diapositiva 5">
            <a:extLst>
              <a:ext uri="{FF2B5EF4-FFF2-40B4-BE49-F238E27FC236}">
                <a16:creationId xmlns:a16="http://schemas.microsoft.com/office/drawing/2014/main" id="{5AE3523D-C327-2023-983C-9F98195E94CD}"/>
              </a:ext>
            </a:extLst>
          </p:cNvPr>
          <p:cNvSpPr>
            <a:spLocks noGrp="1"/>
          </p:cNvSpPr>
          <p:nvPr>
            <p:ph type="sldNum" sz="quarter" idx="7"/>
          </p:nvPr>
        </p:nvSpPr>
        <p:spPr/>
        <p:txBody>
          <a:bodyPr/>
          <a:lstStyle/>
          <a:p>
            <a:fld id="{C2F52289-4012-4053-9770-FE82CEB9514F}" type="slidenum">
              <a:rPr lang="en-US" smtClean="0"/>
              <a:pPr/>
              <a:t>6</a:t>
            </a:fld>
            <a:endParaRPr lang="en-US"/>
          </a:p>
        </p:txBody>
      </p:sp>
      <p:pic>
        <p:nvPicPr>
          <p:cNvPr id="10" name="Gráfico 9">
            <a:extLst>
              <a:ext uri="{FF2B5EF4-FFF2-40B4-BE49-F238E27FC236}">
                <a16:creationId xmlns:a16="http://schemas.microsoft.com/office/drawing/2014/main" id="{E55273B1-98A9-4502-7420-9F5FAC1B02D3}"/>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045006" y="6356057"/>
            <a:ext cx="6409575" cy="363174"/>
          </a:xfrm>
          <a:prstGeom prst="rect">
            <a:avLst/>
          </a:prstGeom>
        </p:spPr>
      </p:pic>
      <p:sp>
        <p:nvSpPr>
          <p:cNvPr id="13" name="object 16">
            <a:extLst>
              <a:ext uri="{FF2B5EF4-FFF2-40B4-BE49-F238E27FC236}">
                <a16:creationId xmlns:a16="http://schemas.microsoft.com/office/drawing/2014/main" id="{A0B205CC-4DFB-378A-558D-A2A2ED5E42D0}"/>
              </a:ext>
            </a:extLst>
          </p:cNvPr>
          <p:cNvSpPr txBox="1">
            <a:spLocks/>
          </p:cNvSpPr>
          <p:nvPr/>
        </p:nvSpPr>
        <p:spPr>
          <a:xfrm>
            <a:off x="452914" y="272557"/>
            <a:ext cx="10994410" cy="718145"/>
          </a:xfrm>
          <a:prstGeom prst="rect">
            <a:avLst/>
          </a:prstGeom>
        </p:spPr>
        <p:txBody>
          <a:bodyPr vert="horz" wrap="square" lIns="0" tIns="12700" rIns="0" bIns="0" rtlCol="0">
            <a:spAutoFit/>
          </a:bodyPr>
          <a:lstStyle>
            <a:lvl1pPr>
              <a:defRPr sz="2000" b="1" i="0">
                <a:solidFill>
                  <a:schemeClr val="tx1"/>
                </a:solidFill>
                <a:latin typeface="Calibri"/>
                <a:ea typeface="+mj-ea"/>
                <a:cs typeface="Calibri"/>
              </a:defRPr>
            </a:lvl1pPr>
          </a:lstStyle>
          <a:p>
            <a:pPr marL="12700">
              <a:spcBef>
                <a:spcPts val="100"/>
              </a:spcBef>
            </a:pPr>
            <a:r>
              <a:rPr lang="en-US" sz="2500" kern="0"/>
              <a:t>Learning outcome #3 – Delay imbalance with loss</a:t>
            </a:r>
          </a:p>
          <a:p>
            <a:pPr marL="12700">
              <a:spcBef>
                <a:spcPts val="100"/>
              </a:spcBef>
            </a:pPr>
            <a:r>
              <a:rPr lang="en-US" b="0" kern="0" spc="-5">
                <a:latin typeface="+mj-lt"/>
                <a:cs typeface="Lucida Sans"/>
              </a:rPr>
              <a:t>Fringe visibility</a:t>
            </a:r>
            <a:endParaRPr lang="en-US" b="0" kern="0">
              <a:latin typeface="+mj-lt"/>
              <a:cs typeface="Lucida Sans"/>
            </a:endParaRPr>
          </a:p>
        </p:txBody>
      </p:sp>
      <p:sp>
        <p:nvSpPr>
          <p:cNvPr id="2" name="CuadroTexto 1">
            <a:extLst>
              <a:ext uri="{FF2B5EF4-FFF2-40B4-BE49-F238E27FC236}">
                <a16:creationId xmlns:a16="http://schemas.microsoft.com/office/drawing/2014/main" id="{93680D0A-AE0D-8B09-08E2-1FEBB4009ED3}"/>
              </a:ext>
            </a:extLst>
          </p:cNvPr>
          <p:cNvSpPr txBox="1"/>
          <p:nvPr/>
        </p:nvSpPr>
        <p:spPr>
          <a:xfrm>
            <a:off x="279400" y="958258"/>
            <a:ext cx="11836400" cy="5478423"/>
          </a:xfrm>
          <a:prstGeom prst="rect">
            <a:avLst/>
          </a:prstGeom>
          <a:solidFill>
            <a:schemeClr val="bg1">
              <a:lumMod val="95000"/>
            </a:schemeClr>
          </a:solidFill>
          <a:ln w="28575">
            <a:solidFill>
              <a:srgbClr val="E0700D"/>
            </a:solidFill>
          </a:ln>
        </p:spPr>
        <p:txBody>
          <a:bodyPr wrap="square" rtlCol="0">
            <a:spAutoFit/>
          </a:bodyPr>
          <a:lstStyle/>
          <a:p>
            <a:r>
              <a:rPr lang="en-US" sz="1400" b="1" dirty="0">
                <a:solidFill>
                  <a:schemeClr val="tx2">
                    <a:lumMod val="60000"/>
                    <a:lumOff val="40000"/>
                  </a:schemeClr>
                </a:solidFill>
              </a:rPr>
              <a:t>Comment results: describe the transfer function, is there any interference pattern in case 1? Is there any interference pattern in case 2? Explain the difference between both cases. Compare the Extinction Ratio of both variations.</a:t>
            </a:r>
            <a:endParaRPr lang="es-ES" sz="1400" b="1" dirty="0">
              <a:solidFill>
                <a:schemeClr val="tx2">
                  <a:lumMod val="60000"/>
                  <a:lumOff val="40000"/>
                </a:schemeClr>
              </a:solidFill>
            </a:endParaRPr>
          </a:p>
          <a:p>
            <a:r>
              <a:rPr lang="es-ES" sz="1400" dirty="0"/>
              <a:t>La función de transferencia del MZI se basa en la interferencia de los dos campos que se propagan por sus brazos. Según la teoría de interferencia, la intensidad resultante depende de la fase relativa y de las amplitudes de ambos campos:</a:t>
            </a:r>
          </a:p>
          <a:p>
            <a:endParaRPr lang="es-ES" sz="1400" dirty="0"/>
          </a:p>
          <a:p>
            <a:pPr algn="ctr"/>
            <a:r>
              <a:rPr lang="es-ES" sz="1400" dirty="0"/>
              <a:t>I = I1 + I2 + 2√(I1I2) cos(</a:t>
            </a:r>
            <a:r>
              <a:rPr lang="es-ES" sz="1400" dirty="0" err="1"/>
              <a:t>Δφ</a:t>
            </a:r>
            <a:r>
              <a:rPr lang="es-ES" sz="1400" dirty="0"/>
              <a:t>)</a:t>
            </a:r>
          </a:p>
          <a:p>
            <a:endParaRPr lang="es-ES" sz="1400" dirty="0"/>
          </a:p>
          <a:p>
            <a:r>
              <a:rPr lang="es-ES" sz="1400" dirty="0"/>
              <a:t>En este MZI existe un gran desbalance de longitud, por lo que aparece una fase diferencial dependiente de la longitud de onda. Al variar λ, </a:t>
            </a:r>
            <a:r>
              <a:rPr lang="es-ES" sz="1400" dirty="0" err="1"/>
              <a:t>Δφ</a:t>
            </a:r>
            <a:r>
              <a:rPr lang="es-ES" sz="1400" dirty="0"/>
              <a:t> cambia periódicamente y por eso aparecen franjas de interferencia en la transferencia.</a:t>
            </a:r>
          </a:p>
          <a:p>
            <a:endParaRPr lang="es-ES" sz="1400" dirty="0"/>
          </a:p>
          <a:p>
            <a:r>
              <a:rPr lang="es-ES" sz="1400" dirty="0"/>
              <a:t>En el Caso 1, con Ka = Kb = 0.5, sí aparece un patrón de interferencia periódico. Teóricamente, los acopladores 50/50 reparten la potencia de forma equilibrada, pero el brazo largo tiene más pérdidas. Por tanto, los campos que llegan al acoplador de salida no tienen la misma amplitud y la interferencia destructiva no puede ser perfecta. Esto limita la visibilidad de las franjas y el </a:t>
            </a:r>
            <a:r>
              <a:rPr lang="es-ES" sz="1400" dirty="0" err="1"/>
              <a:t>Extinction</a:t>
            </a:r>
            <a:r>
              <a:rPr lang="es-ES" sz="1400" dirty="0"/>
              <a:t> Ratio.</a:t>
            </a:r>
          </a:p>
          <a:p>
            <a:endParaRPr lang="es-ES" sz="1400" dirty="0"/>
          </a:p>
          <a:p>
            <a:r>
              <a:rPr lang="es-ES" sz="1400" dirty="0"/>
              <a:t>En el Caso 2, con Ka = 0.1 y Kb = 0.5, también aparece interferencia porque sigue existiendo una fase diferencial entre los brazos. Sin embargo, al cambiar Ka se modifica el reparto de potencia en el acoplador de entrada. Según el término 2√(I1I2), el contraste de interferencia depende del producto de las intensidades de ambos brazos. Si una rama llega mucho más débil que la otra, el contraste disminuye.</a:t>
            </a:r>
          </a:p>
          <a:p>
            <a:endParaRPr lang="es-ES" sz="1400" dirty="0"/>
          </a:p>
          <a:p>
            <a:r>
              <a:rPr lang="es-ES" sz="1400" dirty="0"/>
              <a:t>Por eso el Caso 2 presenta menor visibilidad relativa y menor </a:t>
            </a:r>
            <a:r>
              <a:rPr lang="es-ES" sz="1400" dirty="0" err="1"/>
              <a:t>Extinction</a:t>
            </a:r>
            <a:r>
              <a:rPr lang="es-ES" sz="1400" dirty="0"/>
              <a:t> Ratio que el Caso 1, Ka=0.1 envía menos potencia al brazo largo, que ya acumula 22.384 dB de pérdida extra, agravando el desequilibrio respecto al Caso 1. La diferencia entre ambos casos no está en la existencia de interferencia, sino en el balance de amplitudes de los campos que interfieren.</a:t>
            </a:r>
          </a:p>
          <a:p>
            <a:endParaRPr lang="es-ES" sz="1400" dirty="0"/>
          </a:p>
          <a:p>
            <a:r>
              <a:rPr lang="en-US" sz="1400" b="1" dirty="0">
                <a:solidFill>
                  <a:schemeClr val="tx2">
                    <a:lumMod val="60000"/>
                    <a:lumOff val="40000"/>
                  </a:schemeClr>
                </a:solidFill>
              </a:rPr>
              <a:t>Extra: What coupling coefficient will you select for the input coupler if you want to match the losses of the longer arm? Simulate and extract the ER.</a:t>
            </a:r>
            <a:endParaRPr lang="es-ES" sz="1400" b="1" dirty="0">
              <a:solidFill>
                <a:schemeClr val="tx2">
                  <a:lumMod val="60000"/>
                  <a:lumOff val="40000"/>
                </a:schemeClr>
              </a:solidFill>
            </a:endParaRPr>
          </a:p>
          <a:p>
            <a:r>
              <a:rPr lang="es-ES" sz="1400" dirty="0"/>
              <a:t>Para maximizar la visibilidad hay que igualar las amplitudes que llegan al acoplador de salida. Como el brazo largo tiene una pérdida extra de 22.384 dB, se debe enviar más potencia a ese brazo desde el acoplador de entrada. Al imponer el balance de amplitudes se obtiene Ka ≈ 0.994, manteniendo Kb = 0.5.</a:t>
            </a:r>
          </a:p>
        </p:txBody>
      </p:sp>
    </p:spTree>
    <p:extLst>
      <p:ext uri="{BB962C8B-B14F-4D97-AF65-F5344CB8AC3E}">
        <p14:creationId xmlns:p14="http://schemas.microsoft.com/office/powerpoint/2010/main" val="234142571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Marcador de pie de página 4">
            <a:extLst>
              <a:ext uri="{FF2B5EF4-FFF2-40B4-BE49-F238E27FC236}">
                <a16:creationId xmlns:a16="http://schemas.microsoft.com/office/drawing/2014/main" id="{F929251A-3DC4-36B2-3FB3-341378364BED}"/>
              </a:ext>
            </a:extLst>
          </p:cNvPr>
          <p:cNvSpPr>
            <a:spLocks noGrp="1"/>
          </p:cNvSpPr>
          <p:nvPr>
            <p:ph type="ftr" sz="quarter" idx="5"/>
          </p:nvPr>
        </p:nvSpPr>
        <p:spPr/>
        <p:txBody>
          <a:bodyPr/>
          <a:lstStyle/>
          <a:p>
            <a:r>
              <a:rPr lang="en-US"/>
              <a:t>LAB 3.0. CIRCUITS &amp; COMPACT MODELS</a:t>
            </a:r>
          </a:p>
        </p:txBody>
      </p:sp>
      <p:sp>
        <p:nvSpPr>
          <p:cNvPr id="6" name="Marcador de número de diapositiva 5">
            <a:extLst>
              <a:ext uri="{FF2B5EF4-FFF2-40B4-BE49-F238E27FC236}">
                <a16:creationId xmlns:a16="http://schemas.microsoft.com/office/drawing/2014/main" id="{8E91A34C-DF76-97CF-3EFD-546BC64A2184}"/>
              </a:ext>
            </a:extLst>
          </p:cNvPr>
          <p:cNvSpPr>
            <a:spLocks noGrp="1"/>
          </p:cNvSpPr>
          <p:nvPr>
            <p:ph type="sldNum" sz="quarter" idx="7"/>
          </p:nvPr>
        </p:nvSpPr>
        <p:spPr/>
        <p:txBody>
          <a:bodyPr/>
          <a:lstStyle/>
          <a:p>
            <a:fld id="{C2F52289-4012-4053-9770-FE82CEB9514F}" type="slidenum">
              <a:rPr lang="en-US" smtClean="0"/>
              <a:pPr/>
              <a:t>7</a:t>
            </a:fld>
            <a:endParaRPr lang="en-US"/>
          </a:p>
        </p:txBody>
      </p:sp>
      <p:sp>
        <p:nvSpPr>
          <p:cNvPr id="8" name="CuadroTexto 7">
            <a:extLst>
              <a:ext uri="{FF2B5EF4-FFF2-40B4-BE49-F238E27FC236}">
                <a16:creationId xmlns:a16="http://schemas.microsoft.com/office/drawing/2014/main" id="{D9601617-351E-AE1A-1F4D-693F2EA59361}"/>
              </a:ext>
            </a:extLst>
          </p:cNvPr>
          <p:cNvSpPr txBox="1"/>
          <p:nvPr/>
        </p:nvSpPr>
        <p:spPr>
          <a:xfrm>
            <a:off x="609600" y="3669405"/>
            <a:ext cx="11199530" cy="2677656"/>
          </a:xfrm>
          <a:prstGeom prst="rect">
            <a:avLst/>
          </a:prstGeom>
          <a:solidFill>
            <a:schemeClr val="bg1">
              <a:lumMod val="95000"/>
            </a:schemeClr>
          </a:solidFill>
          <a:ln w="28575">
            <a:solidFill>
              <a:srgbClr val="E0700D"/>
            </a:solidFill>
          </a:ln>
        </p:spPr>
        <p:txBody>
          <a:bodyPr wrap="square" rtlCol="0">
            <a:spAutoFit/>
          </a:bodyPr>
          <a:lstStyle/>
          <a:p>
            <a:pPr algn="just"/>
            <a:r>
              <a:rPr lang="en-US" sz="1200" b="1" i="1">
                <a:solidFill>
                  <a:schemeClr val="tx2">
                    <a:lumMod val="60000"/>
                    <a:lumOff val="40000"/>
                  </a:schemeClr>
                </a:solidFill>
                <a:latin typeface="Arial" panose="020B0604020202020204" pitchFamily="34" charset="0"/>
                <a:cs typeface="Arial" panose="020B0604020202020204" pitchFamily="34" charset="0"/>
              </a:rPr>
              <a:t>Comment results: describer the transfer functions. which is the FSR? How is it related to the ring perimeter? </a:t>
            </a:r>
          </a:p>
          <a:p>
            <a:pPr algn="just"/>
            <a:endParaRPr lang="en-US" sz="1200" b="1" i="1">
              <a:solidFill>
                <a:schemeClr val="tx2">
                  <a:lumMod val="60000"/>
                  <a:lumOff val="40000"/>
                </a:schemeClr>
              </a:solidFill>
              <a:latin typeface="Arial" panose="020B0604020202020204" pitchFamily="34" charset="0"/>
              <a:cs typeface="Arial" panose="020B0604020202020204" pitchFamily="34" charset="0"/>
            </a:endParaRPr>
          </a:p>
          <a:p>
            <a:pPr algn="just"/>
            <a:r>
              <a:rPr lang="es-ES" sz="1200">
                <a:latin typeface="Arial" panose="020B0604020202020204" pitchFamily="34" charset="0"/>
                <a:cs typeface="Arial" panose="020B0604020202020204" pitchFamily="34" charset="0"/>
              </a:rPr>
              <a:t>El resonador de anillo simple se basa en la recirculación del campo óptico dentro del anillo. En cada vuelta, el campo acumula una fase de round-</a:t>
            </a:r>
            <a:r>
              <a:rPr lang="es-ES" sz="1200" err="1">
                <a:latin typeface="Arial" panose="020B0604020202020204" pitchFamily="34" charset="0"/>
                <a:cs typeface="Arial" panose="020B0604020202020204" pitchFamily="34" charset="0"/>
              </a:rPr>
              <a:t>trip</a:t>
            </a:r>
            <a:r>
              <a:rPr lang="es-ES" sz="1200">
                <a:latin typeface="Arial" panose="020B0604020202020204" pitchFamily="34" charset="0"/>
                <a:cs typeface="Arial" panose="020B0604020202020204" pitchFamily="34" charset="0"/>
              </a:rPr>
              <a:t> φ y una atenuación a. Cuando la fase acumulada cumple la condición de resonancia, el campo que vuelve del anillo interfiere con el campo transmitido por el bus, produciendo mínimos periódicos de transmisión.</a:t>
            </a:r>
          </a:p>
          <a:p>
            <a:pPr algn="just"/>
            <a:r>
              <a:rPr lang="es-ES" sz="1200">
                <a:latin typeface="Arial" panose="020B0604020202020204" pitchFamily="34" charset="0"/>
                <a:cs typeface="Arial" panose="020B0604020202020204" pitchFamily="34" charset="0"/>
              </a:rPr>
              <a:t>Esto explica las gráficas: tanto en escala lineal como en logarítmica se observan claramente las caídas periódicas</a:t>
            </a:r>
            <a:r>
              <a:rPr lang="es-ES" sz="1200"/>
              <a:t> , </a:t>
            </a:r>
            <a:r>
              <a:rPr lang="es-ES" sz="1200">
                <a:latin typeface="Arial" panose="020B0604020202020204" pitchFamily="34" charset="0"/>
                <a:cs typeface="Arial" panose="020B0604020202020204" pitchFamily="34" charset="0"/>
              </a:rPr>
              <a:t>correspondientes a las resonancias del anillo. El FSR es la separación en longitud de onda entre dos resonancias consecutivas. Está relacionado con el perímetro del anillo mediante:</a:t>
            </a:r>
          </a:p>
          <a:p>
            <a:pPr algn="just"/>
            <a:r>
              <a:rPr lang="es-ES" sz="1200">
                <a:latin typeface="Arial" panose="020B0604020202020204" pitchFamily="34" charset="0"/>
                <a:cs typeface="Arial" panose="020B0604020202020204" pitchFamily="34" charset="0"/>
              </a:rPr>
              <a:t>Por tanto, el FSR esperado es aproximadamente 24 nm, que coincide con la separación entre mínimos consecutivos en la gráfica.</a:t>
            </a:r>
          </a:p>
          <a:p>
            <a:pPr algn="just"/>
            <a:endParaRPr lang="en-US" sz="1200">
              <a:latin typeface="Arial" panose="020B0604020202020204" pitchFamily="34" charset="0"/>
              <a:cs typeface="Arial" panose="020B0604020202020204" pitchFamily="34" charset="0"/>
            </a:endParaRPr>
          </a:p>
          <a:p>
            <a:pPr algn="just"/>
            <a:r>
              <a:rPr lang="en-US" sz="1200" b="1" i="1">
                <a:solidFill>
                  <a:schemeClr val="tx2">
                    <a:lumMod val="60000"/>
                    <a:lumOff val="40000"/>
                  </a:schemeClr>
                </a:solidFill>
                <a:latin typeface="Arial" panose="020B0604020202020204" pitchFamily="34" charset="0"/>
                <a:cs typeface="Arial" panose="020B0604020202020204" pitchFamily="34" charset="0"/>
              </a:rPr>
              <a:t>Show a numeric calculation of the FSR and length difference matching the results in the graph</a:t>
            </a:r>
            <a:r>
              <a:rPr lang="en-US" sz="1200">
                <a:latin typeface="Arial" panose="020B0604020202020204" pitchFamily="34" charset="0"/>
                <a:cs typeface="Arial" panose="020B0604020202020204" pitchFamily="34" charset="0"/>
              </a:rPr>
              <a:t>,</a:t>
            </a:r>
          </a:p>
          <a:p>
            <a:pPr algn="just"/>
            <a:endParaRPr lang="en-US" sz="1200">
              <a:latin typeface="Arial" panose="020B0604020202020204" pitchFamily="34" charset="0"/>
              <a:cs typeface="Arial" panose="020B0604020202020204" pitchFamily="34" charset="0"/>
            </a:endParaRPr>
          </a:p>
          <a:p>
            <a:pPr algn="just"/>
            <a:endParaRPr lang="en-US" sz="1200">
              <a:latin typeface="Arial" panose="020B0604020202020204" pitchFamily="34" charset="0"/>
              <a:cs typeface="Arial" panose="020B0604020202020204" pitchFamily="34" charset="0"/>
            </a:endParaRPr>
          </a:p>
          <a:p>
            <a:pPr algn="just"/>
            <a:endParaRPr lang="en-US" sz="1200">
              <a:latin typeface="Arial" panose="020B0604020202020204" pitchFamily="34" charset="0"/>
              <a:cs typeface="Arial" panose="020B0604020202020204" pitchFamily="34" charset="0"/>
            </a:endParaRPr>
          </a:p>
          <a:p>
            <a:pPr algn="just"/>
            <a:endParaRPr lang="en-US" sz="1200">
              <a:latin typeface="Arial" panose="020B0604020202020204" pitchFamily="34" charset="0"/>
              <a:cs typeface="Arial" panose="020B0604020202020204" pitchFamily="34" charset="0"/>
            </a:endParaRPr>
          </a:p>
        </p:txBody>
      </p:sp>
      <p:sp>
        <p:nvSpPr>
          <p:cNvPr id="11" name="Rectángulo 10">
            <a:extLst>
              <a:ext uri="{FF2B5EF4-FFF2-40B4-BE49-F238E27FC236}">
                <a16:creationId xmlns:a16="http://schemas.microsoft.com/office/drawing/2014/main" id="{B811A5F9-C0B5-716C-70FB-9472E1BC2CD3}"/>
              </a:ext>
            </a:extLst>
          </p:cNvPr>
          <p:cNvSpPr/>
          <p:nvPr/>
        </p:nvSpPr>
        <p:spPr>
          <a:xfrm>
            <a:off x="609600" y="902686"/>
            <a:ext cx="5650493" cy="2677597"/>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CuadroTexto 11">
            <a:extLst>
              <a:ext uri="{FF2B5EF4-FFF2-40B4-BE49-F238E27FC236}">
                <a16:creationId xmlns:a16="http://schemas.microsoft.com/office/drawing/2014/main" id="{1D17C364-5A66-F740-B152-8B41A2A4EF26}"/>
              </a:ext>
            </a:extLst>
          </p:cNvPr>
          <p:cNvSpPr txBox="1"/>
          <p:nvPr/>
        </p:nvSpPr>
        <p:spPr>
          <a:xfrm>
            <a:off x="7432589" y="1776963"/>
            <a:ext cx="2033313" cy="1323439"/>
          </a:xfrm>
          <a:prstGeom prst="rect">
            <a:avLst/>
          </a:prstGeom>
          <a:noFill/>
        </p:spPr>
        <p:txBody>
          <a:bodyPr wrap="none" rtlCol="0">
            <a:spAutoFit/>
          </a:bodyPr>
          <a:lstStyle/>
          <a:p>
            <a:pPr algn="ctr"/>
            <a:r>
              <a:rPr lang="es-ES" sz="2000"/>
              <a:t>Single ring</a:t>
            </a:r>
          </a:p>
          <a:p>
            <a:pPr algn="ctr"/>
            <a:r>
              <a:rPr lang="es-ES" sz="2000"/>
              <a:t>transfer </a:t>
            </a:r>
            <a:r>
              <a:rPr lang="es-ES" sz="2000" err="1"/>
              <a:t>functions</a:t>
            </a:r>
            <a:endParaRPr lang="es-ES" sz="2000"/>
          </a:p>
          <a:p>
            <a:pPr algn="ctr"/>
            <a:endParaRPr lang="es-ES" sz="2000"/>
          </a:p>
          <a:p>
            <a:pPr algn="ctr"/>
            <a:r>
              <a:rPr lang="es-ES" sz="2000" err="1"/>
              <a:t>Logaritmic</a:t>
            </a:r>
            <a:r>
              <a:rPr lang="es-ES" sz="2000"/>
              <a:t> </a:t>
            </a:r>
            <a:r>
              <a:rPr lang="es-ES" sz="2000" err="1"/>
              <a:t>units</a:t>
            </a:r>
            <a:endParaRPr lang="en-US" sz="2000"/>
          </a:p>
        </p:txBody>
      </p:sp>
      <p:sp>
        <p:nvSpPr>
          <p:cNvPr id="14" name="Rectángulo 13">
            <a:extLst>
              <a:ext uri="{FF2B5EF4-FFF2-40B4-BE49-F238E27FC236}">
                <a16:creationId xmlns:a16="http://schemas.microsoft.com/office/drawing/2014/main" id="{6AA857E7-5C39-DCE1-10B5-40300FCF4B26}"/>
              </a:ext>
            </a:extLst>
          </p:cNvPr>
          <p:cNvSpPr/>
          <p:nvPr/>
        </p:nvSpPr>
        <p:spPr>
          <a:xfrm>
            <a:off x="6362915" y="906491"/>
            <a:ext cx="5463468" cy="2673792"/>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CuadroTexto 14">
            <a:extLst>
              <a:ext uri="{FF2B5EF4-FFF2-40B4-BE49-F238E27FC236}">
                <a16:creationId xmlns:a16="http://schemas.microsoft.com/office/drawing/2014/main" id="{54CF28B4-1346-F41D-2CD8-EA104ABBFB98}"/>
              </a:ext>
            </a:extLst>
          </p:cNvPr>
          <p:cNvSpPr txBox="1"/>
          <p:nvPr/>
        </p:nvSpPr>
        <p:spPr>
          <a:xfrm>
            <a:off x="1524000" y="1942635"/>
            <a:ext cx="2033313" cy="1323439"/>
          </a:xfrm>
          <a:prstGeom prst="rect">
            <a:avLst/>
          </a:prstGeom>
          <a:noFill/>
        </p:spPr>
        <p:txBody>
          <a:bodyPr wrap="none" rtlCol="0">
            <a:spAutoFit/>
          </a:bodyPr>
          <a:lstStyle/>
          <a:p>
            <a:pPr algn="ctr"/>
            <a:r>
              <a:rPr lang="es-ES" sz="2000"/>
              <a:t>Single ring</a:t>
            </a:r>
          </a:p>
          <a:p>
            <a:pPr algn="ctr"/>
            <a:r>
              <a:rPr lang="es-ES" sz="2000"/>
              <a:t>transfer </a:t>
            </a:r>
            <a:r>
              <a:rPr lang="es-ES" sz="2000" err="1"/>
              <a:t>functions</a:t>
            </a:r>
            <a:endParaRPr lang="es-ES" sz="2000"/>
          </a:p>
          <a:p>
            <a:pPr algn="ctr"/>
            <a:endParaRPr lang="es-ES" sz="2000"/>
          </a:p>
          <a:p>
            <a:pPr algn="ctr"/>
            <a:r>
              <a:rPr lang="es-ES" sz="2000"/>
              <a:t>Linear </a:t>
            </a:r>
            <a:r>
              <a:rPr lang="es-ES" sz="2000" err="1"/>
              <a:t>units</a:t>
            </a:r>
            <a:endParaRPr lang="en-US" sz="2000"/>
          </a:p>
        </p:txBody>
      </p:sp>
      <p:pic>
        <p:nvPicPr>
          <p:cNvPr id="9" name="Gráfico 8">
            <a:extLst>
              <a:ext uri="{FF2B5EF4-FFF2-40B4-BE49-F238E27FC236}">
                <a16:creationId xmlns:a16="http://schemas.microsoft.com/office/drawing/2014/main" id="{83C716FC-7070-6DA5-E116-195D4CD9BDB4}"/>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045006" y="6356057"/>
            <a:ext cx="6409575" cy="363174"/>
          </a:xfrm>
          <a:prstGeom prst="rect">
            <a:avLst/>
          </a:prstGeom>
        </p:spPr>
      </p:pic>
      <p:sp>
        <p:nvSpPr>
          <p:cNvPr id="10" name="object 16">
            <a:extLst>
              <a:ext uri="{FF2B5EF4-FFF2-40B4-BE49-F238E27FC236}">
                <a16:creationId xmlns:a16="http://schemas.microsoft.com/office/drawing/2014/main" id="{C319E249-48A9-70AD-7ACE-23CF9ABF6137}"/>
              </a:ext>
            </a:extLst>
          </p:cNvPr>
          <p:cNvSpPr txBox="1">
            <a:spLocks/>
          </p:cNvSpPr>
          <p:nvPr/>
        </p:nvSpPr>
        <p:spPr>
          <a:xfrm>
            <a:off x="219898" y="99204"/>
            <a:ext cx="10994410" cy="718145"/>
          </a:xfrm>
          <a:prstGeom prst="rect">
            <a:avLst/>
          </a:prstGeom>
        </p:spPr>
        <p:txBody>
          <a:bodyPr vert="horz" wrap="square" lIns="0" tIns="12700" rIns="0" bIns="0" rtlCol="0">
            <a:spAutoFit/>
          </a:bodyPr>
          <a:lstStyle>
            <a:lvl1pPr>
              <a:defRPr sz="2000" b="1" i="0">
                <a:solidFill>
                  <a:schemeClr val="tx1"/>
                </a:solidFill>
                <a:latin typeface="Calibri"/>
                <a:ea typeface="+mj-ea"/>
                <a:cs typeface="Calibri"/>
              </a:defRPr>
            </a:lvl1pPr>
          </a:lstStyle>
          <a:p>
            <a:pPr marL="12700">
              <a:spcBef>
                <a:spcPts val="100"/>
              </a:spcBef>
            </a:pPr>
            <a:r>
              <a:rPr lang="en-US" sz="2500" kern="0"/>
              <a:t>Learning outcome #4 – Ring Resonator</a:t>
            </a:r>
          </a:p>
          <a:p>
            <a:pPr marL="12700">
              <a:spcBef>
                <a:spcPts val="100"/>
              </a:spcBef>
            </a:pPr>
            <a:r>
              <a:rPr lang="en-US" b="0" kern="0" spc="-5">
                <a:latin typeface="+mj-lt"/>
                <a:cs typeface="Lucida Sans"/>
              </a:rPr>
              <a:t>Single ring resonator – most simple case Constant coupler K (no wavelength variation)</a:t>
            </a:r>
          </a:p>
        </p:txBody>
      </p:sp>
      <p:sp>
        <p:nvSpPr>
          <p:cNvPr id="21" name="CuadroTexto 20">
            <a:extLst>
              <a:ext uri="{FF2B5EF4-FFF2-40B4-BE49-F238E27FC236}">
                <a16:creationId xmlns:a16="http://schemas.microsoft.com/office/drawing/2014/main" id="{4D32FD07-7100-F1F7-690D-E3E4ABD8518E}"/>
              </a:ext>
            </a:extLst>
          </p:cNvPr>
          <p:cNvSpPr txBox="1"/>
          <p:nvPr/>
        </p:nvSpPr>
        <p:spPr>
          <a:xfrm>
            <a:off x="697725" y="5642170"/>
            <a:ext cx="2321085" cy="646331"/>
          </a:xfrm>
          <a:prstGeom prst="rect">
            <a:avLst/>
          </a:prstGeom>
          <a:noFill/>
          <a:ln>
            <a:solidFill>
              <a:schemeClr val="tx1"/>
            </a:solidFill>
          </a:ln>
        </p:spPr>
        <p:txBody>
          <a:bodyPr wrap="square">
            <a:spAutoFit/>
          </a:bodyPr>
          <a:lstStyle/>
          <a:p>
            <a:r>
              <a:rPr lang="es-ES" sz="1200" b="0" i="0">
                <a:effectLst/>
                <a:latin typeface="Consolas" panose="020B0609020204030204" pitchFamily="49" charset="0"/>
              </a:rPr>
              <a:t>Ring </a:t>
            </a:r>
            <a:r>
              <a:rPr lang="es-ES" sz="1200" b="0" i="0" err="1">
                <a:effectLst/>
                <a:latin typeface="Consolas" panose="020B0609020204030204" pitchFamily="49" charset="0"/>
              </a:rPr>
              <a:t>perimeter</a:t>
            </a:r>
            <a:r>
              <a:rPr lang="es-ES" sz="1200" b="0" i="0">
                <a:effectLst/>
                <a:latin typeface="Consolas" panose="020B0609020204030204" pitchFamily="49" charset="0"/>
              </a:rPr>
              <a:t> = 50.00 </a:t>
            </a:r>
            <a:r>
              <a:rPr lang="es-ES" sz="1200" b="0" i="0" err="1">
                <a:effectLst/>
                <a:latin typeface="Consolas" panose="020B0609020204030204" pitchFamily="49" charset="0"/>
              </a:rPr>
              <a:t>um</a:t>
            </a:r>
            <a:r>
              <a:rPr lang="es-ES" sz="1200" b="0" i="0">
                <a:effectLst/>
                <a:latin typeface="Consolas" panose="020B0609020204030204" pitchFamily="49" charset="0"/>
              </a:rPr>
              <a:t> </a:t>
            </a:r>
          </a:p>
          <a:p>
            <a:r>
              <a:rPr lang="es-ES" sz="1200" b="0" i="0">
                <a:effectLst/>
                <a:latin typeface="Consolas" panose="020B0609020204030204" pitchFamily="49" charset="0"/>
              </a:rPr>
              <a:t>FSR = 0.024025 </a:t>
            </a:r>
            <a:r>
              <a:rPr lang="es-ES" sz="1200" b="0" i="0" err="1">
                <a:effectLst/>
                <a:latin typeface="Consolas" panose="020B0609020204030204" pitchFamily="49" charset="0"/>
              </a:rPr>
              <a:t>um</a:t>
            </a:r>
            <a:r>
              <a:rPr lang="es-ES" sz="1200" b="0" i="0">
                <a:effectLst/>
                <a:latin typeface="Consolas" panose="020B0609020204030204" pitchFamily="49" charset="0"/>
              </a:rPr>
              <a:t> </a:t>
            </a:r>
          </a:p>
          <a:p>
            <a:r>
              <a:rPr lang="es-ES" sz="1200" b="0" i="0">
                <a:effectLst/>
                <a:latin typeface="Consolas" panose="020B0609020204030204" pitchFamily="49" charset="0"/>
              </a:rPr>
              <a:t>FSR = 24.025 nm</a:t>
            </a:r>
            <a:endParaRPr lang="es-ES" sz="1200"/>
          </a:p>
        </p:txBody>
      </p:sp>
      <p:sp>
        <p:nvSpPr>
          <p:cNvPr id="23" name="CuadroTexto 22">
            <a:extLst>
              <a:ext uri="{FF2B5EF4-FFF2-40B4-BE49-F238E27FC236}">
                <a16:creationId xmlns:a16="http://schemas.microsoft.com/office/drawing/2014/main" id="{5129C36C-E811-D8B5-5DCB-48C7608DC798}"/>
              </a:ext>
            </a:extLst>
          </p:cNvPr>
          <p:cNvSpPr txBox="1"/>
          <p:nvPr/>
        </p:nvSpPr>
        <p:spPr>
          <a:xfrm>
            <a:off x="9383186" y="5341638"/>
            <a:ext cx="2344657" cy="938719"/>
          </a:xfrm>
          <a:prstGeom prst="rect">
            <a:avLst/>
          </a:prstGeom>
          <a:noFill/>
          <a:ln w="57150">
            <a:solidFill>
              <a:schemeClr val="accent1"/>
            </a:solidFill>
          </a:ln>
        </p:spPr>
        <p:txBody>
          <a:bodyPr wrap="square">
            <a:spAutoFit/>
          </a:bodyPr>
          <a:lstStyle/>
          <a:p>
            <a:pPr algn="just"/>
            <a:r>
              <a:rPr lang="es-ES" sz="1100">
                <a:latin typeface="Arial" panose="020B0604020202020204" pitchFamily="34" charset="0"/>
                <a:cs typeface="Arial" panose="020B0604020202020204" pitchFamily="34" charset="0"/>
              </a:rPr>
              <a:t>FSR = λ₀² / (ng · Lr)</a:t>
            </a:r>
          </a:p>
          <a:p>
            <a:pPr algn="just"/>
            <a:r>
              <a:rPr lang="es-ES" sz="1100">
                <a:latin typeface="Arial" panose="020B0604020202020204" pitchFamily="34" charset="0"/>
                <a:cs typeface="Arial" panose="020B0604020202020204" pitchFamily="34" charset="0"/>
              </a:rPr>
              <a:t>λ₀ = 1550 nm = 1.55 µm,</a:t>
            </a:r>
          </a:p>
          <a:p>
            <a:pPr algn="just"/>
            <a:r>
              <a:rPr lang="es-ES" sz="1100">
                <a:latin typeface="Arial" panose="020B0604020202020204" pitchFamily="34" charset="0"/>
                <a:cs typeface="Arial" panose="020B0604020202020204" pitchFamily="34" charset="0"/>
              </a:rPr>
              <a:t> ng = 2.0 y Lr = 50 µm:</a:t>
            </a:r>
          </a:p>
          <a:p>
            <a:pPr algn="just"/>
            <a:r>
              <a:rPr lang="es-ES" sz="1100">
                <a:latin typeface="Arial" panose="020B0604020202020204" pitchFamily="34" charset="0"/>
                <a:cs typeface="Arial" panose="020B0604020202020204" pitchFamily="34" charset="0"/>
              </a:rPr>
              <a:t>FSR = 1.55² / (2.0 · 50)</a:t>
            </a:r>
          </a:p>
          <a:p>
            <a:pPr algn="just"/>
            <a:r>
              <a:rPr lang="es-ES" sz="1100">
                <a:latin typeface="Arial" panose="020B0604020202020204" pitchFamily="34" charset="0"/>
                <a:cs typeface="Arial" panose="020B0604020202020204" pitchFamily="34" charset="0"/>
              </a:rPr>
              <a:t>FSR = 0.024025 µm = 24.025nm</a:t>
            </a:r>
          </a:p>
        </p:txBody>
      </p:sp>
      <p:pic>
        <p:nvPicPr>
          <p:cNvPr id="25" name="Imagen 24">
            <a:extLst>
              <a:ext uri="{FF2B5EF4-FFF2-40B4-BE49-F238E27FC236}">
                <a16:creationId xmlns:a16="http://schemas.microsoft.com/office/drawing/2014/main" id="{88122E3B-E9B9-1CA7-2F08-C0731DBD6A53}"/>
              </a:ext>
            </a:extLst>
          </p:cNvPr>
          <p:cNvPicPr>
            <a:picLocks noChangeAspect="1"/>
          </p:cNvPicPr>
          <p:nvPr/>
        </p:nvPicPr>
        <p:blipFill>
          <a:blip r:embed="rId4"/>
          <a:stretch>
            <a:fillRect/>
          </a:stretch>
        </p:blipFill>
        <p:spPr>
          <a:xfrm>
            <a:off x="696297" y="1335770"/>
            <a:ext cx="5543619" cy="2082374"/>
          </a:xfrm>
          <a:prstGeom prst="rect">
            <a:avLst/>
          </a:prstGeom>
        </p:spPr>
      </p:pic>
      <p:pic>
        <p:nvPicPr>
          <p:cNvPr id="27" name="Imagen 26">
            <a:extLst>
              <a:ext uri="{FF2B5EF4-FFF2-40B4-BE49-F238E27FC236}">
                <a16:creationId xmlns:a16="http://schemas.microsoft.com/office/drawing/2014/main" id="{D5E33251-5DAB-A407-B920-9C256ECDAA3F}"/>
              </a:ext>
            </a:extLst>
          </p:cNvPr>
          <p:cNvPicPr>
            <a:picLocks noChangeAspect="1"/>
          </p:cNvPicPr>
          <p:nvPr/>
        </p:nvPicPr>
        <p:blipFill>
          <a:blip r:embed="rId5"/>
          <a:stretch>
            <a:fillRect/>
          </a:stretch>
        </p:blipFill>
        <p:spPr>
          <a:xfrm>
            <a:off x="6463227" y="1305050"/>
            <a:ext cx="5264616" cy="2022260"/>
          </a:xfrm>
          <a:prstGeom prst="rect">
            <a:avLst/>
          </a:prstGeom>
        </p:spPr>
      </p:pic>
      <p:sp>
        <p:nvSpPr>
          <p:cNvPr id="16" name="Arrow: Bent 15">
            <a:extLst>
              <a:ext uri="{FF2B5EF4-FFF2-40B4-BE49-F238E27FC236}">
                <a16:creationId xmlns:a16="http://schemas.microsoft.com/office/drawing/2014/main" id="{613338DF-33F2-86C4-1C2D-507A08F0E698}"/>
              </a:ext>
            </a:extLst>
          </p:cNvPr>
          <p:cNvSpPr/>
          <p:nvPr/>
        </p:nvSpPr>
        <p:spPr>
          <a:xfrm rot="5400000">
            <a:off x="10082618" y="4710538"/>
            <a:ext cx="455112" cy="807091"/>
          </a:xfrm>
          <a:prstGeom prst="bentArrow">
            <a:avLst>
              <a:gd name="adj1" fmla="val 8317"/>
              <a:gd name="adj2" fmla="val 17984"/>
              <a:gd name="adj3" fmla="val 25000"/>
              <a:gd name="adj4" fmla="val 43750"/>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solidFill>
                <a:schemeClr val="tx1"/>
              </a:solidFill>
            </a:endParaRPr>
          </a:p>
        </p:txBody>
      </p:sp>
    </p:spTree>
    <p:extLst>
      <p:ext uri="{BB962C8B-B14F-4D97-AF65-F5344CB8AC3E}">
        <p14:creationId xmlns:p14="http://schemas.microsoft.com/office/powerpoint/2010/main" val="54318454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0CA2DF-810F-7BDA-CFF3-0CFEE760301A}"/>
            </a:ext>
          </a:extLst>
        </p:cNvPr>
        <p:cNvGrpSpPr/>
        <p:nvPr/>
      </p:nvGrpSpPr>
      <p:grpSpPr>
        <a:xfrm>
          <a:off x="0" y="0"/>
          <a:ext cx="0" cy="0"/>
          <a:chOff x="0" y="0"/>
          <a:chExt cx="0" cy="0"/>
        </a:xfrm>
      </p:grpSpPr>
      <p:sp>
        <p:nvSpPr>
          <p:cNvPr id="5" name="Marcador de pie de página 4">
            <a:extLst>
              <a:ext uri="{FF2B5EF4-FFF2-40B4-BE49-F238E27FC236}">
                <a16:creationId xmlns:a16="http://schemas.microsoft.com/office/drawing/2014/main" id="{4915C280-A84A-95DA-94D2-FE062C8ED61F}"/>
              </a:ext>
            </a:extLst>
          </p:cNvPr>
          <p:cNvSpPr>
            <a:spLocks noGrp="1"/>
          </p:cNvSpPr>
          <p:nvPr>
            <p:ph type="ftr" sz="quarter" idx="5"/>
          </p:nvPr>
        </p:nvSpPr>
        <p:spPr/>
        <p:txBody>
          <a:bodyPr/>
          <a:lstStyle/>
          <a:p>
            <a:r>
              <a:rPr lang="en-US"/>
              <a:t>LAB 3.0. CIRCUITS &amp; COMPACT MODELS</a:t>
            </a:r>
          </a:p>
        </p:txBody>
      </p:sp>
      <p:sp>
        <p:nvSpPr>
          <p:cNvPr id="6" name="Marcador de número de diapositiva 5">
            <a:extLst>
              <a:ext uri="{FF2B5EF4-FFF2-40B4-BE49-F238E27FC236}">
                <a16:creationId xmlns:a16="http://schemas.microsoft.com/office/drawing/2014/main" id="{E919F9EF-02D5-71FC-C2BC-F8EC5B26723E}"/>
              </a:ext>
            </a:extLst>
          </p:cNvPr>
          <p:cNvSpPr>
            <a:spLocks noGrp="1"/>
          </p:cNvSpPr>
          <p:nvPr>
            <p:ph type="sldNum" sz="quarter" idx="7"/>
          </p:nvPr>
        </p:nvSpPr>
        <p:spPr/>
        <p:txBody>
          <a:bodyPr/>
          <a:lstStyle/>
          <a:p>
            <a:fld id="{C2F52289-4012-4053-9770-FE82CEB9514F}" type="slidenum">
              <a:rPr lang="en-US" smtClean="0"/>
              <a:pPr/>
              <a:t>8</a:t>
            </a:fld>
            <a:endParaRPr lang="en-US"/>
          </a:p>
        </p:txBody>
      </p:sp>
      <p:sp>
        <p:nvSpPr>
          <p:cNvPr id="8" name="CuadroTexto 7">
            <a:extLst>
              <a:ext uri="{FF2B5EF4-FFF2-40B4-BE49-F238E27FC236}">
                <a16:creationId xmlns:a16="http://schemas.microsoft.com/office/drawing/2014/main" id="{3BC6D2B9-07F5-E2FA-C9AD-029B63B098DA}"/>
              </a:ext>
            </a:extLst>
          </p:cNvPr>
          <p:cNvSpPr txBox="1"/>
          <p:nvPr/>
        </p:nvSpPr>
        <p:spPr>
          <a:xfrm>
            <a:off x="609600" y="2882743"/>
            <a:ext cx="11276171" cy="3539430"/>
          </a:xfrm>
          <a:prstGeom prst="rect">
            <a:avLst/>
          </a:prstGeom>
          <a:solidFill>
            <a:schemeClr val="bg1">
              <a:lumMod val="95000"/>
            </a:schemeClr>
          </a:solidFill>
          <a:ln w="28575">
            <a:solidFill>
              <a:srgbClr val="E0700D"/>
            </a:solidFill>
          </a:ln>
        </p:spPr>
        <p:txBody>
          <a:bodyPr wrap="square" rtlCol="0">
            <a:spAutoFit/>
          </a:bodyPr>
          <a:lstStyle/>
          <a:p>
            <a:pPr algn="just"/>
            <a:r>
              <a:rPr lang="en-US" sz="1400" b="1" i="1">
                <a:solidFill>
                  <a:schemeClr val="tx2">
                    <a:lumMod val="60000"/>
                    <a:lumOff val="40000"/>
                  </a:schemeClr>
                </a:solidFill>
                <a:latin typeface="Arial" panose="020B0604020202020204" pitchFamily="34" charset="0"/>
                <a:cs typeface="Arial" panose="020B0604020202020204" pitchFamily="34" charset="0"/>
              </a:rPr>
              <a:t>Comment results: describer the transfer function. How’s the dependence on the coupler coefficient? Calculate the </a:t>
            </a:r>
            <a:r>
              <a:rPr lang="en-US" sz="1400" b="1" i="1">
                <a:solidFill>
                  <a:srgbClr val="FF0000"/>
                </a:solidFill>
                <a:latin typeface="Arial" panose="020B0604020202020204" pitchFamily="34" charset="0"/>
                <a:cs typeface="Arial" panose="020B0604020202020204" pitchFamily="34" charset="0"/>
              </a:rPr>
              <a:t>Extinction Ratio</a:t>
            </a:r>
            <a:r>
              <a:rPr lang="en-US" sz="1400" b="1" i="1">
                <a:solidFill>
                  <a:schemeClr val="tx2">
                    <a:lumMod val="60000"/>
                    <a:lumOff val="40000"/>
                  </a:schemeClr>
                </a:solidFill>
                <a:latin typeface="Arial" panose="020B0604020202020204" pitchFamily="34" charset="0"/>
                <a:cs typeface="Arial" panose="020B0604020202020204" pitchFamily="34" charset="0"/>
              </a:rPr>
              <a:t>. How would you achieve critical coupling for the latter design? Justify your answers.</a:t>
            </a:r>
          </a:p>
          <a:p>
            <a:pPr algn="just"/>
            <a:endParaRPr lang="en-US" sz="1400">
              <a:latin typeface="Arial" panose="020B0604020202020204" pitchFamily="34" charset="0"/>
              <a:cs typeface="Arial" panose="020B0604020202020204" pitchFamily="34" charset="0"/>
            </a:endParaRPr>
          </a:p>
          <a:p>
            <a:pPr algn="just"/>
            <a:r>
              <a:rPr lang="es-ES" sz="1400">
                <a:latin typeface="Arial" panose="020B0604020202020204" pitchFamily="34" charset="0"/>
                <a:cs typeface="Arial" panose="020B0604020202020204" pitchFamily="34" charset="0"/>
              </a:rPr>
              <a:t>El perímetro del anillo se ha diseñado para obtener un FSR de 15 nm. Usando la relación FSR = λ₀² / (ng · Lr), con λ₀ = 1550 nm, ng = 2.0 y FSR = 15 nm, se obtiene Lr = 80.083 µm.</a:t>
            </a:r>
          </a:p>
          <a:p>
            <a:pPr algn="just"/>
            <a:endParaRPr lang="es-ES" sz="1400">
              <a:latin typeface="Arial" panose="020B0604020202020204" pitchFamily="34" charset="0"/>
              <a:cs typeface="Arial" panose="020B0604020202020204" pitchFamily="34" charset="0"/>
            </a:endParaRPr>
          </a:p>
          <a:p>
            <a:pPr algn="just"/>
            <a:r>
              <a:rPr lang="es-ES" sz="1400">
                <a:latin typeface="Arial" panose="020B0604020202020204" pitchFamily="34" charset="0"/>
                <a:cs typeface="Arial" panose="020B0604020202020204" pitchFamily="34" charset="0"/>
              </a:rPr>
              <a:t>La respuesta espectral muestra mínimos periódicos de transmisión. La separación entre resonancias consecutivas es aproximadamente 15 nm, coincidiendo con el FSR objetivo.</a:t>
            </a:r>
          </a:p>
          <a:p>
            <a:pPr algn="just"/>
            <a:endParaRPr lang="es-ES" sz="1400">
              <a:latin typeface="Arial" panose="020B0604020202020204" pitchFamily="34" charset="0"/>
              <a:cs typeface="Arial" panose="020B0604020202020204" pitchFamily="34" charset="0"/>
            </a:endParaRPr>
          </a:p>
          <a:p>
            <a:pPr algn="just"/>
            <a:r>
              <a:rPr lang="es-ES" sz="1400">
                <a:latin typeface="Arial" panose="020B0604020202020204" pitchFamily="34" charset="0"/>
                <a:cs typeface="Arial" panose="020B0604020202020204" pitchFamily="34" charset="0"/>
              </a:rPr>
              <a:t>El coeficiente de acoplo K modifica la profundidad de las resonancias. Según la teoría de acoplo crítico, el mínimo de transmisión es máximo cuando la atenuación interna de una vuelta completa se iguala al coeficiente de transmisión del acoplador. Por eso, al comparar K = 0.1, 0.3 y 0.5, el caso K = 0.3 presenta el mayor ER, ya que está más cerca de la condición crítica.</a:t>
            </a:r>
          </a:p>
          <a:p>
            <a:pPr algn="just"/>
            <a:endParaRPr lang="es-ES" sz="1400">
              <a:latin typeface="Arial" panose="020B0604020202020204" pitchFamily="34" charset="0"/>
              <a:cs typeface="Arial" panose="020B0604020202020204" pitchFamily="34" charset="0"/>
            </a:endParaRPr>
          </a:p>
          <a:p>
            <a:pPr algn="just"/>
            <a:r>
              <a:rPr lang="es-ES" sz="1400">
                <a:latin typeface="Arial" panose="020B0604020202020204" pitchFamily="34" charset="0"/>
                <a:cs typeface="Arial" panose="020B0604020202020204" pitchFamily="34" charset="0"/>
              </a:rPr>
              <a:t>Para conseguir acoplo crítico, el acoplo del anillo debe igualar las pérdidas internas de una vuelta completa. Con </a:t>
            </a:r>
            <a:r>
              <a:rPr lang="es-ES" sz="1400" err="1">
                <a:latin typeface="Arial" panose="020B0604020202020204" pitchFamily="34" charset="0"/>
                <a:cs typeface="Arial" panose="020B0604020202020204" pitchFamily="34" charset="0"/>
              </a:rPr>
              <a:t>loss</a:t>
            </a:r>
            <a:r>
              <a:rPr lang="es-ES" sz="1400">
                <a:latin typeface="Arial" panose="020B0604020202020204" pitchFamily="34" charset="0"/>
                <a:cs typeface="Arial" panose="020B0604020202020204" pitchFamily="34" charset="0"/>
              </a:rPr>
              <a:t> = 0.02 dB/µm y Lr = 80.083 µm, la pérdida de una vuelta es aproximadamente 1.60 dB. Esto da una atenuación de campo a = 10^(-1.60/20) ≈ 0.832 y, por tanto, </a:t>
            </a:r>
            <a:r>
              <a:rPr lang="es-ES" sz="1400" err="1">
                <a:latin typeface="Arial" panose="020B0604020202020204" pitchFamily="34" charset="0"/>
                <a:cs typeface="Arial" panose="020B0604020202020204" pitchFamily="34" charset="0"/>
              </a:rPr>
              <a:t>Kcrit</a:t>
            </a:r>
            <a:r>
              <a:rPr lang="es-ES" sz="1400">
                <a:latin typeface="Arial" panose="020B0604020202020204" pitchFamily="34" charset="0"/>
                <a:cs typeface="Arial" panose="020B0604020202020204" pitchFamily="34" charset="0"/>
              </a:rPr>
              <a:t> = 1 - a² ≈ 0.309.</a:t>
            </a:r>
          </a:p>
        </p:txBody>
      </p:sp>
      <p:sp>
        <p:nvSpPr>
          <p:cNvPr id="3" name="Rectángulo 2">
            <a:extLst>
              <a:ext uri="{FF2B5EF4-FFF2-40B4-BE49-F238E27FC236}">
                <a16:creationId xmlns:a16="http://schemas.microsoft.com/office/drawing/2014/main" id="{E54DA3AC-DFE0-BB51-7C71-7CD9087359D0}"/>
              </a:ext>
            </a:extLst>
          </p:cNvPr>
          <p:cNvSpPr/>
          <p:nvPr/>
        </p:nvSpPr>
        <p:spPr>
          <a:xfrm>
            <a:off x="10059429" y="1025697"/>
            <a:ext cx="1827771" cy="1820809"/>
          </a:xfrm>
          <a:prstGeom prst="rect">
            <a:avLst/>
          </a:prstGeom>
          <a:solidFill>
            <a:schemeClr val="bg1">
              <a:lumMod val="95000"/>
            </a:schemeClr>
          </a:solid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pPr algn="just"/>
            <a:r>
              <a:rPr lang="en-US" sz="1200" b="1">
                <a:solidFill>
                  <a:schemeClr val="tx1"/>
                </a:solidFill>
                <a:latin typeface="Arial" panose="020B0604020202020204" pitchFamily="34" charset="0"/>
                <a:cs typeface="Arial" panose="020B0604020202020204" pitchFamily="34" charset="0"/>
              </a:rPr>
              <a:t>Hints:</a:t>
            </a:r>
            <a:endParaRPr lang="en-US" sz="1200">
              <a:solidFill>
                <a:schemeClr val="tx1"/>
              </a:solidFill>
              <a:latin typeface="Arial" panose="020B0604020202020204" pitchFamily="34" charset="0"/>
              <a:cs typeface="Arial" panose="020B0604020202020204" pitchFamily="34" charset="0"/>
            </a:endParaRPr>
          </a:p>
          <a:p>
            <a:pPr algn="just"/>
            <a:endParaRPr lang="en-US" sz="1200">
              <a:solidFill>
                <a:schemeClr val="tx1"/>
              </a:solidFill>
              <a:latin typeface="Arial" panose="020B0604020202020204" pitchFamily="34" charset="0"/>
              <a:cs typeface="Arial" panose="020B0604020202020204" pitchFamily="34" charset="0"/>
            </a:endParaRPr>
          </a:p>
          <a:p>
            <a:pPr algn="just"/>
            <a:r>
              <a:rPr lang="en-US" sz="1200">
                <a:solidFill>
                  <a:schemeClr val="tx1"/>
                </a:solidFill>
                <a:latin typeface="Arial" panose="020B0604020202020204" pitchFamily="34" charset="0"/>
                <a:cs typeface="Arial" panose="020B0604020202020204" pitchFamily="34" charset="0"/>
              </a:rPr>
              <a:t>Design the perimeter for a FSR = 15 nm. </a:t>
            </a:r>
          </a:p>
          <a:p>
            <a:pPr algn="just"/>
            <a:endParaRPr lang="en-US" sz="1200">
              <a:solidFill>
                <a:schemeClr val="tx1"/>
              </a:solidFill>
              <a:latin typeface="Arial" panose="020B0604020202020204" pitchFamily="34" charset="0"/>
              <a:cs typeface="Arial" panose="020B0604020202020204" pitchFamily="34" charset="0"/>
            </a:endParaRPr>
          </a:p>
          <a:p>
            <a:pPr algn="just"/>
            <a:r>
              <a:rPr lang="en-US" sz="1200">
                <a:solidFill>
                  <a:schemeClr val="tx1"/>
                </a:solidFill>
                <a:latin typeface="Arial" panose="020B0604020202020204" pitchFamily="34" charset="0"/>
                <a:cs typeface="Arial" panose="020B0604020202020204" pitchFamily="34" charset="0"/>
              </a:rPr>
              <a:t>Use equations given in class that relate FSR and perimeter.</a:t>
            </a:r>
          </a:p>
          <a:p>
            <a:pPr algn="just"/>
            <a:endParaRPr lang="en-US" sz="1200">
              <a:solidFill>
                <a:schemeClr val="tx1"/>
              </a:solidFill>
              <a:latin typeface="Arial" panose="020B0604020202020204" pitchFamily="34" charset="0"/>
              <a:cs typeface="Arial" panose="020B0604020202020204" pitchFamily="34" charset="0"/>
            </a:endParaRPr>
          </a:p>
        </p:txBody>
      </p:sp>
      <p:sp>
        <p:nvSpPr>
          <p:cNvPr id="10" name="Rectángulo 9">
            <a:extLst>
              <a:ext uri="{FF2B5EF4-FFF2-40B4-BE49-F238E27FC236}">
                <a16:creationId xmlns:a16="http://schemas.microsoft.com/office/drawing/2014/main" id="{82011495-88D4-8787-6CB7-704897D84CF9}"/>
              </a:ext>
            </a:extLst>
          </p:cNvPr>
          <p:cNvSpPr/>
          <p:nvPr/>
        </p:nvSpPr>
        <p:spPr>
          <a:xfrm>
            <a:off x="609600" y="1027052"/>
            <a:ext cx="4843575" cy="1820807"/>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CuadroTexto 11">
            <a:extLst>
              <a:ext uri="{FF2B5EF4-FFF2-40B4-BE49-F238E27FC236}">
                <a16:creationId xmlns:a16="http://schemas.microsoft.com/office/drawing/2014/main" id="{3BD35A6E-6540-9761-4128-0E43122290D4}"/>
              </a:ext>
            </a:extLst>
          </p:cNvPr>
          <p:cNvSpPr txBox="1"/>
          <p:nvPr/>
        </p:nvSpPr>
        <p:spPr>
          <a:xfrm>
            <a:off x="6931741" y="1263690"/>
            <a:ext cx="2033313" cy="1323439"/>
          </a:xfrm>
          <a:prstGeom prst="rect">
            <a:avLst/>
          </a:prstGeom>
          <a:noFill/>
        </p:spPr>
        <p:txBody>
          <a:bodyPr wrap="none" rtlCol="0">
            <a:spAutoFit/>
          </a:bodyPr>
          <a:lstStyle/>
          <a:p>
            <a:pPr algn="ctr"/>
            <a:r>
              <a:rPr lang="es-ES" sz="2000"/>
              <a:t>Single ring</a:t>
            </a:r>
          </a:p>
          <a:p>
            <a:pPr algn="ctr"/>
            <a:r>
              <a:rPr lang="es-ES" sz="2000"/>
              <a:t>transfer </a:t>
            </a:r>
            <a:r>
              <a:rPr lang="es-ES" sz="2000" err="1"/>
              <a:t>functions</a:t>
            </a:r>
            <a:endParaRPr lang="es-ES" sz="2000"/>
          </a:p>
          <a:p>
            <a:pPr algn="ctr"/>
            <a:endParaRPr lang="es-ES" sz="2000"/>
          </a:p>
          <a:p>
            <a:pPr algn="ctr"/>
            <a:r>
              <a:rPr lang="es-ES" sz="2000" err="1"/>
              <a:t>Logaritmic</a:t>
            </a:r>
            <a:r>
              <a:rPr lang="es-ES" sz="2000"/>
              <a:t> </a:t>
            </a:r>
            <a:r>
              <a:rPr lang="es-ES" sz="2000" err="1"/>
              <a:t>units</a:t>
            </a:r>
            <a:endParaRPr lang="en-US" sz="2000"/>
          </a:p>
        </p:txBody>
      </p:sp>
      <p:sp>
        <p:nvSpPr>
          <p:cNvPr id="13" name="Rectángulo 12">
            <a:extLst>
              <a:ext uri="{FF2B5EF4-FFF2-40B4-BE49-F238E27FC236}">
                <a16:creationId xmlns:a16="http://schemas.microsoft.com/office/drawing/2014/main" id="{03798D61-1E16-8473-BDCE-1D97F95EF7BE}"/>
              </a:ext>
            </a:extLst>
          </p:cNvPr>
          <p:cNvSpPr/>
          <p:nvPr/>
        </p:nvSpPr>
        <p:spPr>
          <a:xfrm>
            <a:off x="5505151" y="1025698"/>
            <a:ext cx="4457586" cy="1820808"/>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CuadroTexto 15">
            <a:extLst>
              <a:ext uri="{FF2B5EF4-FFF2-40B4-BE49-F238E27FC236}">
                <a16:creationId xmlns:a16="http://schemas.microsoft.com/office/drawing/2014/main" id="{B49B3613-E785-3FCB-DA8D-2B43EB104C5D}"/>
              </a:ext>
            </a:extLst>
          </p:cNvPr>
          <p:cNvSpPr txBox="1"/>
          <p:nvPr/>
        </p:nvSpPr>
        <p:spPr>
          <a:xfrm>
            <a:off x="1524000" y="1611680"/>
            <a:ext cx="2033313" cy="1323439"/>
          </a:xfrm>
          <a:prstGeom prst="rect">
            <a:avLst/>
          </a:prstGeom>
          <a:noFill/>
        </p:spPr>
        <p:txBody>
          <a:bodyPr wrap="none" rtlCol="0">
            <a:spAutoFit/>
          </a:bodyPr>
          <a:lstStyle/>
          <a:p>
            <a:pPr algn="ctr"/>
            <a:r>
              <a:rPr lang="es-ES" sz="2000"/>
              <a:t>Single ring</a:t>
            </a:r>
          </a:p>
          <a:p>
            <a:pPr algn="ctr"/>
            <a:r>
              <a:rPr lang="es-ES" sz="2000"/>
              <a:t>transfer </a:t>
            </a:r>
            <a:r>
              <a:rPr lang="es-ES" sz="2000" err="1"/>
              <a:t>functions</a:t>
            </a:r>
            <a:endParaRPr lang="es-ES" sz="2000"/>
          </a:p>
          <a:p>
            <a:pPr algn="ctr"/>
            <a:endParaRPr lang="es-ES" sz="2000"/>
          </a:p>
          <a:p>
            <a:pPr algn="ctr"/>
            <a:r>
              <a:rPr lang="es-ES" sz="2000"/>
              <a:t>Linear </a:t>
            </a:r>
            <a:r>
              <a:rPr lang="es-ES" sz="2000" err="1"/>
              <a:t>units</a:t>
            </a:r>
            <a:endParaRPr lang="en-US" sz="2000"/>
          </a:p>
        </p:txBody>
      </p:sp>
      <p:pic>
        <p:nvPicPr>
          <p:cNvPr id="11" name="Gráfico 10">
            <a:extLst>
              <a:ext uri="{FF2B5EF4-FFF2-40B4-BE49-F238E27FC236}">
                <a16:creationId xmlns:a16="http://schemas.microsoft.com/office/drawing/2014/main" id="{64B3EEA8-5B6A-F628-0B9C-42450CEE9BE1}"/>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045006" y="6356057"/>
            <a:ext cx="6409575" cy="363174"/>
          </a:xfrm>
          <a:prstGeom prst="rect">
            <a:avLst/>
          </a:prstGeom>
        </p:spPr>
      </p:pic>
      <p:sp>
        <p:nvSpPr>
          <p:cNvPr id="14" name="object 16">
            <a:extLst>
              <a:ext uri="{FF2B5EF4-FFF2-40B4-BE49-F238E27FC236}">
                <a16:creationId xmlns:a16="http://schemas.microsoft.com/office/drawing/2014/main" id="{4E9E05B5-9445-DD50-60E9-03B04ED264D4}"/>
              </a:ext>
            </a:extLst>
          </p:cNvPr>
          <p:cNvSpPr txBox="1">
            <a:spLocks/>
          </p:cNvSpPr>
          <p:nvPr/>
        </p:nvSpPr>
        <p:spPr>
          <a:xfrm>
            <a:off x="685800" y="216277"/>
            <a:ext cx="10994410" cy="718145"/>
          </a:xfrm>
          <a:prstGeom prst="rect">
            <a:avLst/>
          </a:prstGeom>
        </p:spPr>
        <p:txBody>
          <a:bodyPr vert="horz" wrap="square" lIns="0" tIns="12700" rIns="0" bIns="0" rtlCol="0">
            <a:spAutoFit/>
          </a:bodyPr>
          <a:lstStyle>
            <a:lvl1pPr>
              <a:defRPr sz="2000" b="1" i="0">
                <a:solidFill>
                  <a:schemeClr val="tx1"/>
                </a:solidFill>
                <a:latin typeface="Calibri"/>
                <a:ea typeface="+mj-ea"/>
                <a:cs typeface="Calibri"/>
              </a:defRPr>
            </a:lvl1pPr>
          </a:lstStyle>
          <a:p>
            <a:pPr marL="12700">
              <a:spcBef>
                <a:spcPts val="100"/>
              </a:spcBef>
            </a:pPr>
            <a:r>
              <a:rPr lang="en-US" sz="2500" kern="0"/>
              <a:t>Learning outcome #5 – Ring resonator design</a:t>
            </a:r>
          </a:p>
          <a:p>
            <a:pPr marL="12700">
              <a:spcBef>
                <a:spcPts val="100"/>
              </a:spcBef>
            </a:pPr>
            <a:r>
              <a:rPr lang="en-US" b="0" kern="0" spc="-5">
                <a:latin typeface="+mj-lt"/>
                <a:cs typeface="Lucida Sans"/>
              </a:rPr>
              <a:t>Design the perimeter for a FSR = 15 nm. </a:t>
            </a:r>
          </a:p>
        </p:txBody>
      </p:sp>
      <p:pic>
        <p:nvPicPr>
          <p:cNvPr id="4" name="Imagen 3">
            <a:extLst>
              <a:ext uri="{FF2B5EF4-FFF2-40B4-BE49-F238E27FC236}">
                <a16:creationId xmlns:a16="http://schemas.microsoft.com/office/drawing/2014/main" id="{9E82BF19-AA97-D054-2D78-6FAD53B1684F}"/>
              </a:ext>
            </a:extLst>
          </p:cNvPr>
          <p:cNvPicPr>
            <a:picLocks noChangeAspect="1"/>
          </p:cNvPicPr>
          <p:nvPr/>
        </p:nvPicPr>
        <p:blipFill>
          <a:blip r:embed="rId4"/>
          <a:stretch>
            <a:fillRect/>
          </a:stretch>
        </p:blipFill>
        <p:spPr>
          <a:xfrm>
            <a:off x="661576" y="1060433"/>
            <a:ext cx="4774556" cy="1781370"/>
          </a:xfrm>
          <a:prstGeom prst="rect">
            <a:avLst/>
          </a:prstGeom>
        </p:spPr>
      </p:pic>
      <p:pic>
        <p:nvPicPr>
          <p:cNvPr id="9" name="Imagen 8">
            <a:extLst>
              <a:ext uri="{FF2B5EF4-FFF2-40B4-BE49-F238E27FC236}">
                <a16:creationId xmlns:a16="http://schemas.microsoft.com/office/drawing/2014/main" id="{4ABF47B2-E27F-18C6-987D-6879EC6B7C3B}"/>
              </a:ext>
            </a:extLst>
          </p:cNvPr>
          <p:cNvPicPr>
            <a:picLocks noChangeAspect="1"/>
          </p:cNvPicPr>
          <p:nvPr/>
        </p:nvPicPr>
        <p:blipFill>
          <a:blip r:embed="rId5"/>
          <a:stretch>
            <a:fillRect/>
          </a:stretch>
        </p:blipFill>
        <p:spPr>
          <a:xfrm>
            <a:off x="5599318" y="1135785"/>
            <a:ext cx="4134374" cy="1579247"/>
          </a:xfrm>
          <a:prstGeom prst="rect">
            <a:avLst/>
          </a:prstGeom>
        </p:spPr>
      </p:pic>
      <p:pic>
        <p:nvPicPr>
          <p:cNvPr id="17" name="Imagen 16">
            <a:extLst>
              <a:ext uri="{FF2B5EF4-FFF2-40B4-BE49-F238E27FC236}">
                <a16:creationId xmlns:a16="http://schemas.microsoft.com/office/drawing/2014/main" id="{D1375D16-3E7F-551D-F065-55453C093B55}"/>
              </a:ext>
            </a:extLst>
          </p:cNvPr>
          <p:cNvPicPr>
            <a:picLocks noChangeAspect="1"/>
          </p:cNvPicPr>
          <p:nvPr/>
        </p:nvPicPr>
        <p:blipFill>
          <a:blip r:embed="rId6"/>
          <a:stretch>
            <a:fillRect/>
          </a:stretch>
        </p:blipFill>
        <p:spPr>
          <a:xfrm>
            <a:off x="7624116" y="329281"/>
            <a:ext cx="1251353" cy="500542"/>
          </a:xfrm>
          <a:prstGeom prst="rect">
            <a:avLst/>
          </a:prstGeom>
          <a:ln w="57150">
            <a:solidFill>
              <a:schemeClr val="accent1"/>
            </a:solidFill>
          </a:ln>
        </p:spPr>
      </p:pic>
      <p:pic>
        <p:nvPicPr>
          <p:cNvPr id="19" name="Imagen 18">
            <a:extLst>
              <a:ext uri="{FF2B5EF4-FFF2-40B4-BE49-F238E27FC236}">
                <a16:creationId xmlns:a16="http://schemas.microsoft.com/office/drawing/2014/main" id="{407DAF12-36AB-5917-DE3A-69A13EC9C74B}"/>
              </a:ext>
            </a:extLst>
          </p:cNvPr>
          <p:cNvPicPr>
            <a:picLocks noChangeAspect="1"/>
          </p:cNvPicPr>
          <p:nvPr/>
        </p:nvPicPr>
        <p:blipFill>
          <a:blip r:embed="rId7"/>
          <a:stretch>
            <a:fillRect/>
          </a:stretch>
        </p:blipFill>
        <p:spPr>
          <a:xfrm>
            <a:off x="9017000" y="293580"/>
            <a:ext cx="1155700" cy="536244"/>
          </a:xfrm>
          <a:prstGeom prst="rect">
            <a:avLst/>
          </a:prstGeom>
          <a:ln w="57150">
            <a:solidFill>
              <a:schemeClr val="accent1"/>
            </a:solidFill>
          </a:ln>
        </p:spPr>
      </p:pic>
      <p:sp>
        <p:nvSpPr>
          <p:cNvPr id="2" name="Rectángulo 1">
            <a:extLst>
              <a:ext uri="{FF2B5EF4-FFF2-40B4-BE49-F238E27FC236}">
                <a16:creationId xmlns:a16="http://schemas.microsoft.com/office/drawing/2014/main" id="{5A298206-28DD-FBFF-409C-16B7D78CFF49}"/>
              </a:ext>
            </a:extLst>
          </p:cNvPr>
          <p:cNvSpPr/>
          <p:nvPr/>
        </p:nvSpPr>
        <p:spPr>
          <a:xfrm>
            <a:off x="2712720" y="2164817"/>
            <a:ext cx="1074420" cy="422312"/>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7" name="Rectángulo 6">
            <a:extLst>
              <a:ext uri="{FF2B5EF4-FFF2-40B4-BE49-F238E27FC236}">
                <a16:creationId xmlns:a16="http://schemas.microsoft.com/office/drawing/2014/main" id="{F352622A-D8EA-622A-E301-F9E593A75EE3}"/>
              </a:ext>
            </a:extLst>
          </p:cNvPr>
          <p:cNvSpPr/>
          <p:nvPr/>
        </p:nvSpPr>
        <p:spPr>
          <a:xfrm>
            <a:off x="7401770" y="2082369"/>
            <a:ext cx="1074420" cy="422312"/>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Tree>
    <p:extLst>
      <p:ext uri="{BB962C8B-B14F-4D97-AF65-F5344CB8AC3E}">
        <p14:creationId xmlns:p14="http://schemas.microsoft.com/office/powerpoint/2010/main" val="291598926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Marcador de pie de página 4">
            <a:extLst>
              <a:ext uri="{FF2B5EF4-FFF2-40B4-BE49-F238E27FC236}">
                <a16:creationId xmlns:a16="http://schemas.microsoft.com/office/drawing/2014/main" id="{F929251A-3DC4-36B2-3FB3-341378364BED}"/>
              </a:ext>
            </a:extLst>
          </p:cNvPr>
          <p:cNvSpPr>
            <a:spLocks noGrp="1"/>
          </p:cNvSpPr>
          <p:nvPr>
            <p:ph type="ftr" sz="quarter" idx="5"/>
          </p:nvPr>
        </p:nvSpPr>
        <p:spPr/>
        <p:txBody>
          <a:bodyPr/>
          <a:lstStyle/>
          <a:p>
            <a:r>
              <a:rPr lang="en-US"/>
              <a:t>LAB 3.0. CIRCUITS &amp; COMPACT MODELS</a:t>
            </a:r>
          </a:p>
        </p:txBody>
      </p:sp>
      <p:sp>
        <p:nvSpPr>
          <p:cNvPr id="6" name="Marcador de número de diapositiva 5">
            <a:extLst>
              <a:ext uri="{FF2B5EF4-FFF2-40B4-BE49-F238E27FC236}">
                <a16:creationId xmlns:a16="http://schemas.microsoft.com/office/drawing/2014/main" id="{8E91A34C-DF76-97CF-3EFD-546BC64A2184}"/>
              </a:ext>
            </a:extLst>
          </p:cNvPr>
          <p:cNvSpPr>
            <a:spLocks noGrp="1"/>
          </p:cNvSpPr>
          <p:nvPr>
            <p:ph type="sldNum" sz="quarter" idx="7"/>
          </p:nvPr>
        </p:nvSpPr>
        <p:spPr/>
        <p:txBody>
          <a:bodyPr/>
          <a:lstStyle/>
          <a:p>
            <a:fld id="{C2F52289-4012-4053-9770-FE82CEB9514F}" type="slidenum">
              <a:rPr lang="en-US" smtClean="0"/>
              <a:pPr/>
              <a:t>9</a:t>
            </a:fld>
            <a:endParaRPr lang="en-US"/>
          </a:p>
        </p:txBody>
      </p:sp>
      <p:sp>
        <p:nvSpPr>
          <p:cNvPr id="8" name="CuadroTexto 7">
            <a:extLst>
              <a:ext uri="{FF2B5EF4-FFF2-40B4-BE49-F238E27FC236}">
                <a16:creationId xmlns:a16="http://schemas.microsoft.com/office/drawing/2014/main" id="{D9601617-351E-AE1A-1F4D-693F2EA59361}"/>
              </a:ext>
            </a:extLst>
          </p:cNvPr>
          <p:cNvSpPr txBox="1"/>
          <p:nvPr/>
        </p:nvSpPr>
        <p:spPr>
          <a:xfrm>
            <a:off x="397451" y="1393239"/>
            <a:ext cx="5420279" cy="3231654"/>
          </a:xfrm>
          <a:prstGeom prst="rect">
            <a:avLst/>
          </a:prstGeom>
          <a:solidFill>
            <a:schemeClr val="bg1">
              <a:lumMod val="95000"/>
            </a:schemeClr>
          </a:solidFill>
          <a:ln w="28575">
            <a:solidFill>
              <a:srgbClr val="E0700D"/>
            </a:solidFill>
          </a:ln>
        </p:spPr>
        <p:txBody>
          <a:bodyPr wrap="square" rtlCol="0">
            <a:spAutoFit/>
          </a:bodyPr>
          <a:lstStyle/>
          <a:p>
            <a:pPr algn="just"/>
            <a:r>
              <a:rPr lang="en-US" sz="1200" b="1" i="1">
                <a:solidFill>
                  <a:schemeClr val="tx2">
                    <a:lumMod val="60000"/>
                    <a:lumOff val="40000"/>
                  </a:schemeClr>
                </a:solidFill>
                <a:latin typeface="Arial" panose="020B0604020202020204" pitchFamily="34" charset="0"/>
                <a:cs typeface="Arial" panose="020B0604020202020204" pitchFamily="34" charset="0"/>
              </a:rPr>
              <a:t>Comment results: Try to classify the resonances, in which case are you close to critical coupling? Why? </a:t>
            </a:r>
          </a:p>
          <a:p>
            <a:pPr algn="just"/>
            <a:endParaRPr lang="en-US" sz="1200">
              <a:latin typeface="Arial" panose="020B0604020202020204" pitchFamily="34" charset="0"/>
              <a:cs typeface="Arial" panose="020B0604020202020204" pitchFamily="34" charset="0"/>
            </a:endParaRPr>
          </a:p>
          <a:p>
            <a:pPr algn="just"/>
            <a:r>
              <a:rPr lang="es-ES" sz="1200">
                <a:latin typeface="Arial" panose="020B0604020202020204" pitchFamily="34" charset="0"/>
                <a:cs typeface="Arial" panose="020B0604020202020204" pitchFamily="34" charset="0"/>
              </a:rPr>
              <a:t>Al variar el coeficiente de acoplo K, cambia principalmente la profundidad de las resonancias. Para el valor mínimo de K (=0.1), el anillo está débilmente acoplado al bus y los mínimos de transmisión son poco profundos (lo que se conoce como “</a:t>
            </a:r>
            <a:r>
              <a:rPr lang="es-ES" sz="1200" err="1">
                <a:latin typeface="Arial" panose="020B0604020202020204" pitchFamily="34" charset="0"/>
                <a:cs typeface="Arial" panose="020B0604020202020204" pitchFamily="34" charset="0"/>
              </a:rPr>
              <a:t>undercoupling</a:t>
            </a:r>
            <a:r>
              <a:rPr lang="es-ES" sz="1200">
                <a:latin typeface="Arial" panose="020B0604020202020204" pitchFamily="34" charset="0"/>
                <a:cs typeface="Arial" panose="020B0604020202020204" pitchFamily="34" charset="0"/>
              </a:rPr>
              <a:t>”). A medida que K aumenta, la profundidad de las resonancias aumenta hasta acercarse a la condición de acoplo crítico.</a:t>
            </a:r>
          </a:p>
          <a:p>
            <a:pPr algn="just"/>
            <a:endParaRPr lang="es-ES" sz="1200">
              <a:latin typeface="Arial" panose="020B0604020202020204" pitchFamily="34" charset="0"/>
              <a:cs typeface="Arial" panose="020B0604020202020204" pitchFamily="34" charset="0"/>
            </a:endParaRPr>
          </a:p>
          <a:p>
            <a:pPr algn="just"/>
            <a:r>
              <a:rPr lang="es-ES" sz="1200">
                <a:latin typeface="Arial" panose="020B0604020202020204" pitchFamily="34" charset="0"/>
                <a:cs typeface="Arial" panose="020B0604020202020204" pitchFamily="34" charset="0"/>
              </a:rPr>
              <a:t>El caso más cercano al acoplo crítico es K = 0.3, ya que el cálculo teórico da </a:t>
            </a:r>
            <a:r>
              <a:rPr lang="es-ES" sz="1200" err="1">
                <a:latin typeface="Arial" panose="020B0604020202020204" pitchFamily="34" charset="0"/>
                <a:cs typeface="Arial" panose="020B0604020202020204" pitchFamily="34" charset="0"/>
              </a:rPr>
              <a:t>Kcrit</a:t>
            </a:r>
            <a:r>
              <a:rPr lang="es-ES" sz="1200">
                <a:latin typeface="Arial" panose="020B0604020202020204" pitchFamily="34" charset="0"/>
                <a:cs typeface="Arial" panose="020B0604020202020204" pitchFamily="34" charset="0"/>
              </a:rPr>
              <a:t> ≈ 0.309. En esta condición, las pérdidas internas del anillo se compensan con el acoplo al bus, produciendo el mínimo de transmisión más profundo y el mayor </a:t>
            </a:r>
            <a:r>
              <a:rPr lang="es-ES" sz="1200" err="1">
                <a:latin typeface="Arial" panose="020B0604020202020204" pitchFamily="34" charset="0"/>
                <a:cs typeface="Arial" panose="020B0604020202020204" pitchFamily="34" charset="0"/>
              </a:rPr>
              <a:t>Extinction</a:t>
            </a:r>
            <a:r>
              <a:rPr lang="es-ES" sz="1200">
                <a:latin typeface="Arial" panose="020B0604020202020204" pitchFamily="34" charset="0"/>
                <a:cs typeface="Arial" panose="020B0604020202020204" pitchFamily="34" charset="0"/>
              </a:rPr>
              <a:t> Ratio.</a:t>
            </a:r>
          </a:p>
          <a:p>
            <a:pPr algn="just"/>
            <a:endParaRPr lang="es-ES" sz="1200">
              <a:latin typeface="Arial" panose="020B0604020202020204" pitchFamily="34" charset="0"/>
              <a:cs typeface="Arial" panose="020B0604020202020204" pitchFamily="34" charset="0"/>
            </a:endParaRPr>
          </a:p>
          <a:p>
            <a:pPr algn="just"/>
            <a:r>
              <a:rPr lang="es-ES" sz="1200">
                <a:latin typeface="Arial" panose="020B0604020202020204" pitchFamily="34" charset="0"/>
                <a:cs typeface="Arial" panose="020B0604020202020204" pitchFamily="34" charset="0"/>
              </a:rPr>
              <a:t>Para valores de K mayores que el crítico, el resonador pasa a estar </a:t>
            </a:r>
            <a:r>
              <a:rPr lang="es-ES" sz="1200" err="1">
                <a:latin typeface="Arial" panose="020B0604020202020204" pitchFamily="34" charset="0"/>
                <a:cs typeface="Arial" panose="020B0604020202020204" pitchFamily="34" charset="0"/>
              </a:rPr>
              <a:t>sobreacoplado</a:t>
            </a:r>
            <a:r>
              <a:rPr lang="es-ES" sz="1200">
                <a:latin typeface="Arial" panose="020B0604020202020204" pitchFamily="34" charset="0"/>
                <a:cs typeface="Arial" panose="020B0604020202020204" pitchFamily="34" charset="0"/>
              </a:rPr>
              <a:t>. En ese régimen, los mínimos vuelven a ser menos profundos y el </a:t>
            </a:r>
            <a:r>
              <a:rPr lang="es-ES" sz="1200" err="1">
                <a:latin typeface="Arial" panose="020B0604020202020204" pitchFamily="34" charset="0"/>
                <a:cs typeface="Arial" panose="020B0604020202020204" pitchFamily="34" charset="0"/>
              </a:rPr>
              <a:t>Extinction</a:t>
            </a:r>
            <a:r>
              <a:rPr lang="es-ES" sz="1200">
                <a:latin typeface="Arial" panose="020B0604020202020204" pitchFamily="34" charset="0"/>
                <a:cs typeface="Arial" panose="020B0604020202020204" pitchFamily="34" charset="0"/>
              </a:rPr>
              <a:t> Ratio disminuye.</a:t>
            </a:r>
            <a:endParaRPr lang="en-US" sz="1200">
              <a:latin typeface="Arial" panose="020B0604020202020204" pitchFamily="34" charset="0"/>
              <a:cs typeface="Arial" panose="020B0604020202020204" pitchFamily="34" charset="0"/>
            </a:endParaRPr>
          </a:p>
        </p:txBody>
      </p:sp>
      <p:sp>
        <p:nvSpPr>
          <p:cNvPr id="9" name="Rectángulo 8">
            <a:extLst>
              <a:ext uri="{FF2B5EF4-FFF2-40B4-BE49-F238E27FC236}">
                <a16:creationId xmlns:a16="http://schemas.microsoft.com/office/drawing/2014/main" id="{11F0F5FC-B571-59FC-7890-3105A6A843BB}"/>
              </a:ext>
            </a:extLst>
          </p:cNvPr>
          <p:cNvSpPr/>
          <p:nvPr/>
        </p:nvSpPr>
        <p:spPr>
          <a:xfrm>
            <a:off x="5943600" y="1393239"/>
            <a:ext cx="5832292" cy="4695802"/>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CuadroTexto 12">
            <a:extLst>
              <a:ext uri="{FF2B5EF4-FFF2-40B4-BE49-F238E27FC236}">
                <a16:creationId xmlns:a16="http://schemas.microsoft.com/office/drawing/2014/main" id="{057C499E-829F-FB11-9128-843C937CB822}"/>
              </a:ext>
            </a:extLst>
          </p:cNvPr>
          <p:cNvSpPr txBox="1"/>
          <p:nvPr/>
        </p:nvSpPr>
        <p:spPr>
          <a:xfrm>
            <a:off x="6195187" y="2101891"/>
            <a:ext cx="2033313" cy="1938992"/>
          </a:xfrm>
          <a:prstGeom prst="rect">
            <a:avLst/>
          </a:prstGeom>
          <a:noFill/>
        </p:spPr>
        <p:txBody>
          <a:bodyPr wrap="none" rtlCol="0">
            <a:spAutoFit/>
          </a:bodyPr>
          <a:lstStyle/>
          <a:p>
            <a:pPr algn="ctr"/>
            <a:r>
              <a:rPr lang="es-ES" sz="2000"/>
              <a:t>Single ring</a:t>
            </a:r>
          </a:p>
          <a:p>
            <a:pPr algn="ctr"/>
            <a:r>
              <a:rPr lang="es-ES" sz="2000"/>
              <a:t>transfer </a:t>
            </a:r>
            <a:r>
              <a:rPr lang="es-ES" sz="2000" err="1"/>
              <a:t>functions</a:t>
            </a:r>
            <a:endParaRPr lang="es-ES" sz="2000"/>
          </a:p>
          <a:p>
            <a:pPr algn="ctr"/>
            <a:endParaRPr lang="es-ES" sz="2000"/>
          </a:p>
          <a:p>
            <a:pPr algn="ctr"/>
            <a:r>
              <a:rPr lang="es-ES" sz="2000"/>
              <a:t>Linear </a:t>
            </a:r>
            <a:r>
              <a:rPr lang="es-ES" sz="2000" err="1"/>
              <a:t>units</a:t>
            </a:r>
            <a:endParaRPr lang="es-ES" sz="2000"/>
          </a:p>
          <a:p>
            <a:pPr algn="ctr"/>
            <a:endParaRPr lang="es-ES" sz="2000"/>
          </a:p>
          <a:p>
            <a:pPr algn="ctr"/>
            <a:r>
              <a:rPr lang="es-ES" sz="2000"/>
              <a:t>K=</a:t>
            </a:r>
            <a:endParaRPr lang="en-US" sz="2000"/>
          </a:p>
        </p:txBody>
      </p:sp>
      <p:sp>
        <p:nvSpPr>
          <p:cNvPr id="12" name="CuadroTexto 11">
            <a:extLst>
              <a:ext uri="{FF2B5EF4-FFF2-40B4-BE49-F238E27FC236}">
                <a16:creationId xmlns:a16="http://schemas.microsoft.com/office/drawing/2014/main" id="{4E78CC89-1377-28A4-024D-1B017D551FC5}"/>
              </a:ext>
            </a:extLst>
          </p:cNvPr>
          <p:cNvSpPr txBox="1"/>
          <p:nvPr/>
        </p:nvSpPr>
        <p:spPr>
          <a:xfrm>
            <a:off x="9869875" y="2871332"/>
            <a:ext cx="360996" cy="400110"/>
          </a:xfrm>
          <a:prstGeom prst="rect">
            <a:avLst/>
          </a:prstGeom>
          <a:noFill/>
        </p:spPr>
        <p:txBody>
          <a:bodyPr wrap="none" rtlCol="0">
            <a:spAutoFit/>
          </a:bodyPr>
          <a:lstStyle/>
          <a:p>
            <a:pPr algn="ctr"/>
            <a:r>
              <a:rPr lang="es-ES" sz="2000"/>
              <a:t>…</a:t>
            </a:r>
            <a:endParaRPr lang="en-US" sz="2000"/>
          </a:p>
        </p:txBody>
      </p:sp>
      <p:pic>
        <p:nvPicPr>
          <p:cNvPr id="3" name="Gráfico 2">
            <a:extLst>
              <a:ext uri="{FF2B5EF4-FFF2-40B4-BE49-F238E27FC236}">
                <a16:creationId xmlns:a16="http://schemas.microsoft.com/office/drawing/2014/main" id="{0B245A9E-6C9A-F3A8-E4B7-661580126414}"/>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045006" y="6356057"/>
            <a:ext cx="6409575" cy="363174"/>
          </a:xfrm>
          <a:prstGeom prst="rect">
            <a:avLst/>
          </a:prstGeom>
        </p:spPr>
      </p:pic>
      <p:sp>
        <p:nvSpPr>
          <p:cNvPr id="16" name="object 16">
            <a:extLst>
              <a:ext uri="{FF2B5EF4-FFF2-40B4-BE49-F238E27FC236}">
                <a16:creationId xmlns:a16="http://schemas.microsoft.com/office/drawing/2014/main" id="{8266F13B-05F1-81DE-B638-66D10EEB9FA2}"/>
              </a:ext>
            </a:extLst>
          </p:cNvPr>
          <p:cNvSpPr txBox="1">
            <a:spLocks/>
          </p:cNvSpPr>
          <p:nvPr/>
        </p:nvSpPr>
        <p:spPr>
          <a:xfrm>
            <a:off x="685800" y="408883"/>
            <a:ext cx="10994410" cy="718145"/>
          </a:xfrm>
          <a:prstGeom prst="rect">
            <a:avLst/>
          </a:prstGeom>
        </p:spPr>
        <p:txBody>
          <a:bodyPr vert="horz" wrap="square" lIns="0" tIns="12700" rIns="0" bIns="0" rtlCol="0">
            <a:spAutoFit/>
          </a:bodyPr>
          <a:lstStyle>
            <a:lvl1pPr>
              <a:defRPr sz="2000" b="1" i="0">
                <a:solidFill>
                  <a:schemeClr val="tx1"/>
                </a:solidFill>
                <a:latin typeface="Calibri"/>
                <a:ea typeface="+mj-ea"/>
                <a:cs typeface="Calibri"/>
              </a:defRPr>
            </a:lvl1pPr>
          </a:lstStyle>
          <a:p>
            <a:pPr marL="12700">
              <a:spcBef>
                <a:spcPts val="100"/>
              </a:spcBef>
            </a:pPr>
            <a:r>
              <a:rPr lang="en-US" sz="2500" kern="0"/>
              <a:t>Learning outcome #6a – Effect of K </a:t>
            </a:r>
          </a:p>
          <a:p>
            <a:pPr marL="12700">
              <a:spcBef>
                <a:spcPts val="100"/>
              </a:spcBef>
            </a:pPr>
            <a:r>
              <a:rPr lang="en-US" b="0" kern="0" spc="-5">
                <a:latin typeface="+mj-lt"/>
                <a:cs typeface="Lucida Sans"/>
              </a:rPr>
              <a:t>Change K value between 0.1 and 0.9 in steps of 0.1</a:t>
            </a:r>
          </a:p>
        </p:txBody>
      </p:sp>
      <p:pic>
        <p:nvPicPr>
          <p:cNvPr id="4" name="Imagen 3">
            <a:extLst>
              <a:ext uri="{FF2B5EF4-FFF2-40B4-BE49-F238E27FC236}">
                <a16:creationId xmlns:a16="http://schemas.microsoft.com/office/drawing/2014/main" id="{ED0F2FE3-07B1-952D-1604-13E7044638A8}"/>
              </a:ext>
            </a:extLst>
          </p:cNvPr>
          <p:cNvPicPr>
            <a:picLocks noChangeAspect="1"/>
          </p:cNvPicPr>
          <p:nvPr/>
        </p:nvPicPr>
        <p:blipFill>
          <a:blip r:embed="rId4"/>
          <a:stretch>
            <a:fillRect/>
          </a:stretch>
        </p:blipFill>
        <p:spPr>
          <a:xfrm>
            <a:off x="5979701" y="1582183"/>
            <a:ext cx="5797629" cy="4342116"/>
          </a:xfrm>
          <a:prstGeom prst="rect">
            <a:avLst/>
          </a:prstGeom>
        </p:spPr>
      </p:pic>
      <p:sp>
        <p:nvSpPr>
          <p:cNvPr id="17" name="CuadroTexto 16">
            <a:extLst>
              <a:ext uri="{FF2B5EF4-FFF2-40B4-BE49-F238E27FC236}">
                <a16:creationId xmlns:a16="http://schemas.microsoft.com/office/drawing/2014/main" id="{F3B4D674-B0ED-9324-2DEF-AC226DB76526}"/>
              </a:ext>
            </a:extLst>
          </p:cNvPr>
          <p:cNvSpPr txBox="1"/>
          <p:nvPr/>
        </p:nvSpPr>
        <p:spPr>
          <a:xfrm>
            <a:off x="3569159" y="4630405"/>
            <a:ext cx="2355784" cy="1785104"/>
          </a:xfrm>
          <a:prstGeom prst="rect">
            <a:avLst/>
          </a:prstGeom>
          <a:noFill/>
          <a:ln>
            <a:solidFill>
              <a:schemeClr val="tx1"/>
            </a:solidFill>
          </a:ln>
        </p:spPr>
        <p:txBody>
          <a:bodyPr wrap="square">
            <a:spAutoFit/>
          </a:bodyPr>
          <a:lstStyle/>
          <a:p>
            <a:r>
              <a:rPr lang="es-ES" sz="1100" b="0" i="0" err="1">
                <a:effectLst/>
                <a:latin typeface="Consolas" panose="020B0609020204030204" pitchFamily="49" charset="0"/>
              </a:rPr>
              <a:t>Extinction</a:t>
            </a:r>
            <a:r>
              <a:rPr lang="es-ES" sz="1100" b="0" i="0">
                <a:effectLst/>
                <a:latin typeface="Consolas" panose="020B0609020204030204" pitchFamily="49" charset="0"/>
              </a:rPr>
              <a:t> Ratio</a:t>
            </a:r>
            <a:r>
              <a:rPr lang="es-ES" sz="1100">
                <a:latin typeface="Consolas" panose="020B0609020204030204" pitchFamily="49" charset="0"/>
              </a:rPr>
              <a:t> </a:t>
            </a:r>
            <a:r>
              <a:rPr lang="es-ES" sz="1100" b="0" i="0" err="1">
                <a:effectLst/>
                <a:latin typeface="Consolas" panose="020B0609020204030204" pitchFamily="49" charset="0"/>
              </a:rPr>
              <a:t>for</a:t>
            </a:r>
            <a:r>
              <a:rPr lang="es-ES" sz="1100" b="0" i="0">
                <a:effectLst/>
                <a:latin typeface="Consolas" panose="020B0609020204030204" pitchFamily="49" charset="0"/>
              </a:rPr>
              <a:t> </a:t>
            </a:r>
            <a:r>
              <a:rPr lang="es-ES" sz="1100" b="0" i="0" err="1">
                <a:effectLst/>
                <a:latin typeface="Consolas" panose="020B0609020204030204" pitchFamily="49" charset="0"/>
              </a:rPr>
              <a:t>each</a:t>
            </a:r>
            <a:r>
              <a:rPr lang="es-ES" sz="1100" b="0" i="0">
                <a:effectLst/>
                <a:latin typeface="Consolas" panose="020B0609020204030204" pitchFamily="49" charset="0"/>
              </a:rPr>
              <a:t> K: </a:t>
            </a:r>
          </a:p>
          <a:p>
            <a:r>
              <a:rPr lang="es-ES" sz="1100" b="0" i="0">
                <a:effectLst/>
                <a:latin typeface="Consolas" panose="020B0609020204030204" pitchFamily="49" charset="0"/>
              </a:rPr>
              <a:t>K = 0.1 -&gt; ER = 5.08 dB </a:t>
            </a:r>
          </a:p>
          <a:p>
            <a:r>
              <a:rPr lang="es-ES" sz="1100" b="0" i="0">
                <a:effectLst/>
                <a:latin typeface="Consolas" panose="020B0609020204030204" pitchFamily="49" charset="0"/>
              </a:rPr>
              <a:t>K = 0.2 -&gt; ER = 12.12 dB </a:t>
            </a:r>
          </a:p>
          <a:p>
            <a:r>
              <a:rPr lang="es-ES" sz="1100" b="0" i="0">
                <a:effectLst/>
                <a:latin typeface="Consolas" panose="020B0609020204030204" pitchFamily="49" charset="0"/>
              </a:rPr>
              <a:t>K = 0.3 -&gt; ER = 35.44 dB </a:t>
            </a:r>
          </a:p>
          <a:p>
            <a:r>
              <a:rPr lang="es-ES" sz="1100" b="0" i="0">
                <a:effectLst/>
                <a:latin typeface="Consolas" panose="020B0609020204030204" pitchFamily="49" charset="0"/>
              </a:rPr>
              <a:t>K = 0.4 -&gt; ER = 15.70 dB </a:t>
            </a:r>
          </a:p>
          <a:p>
            <a:r>
              <a:rPr lang="es-ES" sz="1100" b="0" i="0">
                <a:effectLst/>
                <a:latin typeface="Consolas" panose="020B0609020204030204" pitchFamily="49" charset="0"/>
              </a:rPr>
              <a:t>K = 0.5 -&gt; ER = 10.12 dB </a:t>
            </a:r>
          </a:p>
          <a:p>
            <a:r>
              <a:rPr lang="es-ES" sz="1100" b="0" i="0">
                <a:effectLst/>
                <a:latin typeface="Consolas" panose="020B0609020204030204" pitchFamily="49" charset="0"/>
              </a:rPr>
              <a:t>K = 0.6 -&gt; ER = 7.17 dB </a:t>
            </a:r>
          </a:p>
          <a:p>
            <a:r>
              <a:rPr lang="es-ES" sz="1100" b="0" i="0">
                <a:effectLst/>
                <a:latin typeface="Consolas" panose="020B0609020204030204" pitchFamily="49" charset="0"/>
              </a:rPr>
              <a:t>K = 0.7 -&gt; ER = 5.19 dB </a:t>
            </a:r>
          </a:p>
          <a:p>
            <a:r>
              <a:rPr lang="es-ES" sz="1100" b="0" i="0">
                <a:effectLst/>
                <a:latin typeface="Consolas" panose="020B0609020204030204" pitchFamily="49" charset="0"/>
              </a:rPr>
              <a:t>K = 0.8 -&gt; ER = 3.65 dB </a:t>
            </a:r>
          </a:p>
          <a:p>
            <a:r>
              <a:rPr lang="es-ES" sz="1100" b="0" i="0">
                <a:effectLst/>
                <a:latin typeface="Consolas" panose="020B0609020204030204" pitchFamily="49" charset="0"/>
              </a:rPr>
              <a:t>K = 0.9 -&gt; ER = 2.28 dB</a:t>
            </a:r>
            <a:endParaRPr lang="es-ES" sz="1100"/>
          </a:p>
        </p:txBody>
      </p:sp>
      <p:sp>
        <p:nvSpPr>
          <p:cNvPr id="21" name="CuadroTexto 20">
            <a:extLst>
              <a:ext uri="{FF2B5EF4-FFF2-40B4-BE49-F238E27FC236}">
                <a16:creationId xmlns:a16="http://schemas.microsoft.com/office/drawing/2014/main" id="{ACA4AD82-FC26-A9CE-F787-754DD8530A6A}"/>
              </a:ext>
            </a:extLst>
          </p:cNvPr>
          <p:cNvSpPr txBox="1"/>
          <p:nvPr/>
        </p:nvSpPr>
        <p:spPr>
          <a:xfrm>
            <a:off x="579741" y="5139978"/>
            <a:ext cx="2355784" cy="900246"/>
          </a:xfrm>
          <a:prstGeom prst="rect">
            <a:avLst/>
          </a:prstGeom>
          <a:noFill/>
          <a:ln>
            <a:solidFill>
              <a:schemeClr val="tx1"/>
            </a:solidFill>
          </a:ln>
        </p:spPr>
        <p:txBody>
          <a:bodyPr wrap="square">
            <a:spAutoFit/>
          </a:bodyPr>
          <a:lstStyle/>
          <a:p>
            <a:r>
              <a:rPr lang="en-US" sz="1050" b="0" i="0">
                <a:effectLst/>
                <a:latin typeface="Consolas" panose="020B0609020204030204" pitchFamily="49" charset="0"/>
              </a:rPr>
              <a:t>Round-trip loss = 1.602 dB </a:t>
            </a:r>
          </a:p>
          <a:p>
            <a:r>
              <a:rPr lang="en-US" sz="1050" b="0" i="0">
                <a:effectLst/>
                <a:latin typeface="Consolas" panose="020B0609020204030204" pitchFamily="49" charset="0"/>
              </a:rPr>
              <a:t>Round-trip field attenuation</a:t>
            </a:r>
          </a:p>
          <a:p>
            <a:r>
              <a:rPr lang="en-US" sz="1050" b="0" i="0">
                <a:effectLst/>
                <a:latin typeface="Consolas" panose="020B0609020204030204" pitchFamily="49" charset="0"/>
              </a:rPr>
              <a:t>a = 0.8316 </a:t>
            </a:r>
          </a:p>
          <a:p>
            <a:r>
              <a:rPr lang="en-US" sz="1050" b="0" i="0">
                <a:effectLst/>
                <a:latin typeface="Consolas" panose="020B0609020204030204" pitchFamily="49" charset="0"/>
              </a:rPr>
              <a:t>Critical coupling coefficient </a:t>
            </a:r>
          </a:p>
          <a:p>
            <a:r>
              <a:rPr lang="en-US" sz="1050" b="0" i="0" err="1">
                <a:effectLst/>
                <a:latin typeface="Consolas" panose="020B0609020204030204" pitchFamily="49" charset="0"/>
              </a:rPr>
              <a:t>Kcrit</a:t>
            </a:r>
            <a:r>
              <a:rPr lang="en-US" sz="1050" b="0" i="0">
                <a:effectLst/>
                <a:latin typeface="Consolas" panose="020B0609020204030204" pitchFamily="49" charset="0"/>
              </a:rPr>
              <a:t> = 0.3084</a:t>
            </a:r>
            <a:endParaRPr lang="es-ES" sz="1050"/>
          </a:p>
        </p:txBody>
      </p:sp>
      <p:sp>
        <p:nvSpPr>
          <p:cNvPr id="23" name="Rectángulo 22">
            <a:extLst>
              <a:ext uri="{FF2B5EF4-FFF2-40B4-BE49-F238E27FC236}">
                <a16:creationId xmlns:a16="http://schemas.microsoft.com/office/drawing/2014/main" id="{2CB525B5-8A01-64E4-7E99-37F574674C55}"/>
              </a:ext>
            </a:extLst>
          </p:cNvPr>
          <p:cNvSpPr/>
          <p:nvPr/>
        </p:nvSpPr>
        <p:spPr>
          <a:xfrm>
            <a:off x="609600" y="5795517"/>
            <a:ext cx="1230754" cy="217164"/>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24" name="Rectángulo 23">
            <a:extLst>
              <a:ext uri="{FF2B5EF4-FFF2-40B4-BE49-F238E27FC236}">
                <a16:creationId xmlns:a16="http://schemas.microsoft.com/office/drawing/2014/main" id="{95335F31-753B-B582-ECA2-647F289263EE}"/>
              </a:ext>
            </a:extLst>
          </p:cNvPr>
          <p:cNvSpPr/>
          <p:nvPr/>
        </p:nvSpPr>
        <p:spPr>
          <a:xfrm>
            <a:off x="3641013" y="5188431"/>
            <a:ext cx="2025104" cy="140964"/>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cxnSp>
        <p:nvCxnSpPr>
          <p:cNvPr id="26" name="Conector: angular 25">
            <a:extLst>
              <a:ext uri="{FF2B5EF4-FFF2-40B4-BE49-F238E27FC236}">
                <a16:creationId xmlns:a16="http://schemas.microsoft.com/office/drawing/2014/main" id="{035AA336-000E-20DD-FBA2-F8E44859DFA6}"/>
              </a:ext>
            </a:extLst>
          </p:cNvPr>
          <p:cNvCxnSpPr>
            <a:cxnSpLocks/>
          </p:cNvCxnSpPr>
          <p:nvPr/>
        </p:nvCxnSpPr>
        <p:spPr>
          <a:xfrm flipV="1">
            <a:off x="1876455" y="5256399"/>
            <a:ext cx="1813906" cy="666127"/>
          </a:xfrm>
          <a:prstGeom prst="bentConnector3">
            <a:avLst>
              <a:gd name="adj1" fmla="val 59036"/>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30" name="Rectángulo 29">
            <a:extLst>
              <a:ext uri="{FF2B5EF4-FFF2-40B4-BE49-F238E27FC236}">
                <a16:creationId xmlns:a16="http://schemas.microsoft.com/office/drawing/2014/main" id="{1918ABFF-D68A-35EC-E238-22DD4BC0AEBA}"/>
              </a:ext>
            </a:extLst>
          </p:cNvPr>
          <p:cNvSpPr/>
          <p:nvPr/>
        </p:nvSpPr>
        <p:spPr>
          <a:xfrm>
            <a:off x="9869875" y="1535266"/>
            <a:ext cx="1924674" cy="1436534"/>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Tree>
    <p:extLst>
      <p:ext uri="{BB962C8B-B14F-4D97-AF65-F5344CB8AC3E}">
        <p14:creationId xmlns:p14="http://schemas.microsoft.com/office/powerpoint/2010/main" val="193162521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Marcador de pie de página 4">
            <a:extLst>
              <a:ext uri="{FF2B5EF4-FFF2-40B4-BE49-F238E27FC236}">
                <a16:creationId xmlns:a16="http://schemas.microsoft.com/office/drawing/2014/main" id="{F929251A-3DC4-36B2-3FB3-341378364BED}"/>
              </a:ext>
            </a:extLst>
          </p:cNvPr>
          <p:cNvSpPr>
            <a:spLocks noGrp="1"/>
          </p:cNvSpPr>
          <p:nvPr>
            <p:ph type="ftr" sz="quarter" idx="5"/>
          </p:nvPr>
        </p:nvSpPr>
        <p:spPr/>
        <p:txBody>
          <a:bodyPr/>
          <a:lstStyle/>
          <a:p>
            <a:r>
              <a:rPr lang="en-US"/>
              <a:t>LAB 3.0. CIRCUITS &amp; COMPACT MODELS</a:t>
            </a:r>
          </a:p>
        </p:txBody>
      </p:sp>
      <p:sp>
        <p:nvSpPr>
          <p:cNvPr id="6" name="Marcador de número de diapositiva 5">
            <a:extLst>
              <a:ext uri="{FF2B5EF4-FFF2-40B4-BE49-F238E27FC236}">
                <a16:creationId xmlns:a16="http://schemas.microsoft.com/office/drawing/2014/main" id="{8E91A34C-DF76-97CF-3EFD-546BC64A2184}"/>
              </a:ext>
            </a:extLst>
          </p:cNvPr>
          <p:cNvSpPr>
            <a:spLocks noGrp="1"/>
          </p:cNvSpPr>
          <p:nvPr>
            <p:ph type="sldNum" sz="quarter" idx="7"/>
          </p:nvPr>
        </p:nvSpPr>
        <p:spPr/>
        <p:txBody>
          <a:bodyPr/>
          <a:lstStyle/>
          <a:p>
            <a:fld id="{C2F52289-4012-4053-9770-FE82CEB9514F}" type="slidenum">
              <a:rPr lang="en-US" smtClean="0"/>
              <a:pPr/>
              <a:t>10</a:t>
            </a:fld>
            <a:endParaRPr lang="en-US"/>
          </a:p>
        </p:txBody>
      </p:sp>
      <p:sp>
        <p:nvSpPr>
          <p:cNvPr id="12" name="Rectángulo 11">
            <a:extLst>
              <a:ext uri="{FF2B5EF4-FFF2-40B4-BE49-F238E27FC236}">
                <a16:creationId xmlns:a16="http://schemas.microsoft.com/office/drawing/2014/main" id="{D9D5941A-D9F5-22E7-7E85-0D04C2B214EC}"/>
              </a:ext>
            </a:extLst>
          </p:cNvPr>
          <p:cNvSpPr/>
          <p:nvPr/>
        </p:nvSpPr>
        <p:spPr>
          <a:xfrm>
            <a:off x="6177852" y="1307860"/>
            <a:ext cx="5539739" cy="4267200"/>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7" name="Gráfico 16">
            <a:extLst>
              <a:ext uri="{FF2B5EF4-FFF2-40B4-BE49-F238E27FC236}">
                <a16:creationId xmlns:a16="http://schemas.microsoft.com/office/drawing/2014/main" id="{16D15CB1-2EB9-A3F2-8611-C524CCD1CAE2}"/>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5045006" y="6356057"/>
            <a:ext cx="6409575" cy="363174"/>
          </a:xfrm>
          <a:prstGeom prst="rect">
            <a:avLst/>
          </a:prstGeom>
        </p:spPr>
      </p:pic>
      <p:sp>
        <p:nvSpPr>
          <p:cNvPr id="18" name="object 16">
            <a:extLst>
              <a:ext uri="{FF2B5EF4-FFF2-40B4-BE49-F238E27FC236}">
                <a16:creationId xmlns:a16="http://schemas.microsoft.com/office/drawing/2014/main" id="{989133D6-A9B3-EFEA-2703-51A6BDA0A885}"/>
              </a:ext>
            </a:extLst>
          </p:cNvPr>
          <p:cNvSpPr txBox="1">
            <a:spLocks/>
          </p:cNvSpPr>
          <p:nvPr/>
        </p:nvSpPr>
        <p:spPr>
          <a:xfrm>
            <a:off x="685800" y="408883"/>
            <a:ext cx="10994410" cy="718145"/>
          </a:xfrm>
          <a:prstGeom prst="rect">
            <a:avLst/>
          </a:prstGeom>
        </p:spPr>
        <p:txBody>
          <a:bodyPr vert="horz" wrap="square" lIns="0" tIns="12700" rIns="0" bIns="0" rtlCol="0">
            <a:spAutoFit/>
          </a:bodyPr>
          <a:lstStyle>
            <a:lvl1pPr>
              <a:defRPr sz="2000" b="1" i="0">
                <a:solidFill>
                  <a:schemeClr val="tx1"/>
                </a:solidFill>
                <a:latin typeface="Calibri"/>
                <a:ea typeface="+mj-ea"/>
                <a:cs typeface="Calibri"/>
              </a:defRPr>
            </a:lvl1pPr>
          </a:lstStyle>
          <a:p>
            <a:pPr marL="12700">
              <a:spcBef>
                <a:spcPts val="100"/>
              </a:spcBef>
            </a:pPr>
            <a:r>
              <a:rPr lang="en-US" sz="2500" kern="0"/>
              <a:t>Learning outcome #6b – E</a:t>
            </a:r>
            <a:r>
              <a:rPr lang="en-US" sz="2500"/>
              <a:t>ffect of loss</a:t>
            </a:r>
            <a:endParaRPr lang="en-US" sz="2500" kern="0"/>
          </a:p>
          <a:p>
            <a:pPr marL="12700">
              <a:spcBef>
                <a:spcPts val="100"/>
              </a:spcBef>
            </a:pPr>
            <a:r>
              <a:rPr lang="en-US" b="0" kern="0" spc="-5">
                <a:latin typeface="+mj-lt"/>
                <a:cs typeface="Lucida Sans"/>
              </a:rPr>
              <a:t>Change losses value between 0 and 8 </a:t>
            </a:r>
            <a:r>
              <a:rPr lang="en-US" b="0" kern="0" spc="-5">
                <a:solidFill>
                  <a:srgbClr val="FF0000"/>
                </a:solidFill>
                <a:latin typeface="+mj-lt"/>
                <a:cs typeface="Lucida Sans"/>
              </a:rPr>
              <a:t>dB/cm </a:t>
            </a:r>
            <a:r>
              <a:rPr lang="en-US" b="0" kern="0" spc="-5">
                <a:latin typeface="+mj-lt"/>
                <a:cs typeface="Lucida Sans"/>
              </a:rPr>
              <a:t>in steps of 1</a:t>
            </a:r>
          </a:p>
        </p:txBody>
      </p:sp>
      <p:pic>
        <p:nvPicPr>
          <p:cNvPr id="3" name="Imagen 2">
            <a:extLst>
              <a:ext uri="{FF2B5EF4-FFF2-40B4-BE49-F238E27FC236}">
                <a16:creationId xmlns:a16="http://schemas.microsoft.com/office/drawing/2014/main" id="{3763D773-D599-95BD-4B08-E4F7468268F1}"/>
              </a:ext>
            </a:extLst>
          </p:cNvPr>
          <p:cNvPicPr>
            <a:picLocks noChangeAspect="1"/>
          </p:cNvPicPr>
          <p:nvPr/>
        </p:nvPicPr>
        <p:blipFill>
          <a:blip r:embed="rId3"/>
          <a:stretch>
            <a:fillRect/>
          </a:stretch>
        </p:blipFill>
        <p:spPr>
          <a:xfrm>
            <a:off x="6194570" y="1407545"/>
            <a:ext cx="5492829" cy="4113837"/>
          </a:xfrm>
          <a:prstGeom prst="rect">
            <a:avLst/>
          </a:prstGeom>
        </p:spPr>
      </p:pic>
      <p:sp>
        <p:nvSpPr>
          <p:cNvPr id="7" name="CuadroTexto 6">
            <a:extLst>
              <a:ext uri="{FF2B5EF4-FFF2-40B4-BE49-F238E27FC236}">
                <a16:creationId xmlns:a16="http://schemas.microsoft.com/office/drawing/2014/main" id="{528C6714-56A9-1B9F-5D50-2C621098DF7E}"/>
              </a:ext>
            </a:extLst>
          </p:cNvPr>
          <p:cNvSpPr txBox="1"/>
          <p:nvPr/>
        </p:nvSpPr>
        <p:spPr>
          <a:xfrm>
            <a:off x="1905000" y="3411888"/>
            <a:ext cx="2819400" cy="2308324"/>
          </a:xfrm>
          <a:prstGeom prst="rect">
            <a:avLst/>
          </a:prstGeom>
          <a:noFill/>
        </p:spPr>
        <p:txBody>
          <a:bodyPr wrap="square">
            <a:spAutoFit/>
          </a:bodyPr>
          <a:lstStyle/>
          <a:p>
            <a:r>
              <a:rPr lang="es-ES" sz="1200" b="0" i="0" err="1">
                <a:effectLst/>
                <a:latin typeface="Consolas" panose="020B0609020204030204" pitchFamily="49" charset="0"/>
              </a:rPr>
              <a:t>L_ring</a:t>
            </a:r>
            <a:r>
              <a:rPr lang="es-ES" sz="1200" b="0" i="0">
                <a:effectLst/>
                <a:latin typeface="Consolas" panose="020B0609020204030204" pitchFamily="49" charset="0"/>
              </a:rPr>
              <a:t> = 80.083 </a:t>
            </a:r>
            <a:r>
              <a:rPr lang="es-ES" sz="1200" b="0" i="0" err="1">
                <a:effectLst/>
                <a:latin typeface="Consolas" panose="020B0609020204030204" pitchFamily="49" charset="0"/>
              </a:rPr>
              <a:t>um</a:t>
            </a:r>
            <a:r>
              <a:rPr lang="es-ES" sz="1200" b="0" i="0">
                <a:effectLst/>
                <a:latin typeface="Consolas" panose="020B0609020204030204" pitchFamily="49" charset="0"/>
              </a:rPr>
              <a:t> </a:t>
            </a:r>
          </a:p>
          <a:p>
            <a:r>
              <a:rPr lang="es-ES" sz="1200" b="0" i="0" err="1">
                <a:effectLst/>
                <a:latin typeface="Consolas" panose="020B0609020204030204" pitchFamily="49" charset="0"/>
              </a:rPr>
              <a:t>Fixed</a:t>
            </a:r>
            <a:r>
              <a:rPr lang="es-ES" sz="1200" b="0" i="0">
                <a:effectLst/>
                <a:latin typeface="Consolas" panose="020B0609020204030204" pitchFamily="49" charset="0"/>
              </a:rPr>
              <a:t> </a:t>
            </a:r>
            <a:r>
              <a:rPr lang="es-ES" sz="1200" b="0" i="0" err="1">
                <a:effectLst/>
                <a:latin typeface="Consolas" panose="020B0609020204030204" pitchFamily="49" charset="0"/>
              </a:rPr>
              <a:t>coupling</a:t>
            </a:r>
            <a:r>
              <a:rPr lang="es-ES" sz="1200" b="0" i="0">
                <a:effectLst/>
                <a:latin typeface="Consolas" panose="020B0609020204030204" pitchFamily="49" charset="0"/>
              </a:rPr>
              <a:t> K = 0.30 </a:t>
            </a:r>
          </a:p>
          <a:p>
            <a:r>
              <a:rPr lang="es-ES" sz="1200" b="0" i="0" err="1">
                <a:effectLst/>
                <a:latin typeface="Consolas" panose="020B0609020204030204" pitchFamily="49" charset="0"/>
              </a:rPr>
              <a:t>Extinction</a:t>
            </a:r>
            <a:r>
              <a:rPr lang="es-ES" sz="1200" b="0" i="0">
                <a:effectLst/>
                <a:latin typeface="Consolas" panose="020B0609020204030204" pitchFamily="49" charset="0"/>
              </a:rPr>
              <a:t> Ratio </a:t>
            </a:r>
            <a:r>
              <a:rPr lang="es-ES" sz="1200" b="0" i="0" err="1">
                <a:effectLst/>
                <a:latin typeface="Consolas" panose="020B0609020204030204" pitchFamily="49" charset="0"/>
              </a:rPr>
              <a:t>for</a:t>
            </a:r>
            <a:r>
              <a:rPr lang="es-ES" sz="1200" b="0" i="0">
                <a:effectLst/>
                <a:latin typeface="Consolas" panose="020B0609020204030204" pitchFamily="49" charset="0"/>
              </a:rPr>
              <a:t> </a:t>
            </a:r>
            <a:r>
              <a:rPr lang="es-ES" sz="1200" b="0" i="0" err="1">
                <a:effectLst/>
                <a:latin typeface="Consolas" panose="020B0609020204030204" pitchFamily="49" charset="0"/>
              </a:rPr>
              <a:t>each</a:t>
            </a:r>
            <a:r>
              <a:rPr lang="es-ES" sz="1200" b="0" i="0">
                <a:effectLst/>
                <a:latin typeface="Consolas" panose="020B0609020204030204" pitchFamily="49" charset="0"/>
              </a:rPr>
              <a:t> </a:t>
            </a:r>
            <a:r>
              <a:rPr lang="es-ES" sz="1200" b="0" i="0" err="1">
                <a:effectLst/>
                <a:latin typeface="Consolas" panose="020B0609020204030204" pitchFamily="49" charset="0"/>
              </a:rPr>
              <a:t>loss</a:t>
            </a:r>
            <a:r>
              <a:rPr lang="es-ES" sz="1200" b="0" i="0">
                <a:effectLst/>
                <a:latin typeface="Consolas" panose="020B0609020204030204" pitchFamily="49" charset="0"/>
              </a:rPr>
              <a:t>: </a:t>
            </a:r>
          </a:p>
          <a:p>
            <a:r>
              <a:rPr lang="es-ES" sz="1200" b="0" i="0" err="1">
                <a:effectLst/>
                <a:latin typeface="Consolas" panose="020B0609020204030204" pitchFamily="49" charset="0"/>
              </a:rPr>
              <a:t>alpha</a:t>
            </a:r>
            <a:r>
              <a:rPr lang="es-ES" sz="1200" b="0" i="0">
                <a:effectLst/>
                <a:latin typeface="Consolas" panose="020B0609020204030204" pitchFamily="49" charset="0"/>
              </a:rPr>
              <a:t> = 0 dB/cm -&gt; ER = 0.00 dB </a:t>
            </a:r>
          </a:p>
          <a:p>
            <a:r>
              <a:rPr lang="es-ES" sz="1200" b="0" i="0" err="1">
                <a:effectLst/>
                <a:latin typeface="Consolas" panose="020B0609020204030204" pitchFamily="49" charset="0"/>
              </a:rPr>
              <a:t>alpha</a:t>
            </a:r>
            <a:r>
              <a:rPr lang="es-ES" sz="1200" b="0" i="0">
                <a:effectLst/>
                <a:latin typeface="Consolas" panose="020B0609020204030204" pitchFamily="49" charset="0"/>
              </a:rPr>
              <a:t> = 1 dB/cm -&gt; ER = 0.09 dB </a:t>
            </a:r>
          </a:p>
          <a:p>
            <a:r>
              <a:rPr lang="es-ES" sz="1200" b="0" i="0" err="1">
                <a:effectLst/>
                <a:latin typeface="Consolas" panose="020B0609020204030204" pitchFamily="49" charset="0"/>
              </a:rPr>
              <a:t>alpha</a:t>
            </a:r>
            <a:r>
              <a:rPr lang="es-ES" sz="1200" b="0" i="0">
                <a:effectLst/>
                <a:latin typeface="Consolas" panose="020B0609020204030204" pitchFamily="49" charset="0"/>
              </a:rPr>
              <a:t> = 2 dB/cm -&gt; ER = 0.18 dB </a:t>
            </a:r>
          </a:p>
          <a:p>
            <a:r>
              <a:rPr lang="es-ES" sz="1200" b="0" i="0" err="1">
                <a:effectLst/>
                <a:latin typeface="Consolas" panose="020B0609020204030204" pitchFamily="49" charset="0"/>
              </a:rPr>
              <a:t>alpha</a:t>
            </a:r>
            <a:r>
              <a:rPr lang="es-ES" sz="1200" b="0" i="0">
                <a:effectLst/>
                <a:latin typeface="Consolas" panose="020B0609020204030204" pitchFamily="49" charset="0"/>
              </a:rPr>
              <a:t> = 3 dB/cm -&gt; ER = 0.27 dB </a:t>
            </a:r>
          </a:p>
          <a:p>
            <a:r>
              <a:rPr lang="es-ES" sz="1200" b="0" i="0" err="1">
                <a:effectLst/>
                <a:latin typeface="Consolas" panose="020B0609020204030204" pitchFamily="49" charset="0"/>
              </a:rPr>
              <a:t>alpha</a:t>
            </a:r>
            <a:r>
              <a:rPr lang="es-ES" sz="1200" b="0" i="0">
                <a:effectLst/>
                <a:latin typeface="Consolas" panose="020B0609020204030204" pitchFamily="49" charset="0"/>
              </a:rPr>
              <a:t> = 4 dB/cm -&gt; ER = 0.36 dB </a:t>
            </a:r>
          </a:p>
          <a:p>
            <a:r>
              <a:rPr lang="es-ES" sz="1200" b="0" i="0" err="1">
                <a:effectLst/>
                <a:latin typeface="Consolas" panose="020B0609020204030204" pitchFamily="49" charset="0"/>
              </a:rPr>
              <a:t>alpha</a:t>
            </a:r>
            <a:r>
              <a:rPr lang="es-ES" sz="1200" b="0" i="0">
                <a:effectLst/>
                <a:latin typeface="Consolas" panose="020B0609020204030204" pitchFamily="49" charset="0"/>
              </a:rPr>
              <a:t> = 5 dB/cm -&gt; ER = 0.45 dB </a:t>
            </a:r>
          </a:p>
          <a:p>
            <a:r>
              <a:rPr lang="es-ES" sz="1200" b="0" i="0" err="1">
                <a:effectLst/>
                <a:latin typeface="Consolas" panose="020B0609020204030204" pitchFamily="49" charset="0"/>
              </a:rPr>
              <a:t>alpha</a:t>
            </a:r>
            <a:r>
              <a:rPr lang="es-ES" sz="1200" b="0" i="0">
                <a:effectLst/>
                <a:latin typeface="Consolas" panose="020B0609020204030204" pitchFamily="49" charset="0"/>
              </a:rPr>
              <a:t> = 6 dB/cm -&gt; ER = 0.54 dB </a:t>
            </a:r>
          </a:p>
          <a:p>
            <a:r>
              <a:rPr lang="es-ES" sz="1200" b="0" i="0" err="1">
                <a:effectLst/>
                <a:latin typeface="Consolas" panose="020B0609020204030204" pitchFamily="49" charset="0"/>
              </a:rPr>
              <a:t>alpha</a:t>
            </a:r>
            <a:r>
              <a:rPr lang="es-ES" sz="1200" b="0" i="0">
                <a:effectLst/>
                <a:latin typeface="Consolas" panose="020B0609020204030204" pitchFamily="49" charset="0"/>
              </a:rPr>
              <a:t> = 7 dB/cm -&gt; ER = 0.63 dB </a:t>
            </a:r>
          </a:p>
          <a:p>
            <a:r>
              <a:rPr lang="es-ES" sz="1200" b="0" i="0" err="1">
                <a:effectLst/>
                <a:latin typeface="Consolas" panose="020B0609020204030204" pitchFamily="49" charset="0"/>
              </a:rPr>
              <a:t>alpha</a:t>
            </a:r>
            <a:r>
              <a:rPr lang="es-ES" sz="1200" b="0" i="0">
                <a:effectLst/>
                <a:latin typeface="Consolas" panose="020B0609020204030204" pitchFamily="49" charset="0"/>
              </a:rPr>
              <a:t> = 8 dB/cm -&gt; ER = 0.72 dB</a:t>
            </a:r>
            <a:endParaRPr lang="es-ES" sz="1200"/>
          </a:p>
        </p:txBody>
      </p:sp>
      <p:sp>
        <p:nvSpPr>
          <p:cNvPr id="20" name="CuadroTexto 19">
            <a:extLst>
              <a:ext uri="{FF2B5EF4-FFF2-40B4-BE49-F238E27FC236}">
                <a16:creationId xmlns:a16="http://schemas.microsoft.com/office/drawing/2014/main" id="{E2E41D42-0531-1EAA-0115-FAA38A40522C}"/>
              </a:ext>
            </a:extLst>
          </p:cNvPr>
          <p:cNvSpPr txBox="1"/>
          <p:nvPr/>
        </p:nvSpPr>
        <p:spPr>
          <a:xfrm>
            <a:off x="671549" y="1299962"/>
            <a:ext cx="5492829" cy="1938992"/>
          </a:xfrm>
          <a:prstGeom prst="rect">
            <a:avLst/>
          </a:prstGeom>
          <a:noFill/>
        </p:spPr>
        <p:txBody>
          <a:bodyPr wrap="square">
            <a:spAutoFit/>
          </a:bodyPr>
          <a:lstStyle/>
          <a:p>
            <a:r>
              <a:rPr lang="es-ES" sz="1200" b="0" i="0" err="1">
                <a:effectLst/>
                <a:latin typeface="Consolas" panose="020B0609020204030204" pitchFamily="49" charset="0"/>
              </a:rPr>
              <a:t>Critical</a:t>
            </a:r>
            <a:r>
              <a:rPr lang="es-ES" sz="1200" b="0" i="0">
                <a:effectLst/>
                <a:latin typeface="Consolas" panose="020B0609020204030204" pitchFamily="49" charset="0"/>
              </a:rPr>
              <a:t> </a:t>
            </a:r>
            <a:r>
              <a:rPr lang="es-ES" sz="1200" b="0" i="0" err="1">
                <a:effectLst/>
                <a:latin typeface="Consolas" panose="020B0609020204030204" pitchFamily="49" charset="0"/>
              </a:rPr>
              <a:t>coupling</a:t>
            </a:r>
            <a:r>
              <a:rPr lang="es-ES" sz="1200" b="0" i="0">
                <a:effectLst/>
                <a:latin typeface="Consolas" panose="020B0609020204030204" pitchFamily="49" charset="0"/>
              </a:rPr>
              <a:t> </a:t>
            </a:r>
            <a:r>
              <a:rPr lang="es-ES" sz="1200" b="0" i="0" err="1">
                <a:effectLst/>
                <a:latin typeface="Consolas" panose="020B0609020204030204" pitchFamily="49" charset="0"/>
              </a:rPr>
              <a:t>comparison</a:t>
            </a:r>
            <a:r>
              <a:rPr lang="es-ES" sz="1200" b="0" i="0">
                <a:effectLst/>
                <a:latin typeface="Consolas" panose="020B0609020204030204" pitchFamily="49" charset="0"/>
              </a:rPr>
              <a:t>: </a:t>
            </a:r>
          </a:p>
          <a:p>
            <a:r>
              <a:rPr lang="es-ES" sz="1200" b="0" i="0" err="1">
                <a:effectLst/>
                <a:latin typeface="Consolas" panose="020B0609020204030204" pitchFamily="49" charset="0"/>
              </a:rPr>
              <a:t>alpha</a:t>
            </a:r>
            <a:r>
              <a:rPr lang="es-ES" sz="1200" b="0" i="0">
                <a:effectLst/>
                <a:latin typeface="Consolas" panose="020B0609020204030204" pitchFamily="49" charset="0"/>
              </a:rPr>
              <a:t> = 0 dB/cm -&gt; round-</a:t>
            </a:r>
            <a:r>
              <a:rPr lang="es-ES" sz="1200" b="0" i="0" err="1">
                <a:effectLst/>
                <a:latin typeface="Consolas" panose="020B0609020204030204" pitchFamily="49" charset="0"/>
              </a:rPr>
              <a:t>trip</a:t>
            </a:r>
            <a:r>
              <a:rPr lang="es-ES" sz="1200" b="0" i="0">
                <a:effectLst/>
                <a:latin typeface="Consolas" panose="020B0609020204030204" pitchFamily="49" charset="0"/>
              </a:rPr>
              <a:t> </a:t>
            </a:r>
            <a:r>
              <a:rPr lang="es-ES" sz="1200" b="0" i="0" err="1">
                <a:effectLst/>
                <a:latin typeface="Consolas" panose="020B0609020204030204" pitchFamily="49" charset="0"/>
              </a:rPr>
              <a:t>loss</a:t>
            </a:r>
            <a:r>
              <a:rPr lang="es-ES" sz="1200" b="0" i="0">
                <a:effectLst/>
                <a:latin typeface="Consolas" panose="020B0609020204030204" pitchFamily="49" charset="0"/>
              </a:rPr>
              <a:t> = 0.0000 dB, </a:t>
            </a:r>
            <a:r>
              <a:rPr lang="es-ES" sz="1200" b="0" i="0" err="1">
                <a:effectLst/>
                <a:latin typeface="Consolas" panose="020B0609020204030204" pitchFamily="49" charset="0"/>
              </a:rPr>
              <a:t>Kcrit</a:t>
            </a:r>
            <a:r>
              <a:rPr lang="es-ES" sz="1200" b="0" i="0">
                <a:effectLst/>
                <a:latin typeface="Consolas" panose="020B0609020204030204" pitchFamily="49" charset="0"/>
              </a:rPr>
              <a:t> = 0.0000 </a:t>
            </a:r>
          </a:p>
          <a:p>
            <a:r>
              <a:rPr lang="es-ES" sz="1200" b="0" i="0" err="1">
                <a:effectLst/>
                <a:latin typeface="Consolas" panose="020B0609020204030204" pitchFamily="49" charset="0"/>
              </a:rPr>
              <a:t>alpha</a:t>
            </a:r>
            <a:r>
              <a:rPr lang="es-ES" sz="1200" b="0" i="0">
                <a:effectLst/>
                <a:latin typeface="Consolas" panose="020B0609020204030204" pitchFamily="49" charset="0"/>
              </a:rPr>
              <a:t> = 1 dB/cm -&gt; round-</a:t>
            </a:r>
            <a:r>
              <a:rPr lang="es-ES" sz="1200" b="0" i="0" err="1">
                <a:effectLst/>
                <a:latin typeface="Consolas" panose="020B0609020204030204" pitchFamily="49" charset="0"/>
              </a:rPr>
              <a:t>trip</a:t>
            </a:r>
            <a:r>
              <a:rPr lang="es-ES" sz="1200" b="0" i="0">
                <a:effectLst/>
                <a:latin typeface="Consolas" panose="020B0609020204030204" pitchFamily="49" charset="0"/>
              </a:rPr>
              <a:t> </a:t>
            </a:r>
            <a:r>
              <a:rPr lang="es-ES" sz="1200" b="0" i="0" err="1">
                <a:effectLst/>
                <a:latin typeface="Consolas" panose="020B0609020204030204" pitchFamily="49" charset="0"/>
              </a:rPr>
              <a:t>loss</a:t>
            </a:r>
            <a:r>
              <a:rPr lang="es-ES" sz="1200" b="0" i="0">
                <a:effectLst/>
                <a:latin typeface="Consolas" panose="020B0609020204030204" pitchFamily="49" charset="0"/>
              </a:rPr>
              <a:t> = 0.0080 dB, </a:t>
            </a:r>
            <a:r>
              <a:rPr lang="es-ES" sz="1200" b="0" i="0" err="1">
                <a:effectLst/>
                <a:latin typeface="Consolas" panose="020B0609020204030204" pitchFamily="49" charset="0"/>
              </a:rPr>
              <a:t>Kcrit</a:t>
            </a:r>
            <a:r>
              <a:rPr lang="es-ES" sz="1200" b="0" i="0">
                <a:effectLst/>
                <a:latin typeface="Consolas" panose="020B0609020204030204" pitchFamily="49" charset="0"/>
              </a:rPr>
              <a:t> = 0.0018 </a:t>
            </a:r>
          </a:p>
          <a:p>
            <a:r>
              <a:rPr lang="es-ES" sz="1200" b="0" i="0" err="1">
                <a:effectLst/>
                <a:latin typeface="Consolas" panose="020B0609020204030204" pitchFamily="49" charset="0"/>
              </a:rPr>
              <a:t>alpha</a:t>
            </a:r>
            <a:r>
              <a:rPr lang="es-ES" sz="1200" b="0" i="0">
                <a:effectLst/>
                <a:latin typeface="Consolas" panose="020B0609020204030204" pitchFamily="49" charset="0"/>
              </a:rPr>
              <a:t> = 2 dB/cm -&gt; round-</a:t>
            </a:r>
            <a:r>
              <a:rPr lang="es-ES" sz="1200" b="0" i="0" err="1">
                <a:effectLst/>
                <a:latin typeface="Consolas" panose="020B0609020204030204" pitchFamily="49" charset="0"/>
              </a:rPr>
              <a:t>trip</a:t>
            </a:r>
            <a:r>
              <a:rPr lang="es-ES" sz="1200" b="0" i="0">
                <a:effectLst/>
                <a:latin typeface="Consolas" panose="020B0609020204030204" pitchFamily="49" charset="0"/>
              </a:rPr>
              <a:t> </a:t>
            </a:r>
            <a:r>
              <a:rPr lang="es-ES" sz="1200" b="0" i="0" err="1">
                <a:effectLst/>
                <a:latin typeface="Consolas" panose="020B0609020204030204" pitchFamily="49" charset="0"/>
              </a:rPr>
              <a:t>loss</a:t>
            </a:r>
            <a:r>
              <a:rPr lang="es-ES" sz="1200" b="0" i="0">
                <a:effectLst/>
                <a:latin typeface="Consolas" panose="020B0609020204030204" pitchFamily="49" charset="0"/>
              </a:rPr>
              <a:t> = 0.0160 dB, </a:t>
            </a:r>
            <a:r>
              <a:rPr lang="es-ES" sz="1200" b="0" i="0" err="1">
                <a:effectLst/>
                <a:latin typeface="Consolas" panose="020B0609020204030204" pitchFamily="49" charset="0"/>
              </a:rPr>
              <a:t>Kcrit</a:t>
            </a:r>
            <a:r>
              <a:rPr lang="es-ES" sz="1200" b="0" i="0">
                <a:effectLst/>
                <a:latin typeface="Consolas" panose="020B0609020204030204" pitchFamily="49" charset="0"/>
              </a:rPr>
              <a:t> = 0.0037 </a:t>
            </a:r>
          </a:p>
          <a:p>
            <a:r>
              <a:rPr lang="es-ES" sz="1200" b="0" i="0" err="1">
                <a:effectLst/>
                <a:latin typeface="Consolas" panose="020B0609020204030204" pitchFamily="49" charset="0"/>
              </a:rPr>
              <a:t>alpha</a:t>
            </a:r>
            <a:r>
              <a:rPr lang="es-ES" sz="1200" b="0" i="0">
                <a:effectLst/>
                <a:latin typeface="Consolas" panose="020B0609020204030204" pitchFamily="49" charset="0"/>
              </a:rPr>
              <a:t> = 3 dB/cm -&gt; round-</a:t>
            </a:r>
            <a:r>
              <a:rPr lang="es-ES" sz="1200" b="0" i="0" err="1">
                <a:effectLst/>
                <a:latin typeface="Consolas" panose="020B0609020204030204" pitchFamily="49" charset="0"/>
              </a:rPr>
              <a:t>trip</a:t>
            </a:r>
            <a:r>
              <a:rPr lang="es-ES" sz="1200" b="0" i="0">
                <a:effectLst/>
                <a:latin typeface="Consolas" panose="020B0609020204030204" pitchFamily="49" charset="0"/>
              </a:rPr>
              <a:t> </a:t>
            </a:r>
            <a:r>
              <a:rPr lang="es-ES" sz="1200" b="0" i="0" err="1">
                <a:effectLst/>
                <a:latin typeface="Consolas" panose="020B0609020204030204" pitchFamily="49" charset="0"/>
              </a:rPr>
              <a:t>loss</a:t>
            </a:r>
            <a:r>
              <a:rPr lang="es-ES" sz="1200" b="0" i="0">
                <a:effectLst/>
                <a:latin typeface="Consolas" panose="020B0609020204030204" pitchFamily="49" charset="0"/>
              </a:rPr>
              <a:t> = 0.0240 dB, </a:t>
            </a:r>
            <a:r>
              <a:rPr lang="es-ES" sz="1200" b="0" i="0" err="1">
                <a:effectLst/>
                <a:latin typeface="Consolas" panose="020B0609020204030204" pitchFamily="49" charset="0"/>
              </a:rPr>
              <a:t>Kcrit</a:t>
            </a:r>
            <a:r>
              <a:rPr lang="es-ES" sz="1200" b="0" i="0">
                <a:effectLst/>
                <a:latin typeface="Consolas" panose="020B0609020204030204" pitchFamily="49" charset="0"/>
              </a:rPr>
              <a:t> = 0.0055 </a:t>
            </a:r>
          </a:p>
          <a:p>
            <a:r>
              <a:rPr lang="es-ES" sz="1200" b="0" i="0" err="1">
                <a:effectLst/>
                <a:latin typeface="Consolas" panose="020B0609020204030204" pitchFamily="49" charset="0"/>
              </a:rPr>
              <a:t>alpha</a:t>
            </a:r>
            <a:r>
              <a:rPr lang="es-ES" sz="1200" b="0" i="0">
                <a:effectLst/>
                <a:latin typeface="Consolas" panose="020B0609020204030204" pitchFamily="49" charset="0"/>
              </a:rPr>
              <a:t> = 4 dB/cm -&gt; round-</a:t>
            </a:r>
            <a:r>
              <a:rPr lang="es-ES" sz="1200" b="0" i="0" err="1">
                <a:effectLst/>
                <a:latin typeface="Consolas" panose="020B0609020204030204" pitchFamily="49" charset="0"/>
              </a:rPr>
              <a:t>trip</a:t>
            </a:r>
            <a:r>
              <a:rPr lang="es-ES" sz="1200" b="0" i="0">
                <a:effectLst/>
                <a:latin typeface="Consolas" panose="020B0609020204030204" pitchFamily="49" charset="0"/>
              </a:rPr>
              <a:t> </a:t>
            </a:r>
            <a:r>
              <a:rPr lang="es-ES" sz="1200" b="0" i="0" err="1">
                <a:effectLst/>
                <a:latin typeface="Consolas" panose="020B0609020204030204" pitchFamily="49" charset="0"/>
              </a:rPr>
              <a:t>loss</a:t>
            </a:r>
            <a:r>
              <a:rPr lang="es-ES" sz="1200" b="0" i="0">
                <a:effectLst/>
                <a:latin typeface="Consolas" panose="020B0609020204030204" pitchFamily="49" charset="0"/>
              </a:rPr>
              <a:t> = 0.0320 dB, </a:t>
            </a:r>
            <a:r>
              <a:rPr lang="es-ES" sz="1200" b="0" i="0" err="1">
                <a:effectLst/>
                <a:latin typeface="Consolas" panose="020B0609020204030204" pitchFamily="49" charset="0"/>
              </a:rPr>
              <a:t>Kcrit</a:t>
            </a:r>
            <a:r>
              <a:rPr lang="es-ES" sz="1200" b="0" i="0">
                <a:effectLst/>
                <a:latin typeface="Consolas" panose="020B0609020204030204" pitchFamily="49" charset="0"/>
              </a:rPr>
              <a:t> = 0.0073 </a:t>
            </a:r>
          </a:p>
          <a:p>
            <a:r>
              <a:rPr lang="es-ES" sz="1200" b="0" i="0" err="1">
                <a:effectLst/>
                <a:latin typeface="Consolas" panose="020B0609020204030204" pitchFamily="49" charset="0"/>
              </a:rPr>
              <a:t>alpha</a:t>
            </a:r>
            <a:r>
              <a:rPr lang="es-ES" sz="1200" b="0" i="0">
                <a:effectLst/>
                <a:latin typeface="Consolas" panose="020B0609020204030204" pitchFamily="49" charset="0"/>
              </a:rPr>
              <a:t> = 5 dB/cm -&gt; round-</a:t>
            </a:r>
            <a:r>
              <a:rPr lang="es-ES" sz="1200" b="0" i="0" err="1">
                <a:effectLst/>
                <a:latin typeface="Consolas" panose="020B0609020204030204" pitchFamily="49" charset="0"/>
              </a:rPr>
              <a:t>trip</a:t>
            </a:r>
            <a:r>
              <a:rPr lang="es-ES" sz="1200" b="0" i="0">
                <a:effectLst/>
                <a:latin typeface="Consolas" panose="020B0609020204030204" pitchFamily="49" charset="0"/>
              </a:rPr>
              <a:t> </a:t>
            </a:r>
            <a:r>
              <a:rPr lang="es-ES" sz="1200" b="0" i="0" err="1">
                <a:effectLst/>
                <a:latin typeface="Consolas" panose="020B0609020204030204" pitchFamily="49" charset="0"/>
              </a:rPr>
              <a:t>loss</a:t>
            </a:r>
            <a:r>
              <a:rPr lang="es-ES" sz="1200" b="0" i="0">
                <a:effectLst/>
                <a:latin typeface="Consolas" panose="020B0609020204030204" pitchFamily="49" charset="0"/>
              </a:rPr>
              <a:t> = 0.0400 dB, </a:t>
            </a:r>
            <a:r>
              <a:rPr lang="es-ES" sz="1200" b="0" i="0" err="1">
                <a:effectLst/>
                <a:latin typeface="Consolas" panose="020B0609020204030204" pitchFamily="49" charset="0"/>
              </a:rPr>
              <a:t>Kcrit</a:t>
            </a:r>
            <a:r>
              <a:rPr lang="es-ES" sz="1200" b="0" i="0">
                <a:effectLst/>
                <a:latin typeface="Consolas" panose="020B0609020204030204" pitchFamily="49" charset="0"/>
              </a:rPr>
              <a:t> = 0.0092 </a:t>
            </a:r>
          </a:p>
          <a:p>
            <a:r>
              <a:rPr lang="es-ES" sz="1200" b="0" i="0" err="1">
                <a:effectLst/>
                <a:latin typeface="Consolas" panose="020B0609020204030204" pitchFamily="49" charset="0"/>
              </a:rPr>
              <a:t>alpha</a:t>
            </a:r>
            <a:r>
              <a:rPr lang="es-ES" sz="1200" b="0" i="0">
                <a:effectLst/>
                <a:latin typeface="Consolas" panose="020B0609020204030204" pitchFamily="49" charset="0"/>
              </a:rPr>
              <a:t> = 6 dB/cm -&gt; round-</a:t>
            </a:r>
            <a:r>
              <a:rPr lang="es-ES" sz="1200" b="0" i="0" err="1">
                <a:effectLst/>
                <a:latin typeface="Consolas" panose="020B0609020204030204" pitchFamily="49" charset="0"/>
              </a:rPr>
              <a:t>trip</a:t>
            </a:r>
            <a:r>
              <a:rPr lang="es-ES" sz="1200" b="0" i="0">
                <a:effectLst/>
                <a:latin typeface="Consolas" panose="020B0609020204030204" pitchFamily="49" charset="0"/>
              </a:rPr>
              <a:t> </a:t>
            </a:r>
            <a:r>
              <a:rPr lang="es-ES" sz="1200" b="0" i="0" err="1">
                <a:effectLst/>
                <a:latin typeface="Consolas" panose="020B0609020204030204" pitchFamily="49" charset="0"/>
              </a:rPr>
              <a:t>loss</a:t>
            </a:r>
            <a:r>
              <a:rPr lang="es-ES" sz="1200" b="0" i="0">
                <a:effectLst/>
                <a:latin typeface="Consolas" panose="020B0609020204030204" pitchFamily="49" charset="0"/>
              </a:rPr>
              <a:t> = 0.0481 dB, </a:t>
            </a:r>
            <a:r>
              <a:rPr lang="es-ES" sz="1200" b="0" i="0" err="1">
                <a:effectLst/>
                <a:latin typeface="Consolas" panose="020B0609020204030204" pitchFamily="49" charset="0"/>
              </a:rPr>
              <a:t>Kcrit</a:t>
            </a:r>
            <a:r>
              <a:rPr lang="es-ES" sz="1200" b="0" i="0">
                <a:effectLst/>
                <a:latin typeface="Consolas" panose="020B0609020204030204" pitchFamily="49" charset="0"/>
              </a:rPr>
              <a:t> = 0.0110 </a:t>
            </a:r>
          </a:p>
          <a:p>
            <a:r>
              <a:rPr lang="es-ES" sz="1200" b="0" i="0" err="1">
                <a:effectLst/>
                <a:latin typeface="Consolas" panose="020B0609020204030204" pitchFamily="49" charset="0"/>
              </a:rPr>
              <a:t>alpha</a:t>
            </a:r>
            <a:r>
              <a:rPr lang="es-ES" sz="1200" b="0" i="0">
                <a:effectLst/>
                <a:latin typeface="Consolas" panose="020B0609020204030204" pitchFamily="49" charset="0"/>
              </a:rPr>
              <a:t> = 7 dB/cm -&gt; round-</a:t>
            </a:r>
            <a:r>
              <a:rPr lang="es-ES" sz="1200" b="0" i="0" err="1">
                <a:effectLst/>
                <a:latin typeface="Consolas" panose="020B0609020204030204" pitchFamily="49" charset="0"/>
              </a:rPr>
              <a:t>trip</a:t>
            </a:r>
            <a:r>
              <a:rPr lang="es-ES" sz="1200" b="0" i="0">
                <a:effectLst/>
                <a:latin typeface="Consolas" panose="020B0609020204030204" pitchFamily="49" charset="0"/>
              </a:rPr>
              <a:t> </a:t>
            </a:r>
            <a:r>
              <a:rPr lang="es-ES" sz="1200" b="0" i="0" err="1">
                <a:effectLst/>
                <a:latin typeface="Consolas" panose="020B0609020204030204" pitchFamily="49" charset="0"/>
              </a:rPr>
              <a:t>loss</a:t>
            </a:r>
            <a:r>
              <a:rPr lang="es-ES" sz="1200" b="0" i="0">
                <a:effectLst/>
                <a:latin typeface="Consolas" panose="020B0609020204030204" pitchFamily="49" charset="0"/>
              </a:rPr>
              <a:t> = 0.0561 dB, </a:t>
            </a:r>
            <a:r>
              <a:rPr lang="es-ES" sz="1200" b="0" i="0" err="1">
                <a:effectLst/>
                <a:latin typeface="Consolas" panose="020B0609020204030204" pitchFamily="49" charset="0"/>
              </a:rPr>
              <a:t>Kcrit</a:t>
            </a:r>
            <a:r>
              <a:rPr lang="es-ES" sz="1200" b="0" i="0">
                <a:effectLst/>
                <a:latin typeface="Consolas" panose="020B0609020204030204" pitchFamily="49" charset="0"/>
              </a:rPr>
              <a:t> = 0.0128 </a:t>
            </a:r>
          </a:p>
          <a:p>
            <a:r>
              <a:rPr lang="es-ES" sz="1200" b="0" i="0" err="1">
                <a:effectLst/>
                <a:latin typeface="Consolas" panose="020B0609020204030204" pitchFamily="49" charset="0"/>
              </a:rPr>
              <a:t>alpha</a:t>
            </a:r>
            <a:r>
              <a:rPr lang="es-ES" sz="1200" b="0" i="0">
                <a:effectLst/>
                <a:latin typeface="Consolas" panose="020B0609020204030204" pitchFamily="49" charset="0"/>
              </a:rPr>
              <a:t> = 8 dB/cm -&gt; round-</a:t>
            </a:r>
            <a:r>
              <a:rPr lang="es-ES" sz="1200" b="0" i="0" err="1">
                <a:effectLst/>
                <a:latin typeface="Consolas" panose="020B0609020204030204" pitchFamily="49" charset="0"/>
              </a:rPr>
              <a:t>trip</a:t>
            </a:r>
            <a:r>
              <a:rPr lang="es-ES" sz="1200" b="0" i="0">
                <a:effectLst/>
                <a:latin typeface="Consolas" panose="020B0609020204030204" pitchFamily="49" charset="0"/>
              </a:rPr>
              <a:t> </a:t>
            </a:r>
            <a:r>
              <a:rPr lang="es-ES" sz="1200" b="0" i="0" err="1">
                <a:effectLst/>
                <a:latin typeface="Consolas" panose="020B0609020204030204" pitchFamily="49" charset="0"/>
              </a:rPr>
              <a:t>loss</a:t>
            </a:r>
            <a:r>
              <a:rPr lang="es-ES" sz="1200" b="0" i="0">
                <a:effectLst/>
                <a:latin typeface="Consolas" panose="020B0609020204030204" pitchFamily="49" charset="0"/>
              </a:rPr>
              <a:t> = 0.0641 dB, </a:t>
            </a:r>
            <a:r>
              <a:rPr lang="es-ES" sz="1200" b="0" i="0" err="1">
                <a:effectLst/>
                <a:latin typeface="Consolas" panose="020B0609020204030204" pitchFamily="49" charset="0"/>
              </a:rPr>
              <a:t>Kcrit</a:t>
            </a:r>
            <a:r>
              <a:rPr lang="es-ES" sz="1200" b="0" i="0">
                <a:effectLst/>
                <a:latin typeface="Consolas" panose="020B0609020204030204" pitchFamily="49" charset="0"/>
              </a:rPr>
              <a:t> = 0.0146</a:t>
            </a:r>
            <a:endParaRPr lang="es-ES" sz="1200"/>
          </a:p>
        </p:txBody>
      </p:sp>
    </p:spTree>
    <p:extLst>
      <p:ext uri="{BB962C8B-B14F-4D97-AF65-F5344CB8AC3E}">
        <p14:creationId xmlns:p14="http://schemas.microsoft.com/office/powerpoint/2010/main" val="146119669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C9CCE4-F6AB-CB2A-CE29-29A2DB32B634}"/>
            </a:ext>
          </a:extLst>
        </p:cNvPr>
        <p:cNvGrpSpPr/>
        <p:nvPr/>
      </p:nvGrpSpPr>
      <p:grpSpPr>
        <a:xfrm>
          <a:off x="0" y="0"/>
          <a:ext cx="0" cy="0"/>
          <a:chOff x="0" y="0"/>
          <a:chExt cx="0" cy="0"/>
        </a:xfrm>
      </p:grpSpPr>
      <p:sp>
        <p:nvSpPr>
          <p:cNvPr id="5" name="Marcador de pie de página 4">
            <a:extLst>
              <a:ext uri="{FF2B5EF4-FFF2-40B4-BE49-F238E27FC236}">
                <a16:creationId xmlns:a16="http://schemas.microsoft.com/office/drawing/2014/main" id="{90EBFA69-3718-5D50-4F7A-9AA124361803}"/>
              </a:ext>
            </a:extLst>
          </p:cNvPr>
          <p:cNvSpPr>
            <a:spLocks noGrp="1"/>
          </p:cNvSpPr>
          <p:nvPr>
            <p:ph type="ftr" sz="quarter" idx="5"/>
          </p:nvPr>
        </p:nvSpPr>
        <p:spPr/>
        <p:txBody>
          <a:bodyPr/>
          <a:lstStyle/>
          <a:p>
            <a:r>
              <a:rPr lang="en-US"/>
              <a:t>LAB 3.0. CIRCUITS &amp; COMPACT MODELS</a:t>
            </a:r>
          </a:p>
        </p:txBody>
      </p:sp>
      <p:sp>
        <p:nvSpPr>
          <p:cNvPr id="6" name="Marcador de número de diapositiva 5">
            <a:extLst>
              <a:ext uri="{FF2B5EF4-FFF2-40B4-BE49-F238E27FC236}">
                <a16:creationId xmlns:a16="http://schemas.microsoft.com/office/drawing/2014/main" id="{BA58C1B6-2798-1A15-43C0-AFC0585CE339}"/>
              </a:ext>
            </a:extLst>
          </p:cNvPr>
          <p:cNvSpPr>
            <a:spLocks noGrp="1"/>
          </p:cNvSpPr>
          <p:nvPr>
            <p:ph type="sldNum" sz="quarter" idx="7"/>
          </p:nvPr>
        </p:nvSpPr>
        <p:spPr/>
        <p:txBody>
          <a:bodyPr/>
          <a:lstStyle/>
          <a:p>
            <a:fld id="{C2F52289-4012-4053-9770-FE82CEB9514F}" type="slidenum">
              <a:rPr lang="en-US" smtClean="0"/>
              <a:pPr/>
              <a:t>11</a:t>
            </a:fld>
            <a:endParaRPr lang="en-US"/>
          </a:p>
        </p:txBody>
      </p:sp>
      <p:sp>
        <p:nvSpPr>
          <p:cNvPr id="8" name="CuadroTexto 7">
            <a:extLst>
              <a:ext uri="{FF2B5EF4-FFF2-40B4-BE49-F238E27FC236}">
                <a16:creationId xmlns:a16="http://schemas.microsoft.com/office/drawing/2014/main" id="{E702C6E2-C77A-2F8E-A875-524C7AEA8A10}"/>
              </a:ext>
            </a:extLst>
          </p:cNvPr>
          <p:cNvSpPr txBox="1"/>
          <p:nvPr/>
        </p:nvSpPr>
        <p:spPr>
          <a:xfrm>
            <a:off x="685800" y="1447800"/>
            <a:ext cx="10768781" cy="4278094"/>
          </a:xfrm>
          <a:prstGeom prst="rect">
            <a:avLst/>
          </a:prstGeom>
          <a:solidFill>
            <a:schemeClr val="bg1">
              <a:lumMod val="95000"/>
            </a:schemeClr>
          </a:solidFill>
          <a:ln w="28575">
            <a:solidFill>
              <a:srgbClr val="E0700D"/>
            </a:solidFill>
          </a:ln>
        </p:spPr>
        <p:txBody>
          <a:bodyPr wrap="square" rtlCol="0">
            <a:spAutoFit/>
          </a:bodyPr>
          <a:lstStyle/>
          <a:p>
            <a:pPr algn="just"/>
            <a:r>
              <a:rPr lang="en-US" sz="1600" b="1" i="1" dirty="0">
                <a:solidFill>
                  <a:schemeClr val="tx2">
                    <a:lumMod val="60000"/>
                    <a:lumOff val="40000"/>
                  </a:schemeClr>
                </a:solidFill>
                <a:latin typeface="Arial" panose="020B0604020202020204" pitchFamily="34" charset="0"/>
                <a:cs typeface="Arial" panose="020B0604020202020204" pitchFamily="34" charset="0"/>
              </a:rPr>
              <a:t>Comment results. Try to classify the resonances, in which case are you close to critical coupling? Why?</a:t>
            </a:r>
          </a:p>
          <a:p>
            <a:pPr algn="just"/>
            <a:endParaRPr lang="en-US" sz="1600" dirty="0">
              <a:latin typeface="Arial" panose="020B0604020202020204" pitchFamily="34" charset="0"/>
              <a:cs typeface="Arial" panose="020B0604020202020204" pitchFamily="34" charset="0"/>
            </a:endParaRPr>
          </a:p>
          <a:p>
            <a:pPr algn="just"/>
            <a:r>
              <a:rPr lang="es-ES" sz="1600" dirty="0">
                <a:latin typeface="Arial" panose="020B0604020202020204" pitchFamily="34" charset="0"/>
                <a:cs typeface="Arial" panose="020B0604020202020204" pitchFamily="34" charset="0"/>
              </a:rPr>
              <a:t>Al variar la pérdida de propagación del anillo entre 0 y 8 dB/cm, cambia ligeramente la profundidad de las resonancias. El coeficiente de acoplo se mantiene fijo en K = 0.3 para todos los casos, por lo que solo se estudia el efecto de las pérdidas internas.</a:t>
            </a:r>
          </a:p>
          <a:p>
            <a:pPr algn="just"/>
            <a:endParaRPr lang="es-ES" sz="1600" dirty="0">
              <a:latin typeface="Arial" panose="020B0604020202020204" pitchFamily="34" charset="0"/>
              <a:cs typeface="Arial" panose="020B0604020202020204" pitchFamily="34" charset="0"/>
            </a:endParaRPr>
          </a:p>
          <a:p>
            <a:pPr algn="just"/>
            <a:r>
              <a:rPr lang="es-ES" sz="1600" dirty="0">
                <a:latin typeface="Arial" panose="020B0604020202020204" pitchFamily="34" charset="0"/>
                <a:cs typeface="Arial" panose="020B0604020202020204" pitchFamily="34" charset="0"/>
              </a:rPr>
              <a:t>El coeficiente de transmisión del acoplador |t|=0.837 es menor que la atenuación de vuelta completa a (≈1 para pérdidas bajas), lo que coloca el resonador en régimen de </a:t>
            </a:r>
            <a:r>
              <a:rPr lang="es-ES" sz="1600" dirty="0" err="1">
                <a:latin typeface="Arial" panose="020B0604020202020204" pitchFamily="34" charset="0"/>
                <a:cs typeface="Arial" panose="020B0604020202020204" pitchFamily="34" charset="0"/>
              </a:rPr>
              <a:t>sobreacoplamiento</a:t>
            </a:r>
            <a:r>
              <a:rPr lang="es-ES" sz="1600" dirty="0">
                <a:latin typeface="Arial" panose="020B0604020202020204" pitchFamily="34" charset="0"/>
                <a:cs typeface="Arial" panose="020B0604020202020204" pitchFamily="34" charset="0"/>
              </a:rPr>
              <a:t>. Al aumentar la pérdida, las resonancias se hacen algo más profundas y el </a:t>
            </a:r>
            <a:r>
              <a:rPr lang="es-ES" sz="1600" dirty="0" err="1">
                <a:latin typeface="Arial" panose="020B0604020202020204" pitchFamily="34" charset="0"/>
                <a:cs typeface="Arial" panose="020B0604020202020204" pitchFamily="34" charset="0"/>
              </a:rPr>
              <a:t>Extinction</a:t>
            </a:r>
            <a:r>
              <a:rPr lang="es-ES" sz="1600" dirty="0">
                <a:latin typeface="Arial" panose="020B0604020202020204" pitchFamily="34" charset="0"/>
                <a:cs typeface="Arial" panose="020B0604020202020204" pitchFamily="34" charset="0"/>
              </a:rPr>
              <a:t> Ratio aumenta, pasando de 0 dB para α = 0 dB/cm a aproximadamente 0.72 dB para α = 8 dB/cm.</a:t>
            </a:r>
          </a:p>
          <a:p>
            <a:pPr algn="just"/>
            <a:endParaRPr lang="es-ES" sz="1600" dirty="0">
              <a:latin typeface="Arial" panose="020B0604020202020204" pitchFamily="34" charset="0"/>
              <a:cs typeface="Arial" panose="020B0604020202020204" pitchFamily="34" charset="0"/>
            </a:endParaRPr>
          </a:p>
          <a:p>
            <a:pPr algn="just"/>
            <a:r>
              <a:rPr lang="es-ES" sz="1600" dirty="0">
                <a:latin typeface="Arial" panose="020B0604020202020204" pitchFamily="34" charset="0"/>
                <a:cs typeface="Arial" panose="020B0604020202020204" pitchFamily="34" charset="0"/>
              </a:rPr>
              <a:t>Sin embargo, en este rango de pérdidas no se alcanza la condición de acoplo crítico. Para α = 8 dB/cm, el valor crítico calculado es </a:t>
            </a:r>
            <a:r>
              <a:rPr lang="es-ES" sz="1600" dirty="0" err="1">
                <a:latin typeface="Arial" panose="020B0604020202020204" pitchFamily="34" charset="0"/>
                <a:cs typeface="Arial" panose="020B0604020202020204" pitchFamily="34" charset="0"/>
              </a:rPr>
              <a:t>Kcrit</a:t>
            </a:r>
            <a:r>
              <a:rPr lang="es-ES" sz="1600" dirty="0">
                <a:latin typeface="Arial" panose="020B0604020202020204" pitchFamily="34" charset="0"/>
                <a:cs typeface="Arial" panose="020B0604020202020204" pitchFamily="34" charset="0"/>
              </a:rPr>
              <a:t> ≈ 0.0146, todavía muy inferior al valor usado K = 0.3. Por tanto, todos los casos simulados permanecen en régimen </a:t>
            </a:r>
            <a:r>
              <a:rPr lang="es-ES" sz="1600" dirty="0" err="1">
                <a:latin typeface="Arial" panose="020B0604020202020204" pitchFamily="34" charset="0"/>
                <a:cs typeface="Arial" panose="020B0604020202020204" pitchFamily="34" charset="0"/>
              </a:rPr>
              <a:t>sobreacoplado</a:t>
            </a:r>
            <a:r>
              <a:rPr lang="es-ES" sz="1600" dirty="0">
                <a:latin typeface="Arial" panose="020B0604020202020204" pitchFamily="34" charset="0"/>
                <a:cs typeface="Arial" panose="020B0604020202020204" pitchFamily="34" charset="0"/>
              </a:rPr>
              <a:t> (“</a:t>
            </a:r>
            <a:r>
              <a:rPr lang="es-ES" sz="1600" dirty="0" err="1">
                <a:latin typeface="Arial" panose="020B0604020202020204" pitchFamily="34" charset="0"/>
                <a:cs typeface="Arial" panose="020B0604020202020204" pitchFamily="34" charset="0"/>
              </a:rPr>
              <a:t>overcoupling</a:t>
            </a:r>
            <a:r>
              <a:rPr lang="es-ES" sz="1600" dirty="0">
                <a:latin typeface="Arial" panose="020B0604020202020204" pitchFamily="34" charset="0"/>
                <a:cs typeface="Arial" panose="020B0604020202020204" pitchFamily="34" charset="0"/>
              </a:rPr>
              <a:t>”).</a:t>
            </a:r>
          </a:p>
          <a:p>
            <a:pPr algn="just"/>
            <a:endParaRPr lang="es-ES" sz="1600" dirty="0">
              <a:latin typeface="Arial" panose="020B0604020202020204" pitchFamily="34" charset="0"/>
              <a:cs typeface="Arial" panose="020B0604020202020204" pitchFamily="34" charset="0"/>
            </a:endParaRPr>
          </a:p>
          <a:p>
            <a:pPr algn="just"/>
            <a:r>
              <a:rPr lang="es-ES" sz="1600" dirty="0">
                <a:latin typeface="Arial" panose="020B0604020202020204" pitchFamily="34" charset="0"/>
                <a:cs typeface="Arial" panose="020B0604020202020204" pitchFamily="34" charset="0"/>
              </a:rPr>
              <a:t>El caso más cercano al acoplo crítico dentro del barrido es α = 8 dB/cm, porque es el que presenta el mayor </a:t>
            </a:r>
            <a:r>
              <a:rPr lang="es-ES" sz="1600" dirty="0" err="1">
                <a:latin typeface="Arial" panose="020B0604020202020204" pitchFamily="34" charset="0"/>
                <a:cs typeface="Arial" panose="020B0604020202020204" pitchFamily="34" charset="0"/>
              </a:rPr>
              <a:t>Kcrit</a:t>
            </a:r>
            <a:r>
              <a:rPr lang="es-ES" sz="1600" dirty="0">
                <a:latin typeface="Arial" panose="020B0604020202020204" pitchFamily="34" charset="0"/>
                <a:cs typeface="Arial" panose="020B0604020202020204" pitchFamily="34" charset="0"/>
              </a:rPr>
              <a:t> y el mayor </a:t>
            </a:r>
            <a:r>
              <a:rPr lang="es-ES" sz="1600" dirty="0" err="1">
                <a:latin typeface="Arial" panose="020B0604020202020204" pitchFamily="34" charset="0"/>
                <a:cs typeface="Arial" panose="020B0604020202020204" pitchFamily="34" charset="0"/>
              </a:rPr>
              <a:t>Extinction</a:t>
            </a:r>
            <a:r>
              <a:rPr lang="es-ES" sz="1600" dirty="0">
                <a:latin typeface="Arial" panose="020B0604020202020204" pitchFamily="34" charset="0"/>
                <a:cs typeface="Arial" panose="020B0604020202020204" pitchFamily="34" charset="0"/>
              </a:rPr>
              <a:t> Ratio, aunque sigue estando lejos de la condición crítica.</a:t>
            </a:r>
            <a:endParaRPr lang="en-US" sz="1600" dirty="0">
              <a:latin typeface="Arial" panose="020B0604020202020204" pitchFamily="34" charset="0"/>
              <a:cs typeface="Arial" panose="020B0604020202020204" pitchFamily="34" charset="0"/>
            </a:endParaRPr>
          </a:p>
        </p:txBody>
      </p:sp>
      <p:pic>
        <p:nvPicPr>
          <p:cNvPr id="17" name="Gráfico 16">
            <a:extLst>
              <a:ext uri="{FF2B5EF4-FFF2-40B4-BE49-F238E27FC236}">
                <a16:creationId xmlns:a16="http://schemas.microsoft.com/office/drawing/2014/main" id="{A69A9005-823A-B206-5283-D0F842365D46}"/>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045006" y="6356057"/>
            <a:ext cx="6409575" cy="363174"/>
          </a:xfrm>
          <a:prstGeom prst="rect">
            <a:avLst/>
          </a:prstGeom>
        </p:spPr>
      </p:pic>
      <p:sp>
        <p:nvSpPr>
          <p:cNvPr id="18" name="object 16">
            <a:extLst>
              <a:ext uri="{FF2B5EF4-FFF2-40B4-BE49-F238E27FC236}">
                <a16:creationId xmlns:a16="http://schemas.microsoft.com/office/drawing/2014/main" id="{2CE31307-67CC-9684-600E-D670F6C4A703}"/>
              </a:ext>
            </a:extLst>
          </p:cNvPr>
          <p:cNvSpPr txBox="1">
            <a:spLocks/>
          </p:cNvSpPr>
          <p:nvPr/>
        </p:nvSpPr>
        <p:spPr>
          <a:xfrm>
            <a:off x="685800" y="408883"/>
            <a:ext cx="10994410" cy="718145"/>
          </a:xfrm>
          <a:prstGeom prst="rect">
            <a:avLst/>
          </a:prstGeom>
        </p:spPr>
        <p:txBody>
          <a:bodyPr vert="horz" wrap="square" lIns="0" tIns="12700" rIns="0" bIns="0" rtlCol="0">
            <a:spAutoFit/>
          </a:bodyPr>
          <a:lstStyle>
            <a:lvl1pPr>
              <a:defRPr sz="2000" b="1" i="0">
                <a:solidFill>
                  <a:schemeClr val="tx1"/>
                </a:solidFill>
                <a:latin typeface="Calibri"/>
                <a:ea typeface="+mj-ea"/>
                <a:cs typeface="Calibri"/>
              </a:defRPr>
            </a:lvl1pPr>
          </a:lstStyle>
          <a:p>
            <a:pPr marL="12700">
              <a:spcBef>
                <a:spcPts val="100"/>
              </a:spcBef>
            </a:pPr>
            <a:r>
              <a:rPr lang="en-US" sz="2500" kern="0"/>
              <a:t>Learning outcome #6b – E</a:t>
            </a:r>
            <a:r>
              <a:rPr lang="en-US" sz="2500"/>
              <a:t>ffect of loss</a:t>
            </a:r>
            <a:endParaRPr lang="en-US" sz="2500" kern="0"/>
          </a:p>
          <a:p>
            <a:pPr marL="12700">
              <a:spcBef>
                <a:spcPts val="100"/>
              </a:spcBef>
            </a:pPr>
            <a:r>
              <a:rPr lang="en-US" b="0" kern="0" spc="-5">
                <a:latin typeface="+mj-lt"/>
                <a:cs typeface="Lucida Sans"/>
              </a:rPr>
              <a:t>Change losses value between 0 and 8 </a:t>
            </a:r>
            <a:r>
              <a:rPr lang="en-US" b="0" kern="0" spc="-5">
                <a:solidFill>
                  <a:srgbClr val="FF0000"/>
                </a:solidFill>
                <a:latin typeface="+mj-lt"/>
                <a:cs typeface="Lucida Sans"/>
              </a:rPr>
              <a:t>dB/cm </a:t>
            </a:r>
            <a:r>
              <a:rPr lang="en-US" b="0" kern="0" spc="-5">
                <a:latin typeface="+mj-lt"/>
                <a:cs typeface="Lucida Sans"/>
              </a:rPr>
              <a:t>in steps of 1</a:t>
            </a:r>
          </a:p>
        </p:txBody>
      </p:sp>
    </p:spTree>
    <p:extLst>
      <p:ext uri="{BB962C8B-B14F-4D97-AF65-F5344CB8AC3E}">
        <p14:creationId xmlns:p14="http://schemas.microsoft.com/office/powerpoint/2010/main" val="378415071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p:nvPr/>
        </p:nvSpPr>
        <p:spPr>
          <a:xfrm>
            <a:off x="3945635" y="2636520"/>
            <a:ext cx="8246363" cy="1584959"/>
          </a:xfrm>
          <a:prstGeom prst="rect">
            <a:avLst/>
          </a:prstGeom>
          <a:blipFill>
            <a:blip r:embed="rId2" cstate="print"/>
            <a:stretch>
              <a:fillRect/>
            </a:stretch>
          </a:blipFill>
        </p:spPr>
        <p:txBody>
          <a:bodyPr wrap="square" lIns="0" tIns="0" rIns="0" bIns="0" rtlCol="0"/>
          <a:lstStyle/>
          <a:p>
            <a:endParaRPr/>
          </a:p>
        </p:txBody>
      </p:sp>
      <p:sp>
        <p:nvSpPr>
          <p:cNvPr id="4" name="object 4"/>
          <p:cNvSpPr txBox="1">
            <a:spLocks noGrp="1"/>
          </p:cNvSpPr>
          <p:nvPr>
            <p:ph type="title"/>
          </p:nvPr>
        </p:nvSpPr>
        <p:spPr>
          <a:xfrm>
            <a:off x="4513326" y="3165729"/>
            <a:ext cx="2233295" cy="513715"/>
          </a:xfrm>
          <a:prstGeom prst="rect">
            <a:avLst/>
          </a:prstGeom>
        </p:spPr>
        <p:txBody>
          <a:bodyPr vert="horz" wrap="square" lIns="0" tIns="13335" rIns="0" bIns="0" rtlCol="0">
            <a:spAutoFit/>
          </a:bodyPr>
          <a:lstStyle/>
          <a:p>
            <a:pPr marL="12700">
              <a:lnSpc>
                <a:spcPct val="100000"/>
              </a:lnSpc>
              <a:spcBef>
                <a:spcPts val="105"/>
              </a:spcBef>
            </a:pPr>
            <a:r>
              <a:rPr sz="3200" b="1" spc="-5">
                <a:solidFill>
                  <a:srgbClr val="FFFFFF"/>
                </a:solidFill>
                <a:latin typeface="Lucida Sans"/>
                <a:cs typeface="Lucida Sans"/>
              </a:rPr>
              <a:t>Thank</a:t>
            </a:r>
            <a:r>
              <a:rPr sz="3200" b="1" spc="-55">
                <a:solidFill>
                  <a:srgbClr val="FFFFFF"/>
                </a:solidFill>
                <a:latin typeface="Lucida Sans"/>
                <a:cs typeface="Lucida Sans"/>
              </a:rPr>
              <a:t> </a:t>
            </a:r>
            <a:r>
              <a:rPr sz="3200" b="1">
                <a:solidFill>
                  <a:srgbClr val="FFFFFF"/>
                </a:solidFill>
                <a:latin typeface="Lucida Sans"/>
                <a:cs typeface="Lucida Sans"/>
              </a:rPr>
              <a:t>you</a:t>
            </a:r>
            <a:endParaRPr sz="3200">
              <a:latin typeface="Lucida Sans"/>
              <a:cs typeface="Lucida Sans"/>
            </a:endParaRPr>
          </a:p>
        </p:txBody>
      </p:sp>
      <p:sp>
        <p:nvSpPr>
          <p:cNvPr id="5" name="Marcador de número de diapositiva 4">
            <a:extLst>
              <a:ext uri="{FF2B5EF4-FFF2-40B4-BE49-F238E27FC236}">
                <a16:creationId xmlns:a16="http://schemas.microsoft.com/office/drawing/2014/main" id="{B052DA19-AD24-7D24-2AE9-51F8F5A7F5E0}"/>
              </a:ext>
            </a:extLst>
          </p:cNvPr>
          <p:cNvSpPr>
            <a:spLocks noGrp="1"/>
          </p:cNvSpPr>
          <p:nvPr>
            <p:ph type="sldNum" sz="quarter" idx="7"/>
          </p:nvPr>
        </p:nvSpPr>
        <p:spPr/>
        <p:txBody>
          <a:bodyPr/>
          <a:lstStyle/>
          <a:p>
            <a:fld id="{B6F15528-21DE-4FAA-801E-634DDDAF4B2B}" type="slidenum">
              <a:rPr lang="es-ES" smtClean="0"/>
              <a:t>12</a:t>
            </a:fld>
            <a:endParaRPr lang="es-E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00"/>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
  <TotalTime>47</TotalTime>
  <Words>3016</Words>
  <Application>Microsoft Office PowerPoint</Application>
  <PresentationFormat>Widescreen</PresentationFormat>
  <Paragraphs>232</Paragraphs>
  <Slides>12</Slides>
  <Notes>9</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12</vt:i4>
      </vt:variant>
    </vt:vector>
  </HeadingPairs>
  <TitlesOfParts>
    <vt:vector size="18" baseType="lpstr">
      <vt:lpstr>Aptos</vt:lpstr>
      <vt:lpstr>Arial</vt:lpstr>
      <vt:lpstr>Calibri</vt:lpstr>
      <vt:lpstr>Consolas</vt:lpstr>
      <vt:lpstr>Lucida Sans</vt:lpstr>
      <vt:lpstr>Office Theme</vt:lpstr>
      <vt:lpstr>PowerPoint Presentation</vt:lpstr>
      <vt:lpstr> Learning outcome #1a – Perfectly balanced MZI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Presentación de PowerPoint</dc:title>
  <dc:creator>Mª Ester Calataytud</dc:creator>
  <cp:lastModifiedBy>Mara Sarrion Masip</cp:lastModifiedBy>
  <cp:revision>2</cp:revision>
  <dcterms:created xsi:type="dcterms:W3CDTF">2025-01-27T02:46:57Z</dcterms:created>
  <dcterms:modified xsi:type="dcterms:W3CDTF">2026-05-18T15:36:43Z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2024-09-16T00:00:00Z</vt:filetime>
  </property>
  <property fmtid="{D5CDD505-2E9C-101B-9397-08002B2CF9AE}" pid="3" name="Creator">
    <vt:lpwstr>Microsoft® PowerPoint® 2016</vt:lpwstr>
  </property>
  <property fmtid="{D5CDD505-2E9C-101B-9397-08002B2CF9AE}" pid="4" name="LastSaved">
    <vt:filetime>2025-01-27T00:00:00Z</vt:filetime>
  </property>
</Properties>
</file>